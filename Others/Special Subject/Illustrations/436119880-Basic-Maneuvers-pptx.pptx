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8" r:id="rId1"/>
  </p:sldMasterIdLst>
  <p:notesMasterIdLst>
    <p:notesMasterId r:id="rId32"/>
  </p:notesMasterIdLst>
  <p:handoutMasterIdLst>
    <p:handoutMasterId r:id="rId33"/>
  </p:handoutMasterIdLst>
  <p:sldIdLst>
    <p:sldId id="294" r:id="rId2"/>
    <p:sldId id="314" r:id="rId3"/>
    <p:sldId id="256" r:id="rId4"/>
    <p:sldId id="257" r:id="rId5"/>
    <p:sldId id="295" r:id="rId6"/>
    <p:sldId id="297" r:id="rId7"/>
    <p:sldId id="298" r:id="rId8"/>
    <p:sldId id="259" r:id="rId9"/>
    <p:sldId id="299" r:id="rId10"/>
    <p:sldId id="300" r:id="rId11"/>
    <p:sldId id="281" r:id="rId12"/>
    <p:sldId id="301" r:id="rId13"/>
    <p:sldId id="302" r:id="rId14"/>
    <p:sldId id="303" r:id="rId15"/>
    <p:sldId id="263" r:id="rId16"/>
    <p:sldId id="305" r:id="rId17"/>
    <p:sldId id="306" r:id="rId18"/>
    <p:sldId id="304" r:id="rId19"/>
    <p:sldId id="307" r:id="rId20"/>
    <p:sldId id="308" r:id="rId21"/>
    <p:sldId id="309" r:id="rId22"/>
    <p:sldId id="311" r:id="rId23"/>
    <p:sldId id="310" r:id="rId24"/>
    <p:sldId id="312" r:id="rId25"/>
    <p:sldId id="313" r:id="rId26"/>
    <p:sldId id="317" r:id="rId27"/>
    <p:sldId id="315" r:id="rId28"/>
    <p:sldId id="316" r:id="rId29"/>
    <p:sldId id="318" r:id="rId30"/>
    <p:sldId id="319" r:id="rId31"/>
  </p:sldIdLst>
  <p:sldSz cx="9144000" cy="6858000" type="screen4x3"/>
  <p:notesSz cx="6954838" cy="9309100"/>
  <p:embeddedFontLst>
    <p:embeddedFont>
      <p:font typeface="Calibri" pitchFamily="34"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516" y="-12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5455"/>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sz="quarter" idx="1"/>
          </p:nvPr>
        </p:nvSpPr>
        <p:spPr>
          <a:xfrm>
            <a:off x="3939466" y="0"/>
            <a:ext cx="3013763" cy="465455"/>
          </a:xfrm>
          <a:prstGeom prst="rect">
            <a:avLst/>
          </a:prstGeom>
        </p:spPr>
        <p:txBody>
          <a:bodyPr vert="horz" lIns="92930" tIns="46465" rIns="92930" bIns="46465" rtlCol="0"/>
          <a:lstStyle>
            <a:lvl1pPr algn="r">
              <a:defRPr sz="1200"/>
            </a:lvl1pPr>
          </a:lstStyle>
          <a:p>
            <a:fld id="{9AC57B52-7CF6-40E4-BF52-3E100ADAF264}" type="datetimeFigureOut">
              <a:rPr lang="en-US" smtClean="0"/>
              <a:pPr/>
              <a:t>5/21/2014</a:t>
            </a:fld>
            <a:endParaRPr lang="en-US"/>
          </a:p>
        </p:txBody>
      </p:sp>
      <p:sp>
        <p:nvSpPr>
          <p:cNvPr id="4" name="Footer Placeholder 3"/>
          <p:cNvSpPr>
            <a:spLocks noGrp="1"/>
          </p:cNvSpPr>
          <p:nvPr>
            <p:ph type="ftr" sz="quarter" idx="2"/>
          </p:nvPr>
        </p:nvSpPr>
        <p:spPr>
          <a:xfrm>
            <a:off x="0" y="8842029"/>
            <a:ext cx="3013763" cy="465455"/>
          </a:xfrm>
          <a:prstGeom prst="rect">
            <a:avLst/>
          </a:prstGeom>
        </p:spPr>
        <p:txBody>
          <a:bodyPr vert="horz" lIns="92930" tIns="46465" rIns="92930" bIns="46465" rtlCol="0" anchor="b"/>
          <a:lstStyle>
            <a:lvl1pPr algn="l">
              <a:defRPr sz="1200"/>
            </a:lvl1pPr>
          </a:lstStyle>
          <a:p>
            <a:r>
              <a:rPr lang="en-US" smtClean="0"/>
              <a:t>Mindanao Saga Flying Club - Basic Maneuvers (Ground School)</a:t>
            </a:r>
            <a:endParaRPr lang="en-US"/>
          </a:p>
        </p:txBody>
      </p:sp>
      <p:sp>
        <p:nvSpPr>
          <p:cNvPr id="5" name="Slide Number Placeholder 4"/>
          <p:cNvSpPr>
            <a:spLocks noGrp="1"/>
          </p:cNvSpPr>
          <p:nvPr>
            <p:ph type="sldNum" sz="quarter" idx="3"/>
          </p:nvPr>
        </p:nvSpPr>
        <p:spPr>
          <a:xfrm>
            <a:off x="3939466" y="8842029"/>
            <a:ext cx="3013763" cy="465455"/>
          </a:xfrm>
          <a:prstGeom prst="rect">
            <a:avLst/>
          </a:prstGeom>
        </p:spPr>
        <p:txBody>
          <a:bodyPr vert="horz" lIns="92930" tIns="46465" rIns="92930" bIns="46465" rtlCol="0" anchor="b"/>
          <a:lstStyle>
            <a:lvl1pPr algn="r">
              <a:defRPr sz="1200"/>
            </a:lvl1pPr>
          </a:lstStyle>
          <a:p>
            <a:fld id="{C1FBDA3F-776E-438E-9699-A1546BAD83DE}" type="slidenum">
              <a:rPr lang="en-US" smtClean="0"/>
              <a:pPr/>
              <a:t>‹#›</a:t>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5455"/>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5455"/>
          </a:xfrm>
          <a:prstGeom prst="rect">
            <a:avLst/>
          </a:prstGeom>
        </p:spPr>
        <p:txBody>
          <a:bodyPr vert="horz" lIns="92930" tIns="46465" rIns="92930" bIns="46465" rtlCol="0"/>
          <a:lstStyle>
            <a:lvl1pPr algn="r">
              <a:defRPr sz="1200"/>
            </a:lvl1pPr>
          </a:lstStyle>
          <a:p>
            <a:fld id="{4F052E9C-740B-4983-9791-955290B0C097}" type="datetimeFigureOut">
              <a:rPr lang="en-US" smtClean="0"/>
              <a:pPr/>
              <a:t>5/21/2014</a:t>
            </a:fld>
            <a:endParaRPr lang="en-US"/>
          </a:p>
        </p:txBody>
      </p:sp>
      <p:sp>
        <p:nvSpPr>
          <p:cNvPr id="4" name="Slide Image Placeholder 3"/>
          <p:cNvSpPr>
            <a:spLocks noGrp="1" noRot="1" noChangeAspect="1"/>
          </p:cNvSpPr>
          <p:nvPr>
            <p:ph type="sldImg" idx="2"/>
          </p:nvPr>
        </p:nvSpPr>
        <p:spPr>
          <a:xfrm>
            <a:off x="1150938" y="698500"/>
            <a:ext cx="4652962" cy="3490913"/>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21823"/>
            <a:ext cx="5563870" cy="4189095"/>
          </a:xfrm>
          <a:prstGeom prst="rect">
            <a:avLst/>
          </a:prstGeom>
        </p:spPr>
        <p:txBody>
          <a:bodyPr vert="horz" lIns="92930" tIns="46465" rIns="92930" bIns="4646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29"/>
            <a:ext cx="3013763" cy="465455"/>
          </a:xfrm>
          <a:prstGeom prst="rect">
            <a:avLst/>
          </a:prstGeom>
        </p:spPr>
        <p:txBody>
          <a:bodyPr vert="horz" lIns="92930" tIns="46465" rIns="92930" bIns="46465" rtlCol="0" anchor="b"/>
          <a:lstStyle>
            <a:lvl1pPr algn="l">
              <a:defRPr sz="1200"/>
            </a:lvl1pPr>
          </a:lstStyle>
          <a:p>
            <a:r>
              <a:rPr lang="en-US" smtClean="0"/>
              <a:t>Mindanao Saga Flying Club - Basic Maneuvers (Ground School)</a:t>
            </a:r>
            <a:endParaRPr lang="en-US"/>
          </a:p>
        </p:txBody>
      </p:sp>
      <p:sp>
        <p:nvSpPr>
          <p:cNvPr id="7" name="Slide Number Placeholder 6"/>
          <p:cNvSpPr>
            <a:spLocks noGrp="1"/>
          </p:cNvSpPr>
          <p:nvPr>
            <p:ph type="sldNum" sz="quarter" idx="5"/>
          </p:nvPr>
        </p:nvSpPr>
        <p:spPr>
          <a:xfrm>
            <a:off x="3939466" y="8842029"/>
            <a:ext cx="3013763" cy="465455"/>
          </a:xfrm>
          <a:prstGeom prst="rect">
            <a:avLst/>
          </a:prstGeom>
        </p:spPr>
        <p:txBody>
          <a:bodyPr vert="horz" lIns="92930" tIns="46465" rIns="92930" bIns="46465" rtlCol="0" anchor="b"/>
          <a:lstStyle>
            <a:lvl1pPr algn="r">
              <a:defRPr sz="1200"/>
            </a:lvl1pPr>
          </a:lstStyle>
          <a:p>
            <a:fld id="{033DB24E-6126-467C-8DEA-F90824248103}" type="slidenum">
              <a:rPr lang="en-US" smtClean="0"/>
              <a:pPr/>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33DB24E-6126-467C-8DEA-F90824248103}" type="slidenum">
              <a:rPr lang="en-US" smtClean="0"/>
              <a:pPr/>
              <a:t>1</a:t>
            </a:fld>
            <a:endParaRPr lang="en-US"/>
          </a:p>
        </p:txBody>
      </p:sp>
      <p:sp>
        <p:nvSpPr>
          <p:cNvPr id="5" name="Footer Placeholder 4"/>
          <p:cNvSpPr>
            <a:spLocks noGrp="1"/>
          </p:cNvSpPr>
          <p:nvPr>
            <p:ph type="ftr" sz="quarter" idx="11"/>
          </p:nvPr>
        </p:nvSpPr>
        <p:spPr/>
        <p:txBody>
          <a:bodyPr/>
          <a:lstStyle/>
          <a:p>
            <a:r>
              <a:rPr lang="en-US" smtClean="0"/>
              <a:t>Mindanao Saga Flying Club - Basic Maneuvers (Ground School)</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The basic maneuvers are tackled according to their importance:</a:t>
            </a:r>
            <a:r>
              <a:rPr lang="en-US" baseline="0" dirty="0" smtClean="0"/>
              <a:t> 1. Turns, 2. Straight and Level, 3. Gliding, and 4. Climbing</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Discusses why turn has to be prioritized</a:t>
            </a:r>
            <a:r>
              <a:rPr lang="en-US" baseline="0" dirty="0" smtClean="0"/>
              <a:t> and understood completely among the basic maneuvers</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defTabSz="929305">
              <a:defRPr/>
            </a:pPr>
            <a:r>
              <a:rPr lang="en-US" dirty="0" smtClean="0"/>
              <a:t>Moving the ailerons</a:t>
            </a:r>
            <a:r>
              <a:rPr lang="en-US" baseline="0" dirty="0" smtClean="0"/>
              <a:t> to bank the plane changes the direction of lift of the wing with the aileron that is lowered </a:t>
            </a:r>
            <a:endParaRPr lang="en-US" dirty="0" smtClean="0"/>
          </a:p>
          <a:p>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Discusses</a:t>
            </a:r>
            <a:r>
              <a:rPr lang="en-US" baseline="0" dirty="0" smtClean="0"/>
              <a:t> the two forces involved in a turn, the force to keep the wings up and the force to shove it </a:t>
            </a:r>
            <a:r>
              <a:rPr lang="en-US" baseline="0" dirty="0" err="1" smtClean="0"/>
              <a:t>sidewards</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defTabSz="929305">
              <a:defRPr/>
            </a:pPr>
            <a:r>
              <a:rPr lang="en-US" dirty="0" smtClean="0"/>
              <a:t>A simpler, more layman discussion</a:t>
            </a:r>
            <a:r>
              <a:rPr lang="en-US" baseline="0" dirty="0" smtClean="0"/>
              <a:t> of the two forces involved in a turn, the force to keep the wings up and the force to shove it </a:t>
            </a:r>
            <a:r>
              <a:rPr lang="en-US" baseline="0" dirty="0" err="1" smtClean="0"/>
              <a:t>sidewards</a:t>
            </a:r>
            <a:endParaRPr lang="en-US" dirty="0" smtClean="0"/>
          </a:p>
          <a:p>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Discusses the need for back pressure (stick back) during a turn</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defTabSz="929305">
              <a:defRPr/>
            </a:pPr>
            <a:r>
              <a:rPr lang="en-US" dirty="0" smtClean="0"/>
              <a:t>Discusses the need for back pressure (stick back) during a turn</a:t>
            </a:r>
          </a:p>
          <a:p>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Discusses and differentiates between coordinated turns,</a:t>
            </a:r>
            <a:r>
              <a:rPr lang="en-US" baseline="0" dirty="0" smtClean="0"/>
              <a:t> a slip, and a skid</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defTabSz="929305">
              <a:defRPr/>
            </a:pPr>
            <a:r>
              <a:rPr lang="en-US" dirty="0" smtClean="0"/>
              <a:t>Discusses and differentiates between coordinated turns,</a:t>
            </a:r>
            <a:r>
              <a:rPr lang="en-US" baseline="0" dirty="0" smtClean="0"/>
              <a:t> a slip, and a skid and its effect on the yaw string. This will also introduce the students on how to properly  react to the yaw string (e.g., if string is pointed to the left, apply right rudder to correct)</a:t>
            </a:r>
            <a:endParaRPr lang="en-US" dirty="0" smtClean="0"/>
          </a:p>
          <a:p>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This</a:t>
            </a:r>
            <a:r>
              <a:rPr lang="en-US" baseline="0" dirty="0" smtClean="0"/>
              <a:t> shows the proper use of aileron + rudder (going in and out of the turn) and back pressure + turn </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Discusses</a:t>
            </a:r>
            <a:r>
              <a:rPr lang="en-US" baseline="0" dirty="0" smtClean="0"/>
              <a:t> the technique to maintain straight flight relative to the ground</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defTabSz="929305">
              <a:defRPr/>
            </a:pPr>
            <a:r>
              <a:rPr lang="en-US" dirty="0" smtClean="0"/>
              <a:t>Discusses</a:t>
            </a:r>
            <a:r>
              <a:rPr lang="en-US" baseline="0" dirty="0" smtClean="0"/>
              <a:t> the technique to maintain a level flight relative to the horizon</a:t>
            </a:r>
            <a:endParaRPr lang="en-US" dirty="0" smtClean="0"/>
          </a:p>
          <a:p>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Reminders</a:t>
            </a:r>
            <a:r>
              <a:rPr lang="en-US" baseline="0" dirty="0" smtClean="0"/>
              <a:t> on using the gauges in flight. At most the pilot should only look at his instruments 10% of the time (or just six seconds per one minute of flight)</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Introduction to the glide and how our land-based experiences make it difficult to master this maneuver. We have to change our perception and instinctive reflexes to properly</a:t>
            </a:r>
            <a:r>
              <a:rPr lang="en-US" baseline="0" dirty="0" smtClean="0"/>
              <a:t> execute the glide</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Natural tendencies of</a:t>
            </a:r>
            <a:r>
              <a:rPr lang="en-US" baseline="0" dirty="0" smtClean="0"/>
              <a:t> the inexperienced student</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What the students perceive</a:t>
            </a:r>
            <a:r>
              <a:rPr lang="en-US" baseline="0" dirty="0" smtClean="0"/>
              <a:t> will happen in a glide and what will actually occur in real flight</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New ideas and concepts that the student-pilot has to know by heart since this will be useful in emergencies,</a:t>
            </a:r>
            <a:r>
              <a:rPr lang="en-US" baseline="0" dirty="0" smtClean="0"/>
              <a:t> when the proper control of the glide matters</a:t>
            </a:r>
            <a:r>
              <a:rPr lang="en-US" dirty="0" smtClean="0"/>
              <a:t> </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The five phases of flight</a:t>
            </a:r>
            <a:endParaRPr lang="en-US" dirty="0"/>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Summary of </a:t>
            </a:r>
            <a:r>
              <a:rPr lang="en-US" smtClean="0"/>
              <a:t>the transitions </a:t>
            </a:r>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Summary of </a:t>
            </a:r>
            <a:r>
              <a:rPr lang="en-US" smtClean="0"/>
              <a:t>the transitions </a:t>
            </a:r>
            <a:endParaRPr lang="en-US"/>
          </a:p>
        </p:txBody>
      </p:sp>
      <p:sp>
        <p:nvSpPr>
          <p:cNvPr id="4" name="Footer Placeholder 3"/>
          <p:cNvSpPr>
            <a:spLocks noGrp="1"/>
          </p:cNvSpPr>
          <p:nvPr>
            <p:ph type="ftr" sz="quarter" idx="10"/>
          </p:nvPr>
        </p:nvSpPr>
        <p:spPr/>
        <p:txBody>
          <a:bodyPr/>
          <a:lstStyle/>
          <a:p>
            <a:r>
              <a:rPr lang="en-US" smtClean="0"/>
              <a:t>Mindanao Saga Flying Club - Basic Maneuvers (Ground School)</a:t>
            </a:r>
            <a:endParaRPr lang="en-US"/>
          </a:p>
        </p:txBody>
      </p:sp>
      <p:sp>
        <p:nvSpPr>
          <p:cNvPr id="5" name="Slide Number Placeholder 4"/>
          <p:cNvSpPr>
            <a:spLocks noGrp="1"/>
          </p:cNvSpPr>
          <p:nvPr>
            <p:ph type="sldNum" sz="quarter" idx="11"/>
          </p:nvPr>
        </p:nvSpPr>
        <p:spPr/>
        <p:txBody>
          <a:bodyPr/>
          <a:lstStyle/>
          <a:p>
            <a:fld id="{033DB24E-6126-467C-8DEA-F90824248103}"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5A01D10-EC59-477F-82FA-BECE7D29672A}" type="datetimeFigureOut">
              <a:rPr lang="en-US" smtClean="0"/>
              <a:pPr/>
              <a:t>5/21/2014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A01D10-EC59-477F-82FA-BECE7D29672A}" type="datetimeFigureOut">
              <a:rPr lang="en-US" smtClean="0"/>
              <a:pPr/>
              <a:t>5/21/2014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5A01D10-EC59-477F-82FA-BECE7D29672A}" type="datetimeFigureOut">
              <a:rPr lang="en-US" smtClean="0"/>
              <a:pPr/>
              <a:t>5/21/2014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5A01D10-EC59-477F-82FA-BECE7D29672A}" type="datetimeFigureOut">
              <a:rPr lang="en-US" smtClean="0"/>
              <a:pPr/>
              <a:t>5/21/2014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5A01D10-EC59-477F-82FA-BECE7D29672A}" type="datetimeFigureOut">
              <a:rPr lang="en-US" smtClean="0"/>
              <a:pPr/>
              <a:t>5/21/2014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5A01D10-EC59-477F-82FA-BECE7D29672A}" type="datetimeFigureOut">
              <a:rPr lang="en-US" smtClean="0"/>
              <a:pPr/>
              <a:t>5/21/2014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A01D10-EC59-477F-82FA-BECE7D29672A}" type="datetimeFigureOut">
              <a:rPr lang="en-US" smtClean="0"/>
              <a:pPr/>
              <a:t>5/21/2014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A01D10-EC59-477F-82FA-BECE7D29672A}" type="datetimeFigureOut">
              <a:rPr lang="en-US" smtClean="0"/>
              <a:pPr/>
              <a:t>5/21/2014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A01D10-EC59-477F-82FA-BECE7D29672A}" type="datetimeFigureOut">
              <a:rPr lang="en-US" smtClean="0"/>
              <a:pPr/>
              <a:t>5/21/2014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A01D10-EC59-477F-82FA-BECE7D29672A}" type="datetimeFigureOut">
              <a:rPr lang="en-US" smtClean="0"/>
              <a:pPr/>
              <a:t>5/21/2014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A01D10-EC59-477F-82FA-BECE7D29672A}" type="datetimeFigureOut">
              <a:rPr lang="en-US" smtClean="0"/>
              <a:pPr/>
              <a:t>5/21/2014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D52B49-3650-4B2A-A276-4B5EEA1EBFA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A01D10-EC59-477F-82FA-BECE7D29672A}" type="datetimeFigureOut">
              <a:rPr lang="en-US" smtClean="0"/>
              <a:pPr/>
              <a:t>5/21/2014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D52B49-3650-4B2A-A276-4B5EEA1EBFA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slide" Target="slide2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hyperlink" Target="TO-TRANS-LDG.ppt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itle 1"/>
          <p:cNvSpPr>
            <a:spLocks noGrp="1"/>
          </p:cNvSpPr>
          <p:nvPr>
            <p:ph type="ctrTitle"/>
          </p:nvPr>
        </p:nvSpPr>
        <p:spPr>
          <a:xfrm>
            <a:off x="685800" y="3578225"/>
            <a:ext cx="7772400" cy="1470025"/>
          </a:xfrm>
        </p:spPr>
        <p:txBody>
          <a:bodyPr>
            <a:normAutofit/>
          </a:bodyPr>
          <a:lstStyle/>
          <a:p>
            <a:r>
              <a:rPr lang="en-US" sz="4800" b="1" dirty="0" smtClean="0">
                <a:effectLst>
                  <a:outerShdw blurRad="38100" dist="38100" dir="2700000" algn="tl">
                    <a:srgbClr val="000000">
                      <a:alpha val="43137"/>
                    </a:srgbClr>
                  </a:outerShdw>
                </a:effectLst>
              </a:rPr>
              <a:t>Primary Flight Training</a:t>
            </a:r>
            <a:endParaRPr lang="en-US" sz="4800" b="1" dirty="0">
              <a:effectLst>
                <a:outerShdw blurRad="38100" dist="38100" dir="2700000" algn="tl">
                  <a:srgbClr val="000000">
                    <a:alpha val="43137"/>
                  </a:srgbClr>
                </a:outerShdw>
              </a:effectLst>
            </a:endParaRPr>
          </a:p>
        </p:txBody>
      </p:sp>
      <p:pic>
        <p:nvPicPr>
          <p:cNvPr id="8" name="Picture 2" descr="C:\Users\cosievert\Documents\MSFC\logo.png"/>
          <p:cNvPicPr>
            <a:picLocks noChangeAspect="1" noChangeArrowheads="1"/>
          </p:cNvPicPr>
          <p:nvPr/>
        </p:nvPicPr>
        <p:blipFill>
          <a:blip r:embed="rId4" cstate="print"/>
          <a:srcRect/>
          <a:stretch>
            <a:fillRect/>
          </a:stretch>
        </p:blipFill>
        <p:spPr bwMode="auto">
          <a:xfrm>
            <a:off x="2133600" y="1371600"/>
            <a:ext cx="4953000" cy="2286000"/>
          </a:xfrm>
          <a:prstGeom prst="rect">
            <a:avLst/>
          </a:prstGeom>
          <a:ln>
            <a:noFill/>
          </a:ln>
          <a:effectLst>
            <a:outerShdw blurRad="292100" dist="139700" dir="2700000" algn="tl" rotWithShape="0">
              <a:srgbClr val="333333">
                <a:alpha val="65000"/>
              </a:srgbClr>
            </a:outerShdw>
          </a:effectLst>
        </p:spPr>
      </p:pic>
      <p:sp>
        <p:nvSpPr>
          <p:cNvPr id="9" name="Subtitle 2"/>
          <p:cNvSpPr>
            <a:spLocks noGrp="1"/>
          </p:cNvSpPr>
          <p:nvPr>
            <p:ph type="subTitle" idx="1"/>
          </p:nvPr>
        </p:nvSpPr>
        <p:spPr>
          <a:xfrm>
            <a:off x="1371600" y="4724400"/>
            <a:ext cx="6400800" cy="1752600"/>
          </a:xfrm>
        </p:spPr>
        <p:txBody>
          <a:bodyPr/>
          <a:lstStyle/>
          <a:p>
            <a:r>
              <a:rPr lang="en-US" b="1" dirty="0" smtClean="0">
                <a:effectLst>
                  <a:outerShdw blurRad="38100" dist="38100" dir="2700000" algn="tl">
                    <a:srgbClr val="000000">
                      <a:alpha val="43137"/>
                    </a:srgbClr>
                  </a:outerShdw>
                </a:effectLst>
              </a:rPr>
              <a:t>Ground School</a:t>
            </a:r>
            <a:endParaRPr lang="en-US"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p:nvSpPr>
        <p:spPr>
          <a:xfrm>
            <a:off x="152400" y="2870537"/>
            <a:ext cx="8839200" cy="1015663"/>
          </a:xfrm>
          <a:prstGeom prst="rect">
            <a:avLst/>
          </a:prstGeom>
          <a:noFill/>
        </p:spPr>
        <p:txBody>
          <a:bodyPr wrap="square" rtlCol="0">
            <a:spAutoFit/>
          </a:bodyPr>
          <a:lstStyle/>
          <a:p>
            <a:pPr algn="ctr"/>
            <a:r>
              <a:rPr lang="en-US" sz="6000" b="1" dirty="0" smtClean="0">
                <a:effectLst>
                  <a:outerShdw blurRad="38100" dist="38100" dir="2700000" algn="tl">
                    <a:srgbClr val="000000">
                      <a:alpha val="43137"/>
                    </a:srgbClr>
                  </a:outerShdw>
                </a:effectLst>
              </a:rPr>
              <a:t>Basic Maneuvers</a:t>
            </a:r>
            <a:endParaRPr lang="en-US" sz="60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alpha val="26000"/>
                </a:schemeClr>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9" name="TextBox 8"/>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Basic Maneuvers</a:t>
            </a:r>
            <a:endParaRPr lang="en-US" sz="3600" b="1" dirty="0">
              <a:effectLst>
                <a:outerShdw blurRad="38100" dist="38100" dir="2700000" algn="tl">
                  <a:srgbClr val="000000">
                    <a:alpha val="43137"/>
                  </a:srgbClr>
                </a:outerShdw>
              </a:effectLst>
            </a:endParaRPr>
          </a:p>
        </p:txBody>
      </p:sp>
      <p:sp>
        <p:nvSpPr>
          <p:cNvPr id="10" name="TextBox 9">
            <a:hlinkClick r:id="rId4" action="ppaction://hlinksldjump"/>
          </p:cNvPr>
          <p:cNvSpPr txBox="1"/>
          <p:nvPr/>
        </p:nvSpPr>
        <p:spPr>
          <a:xfrm>
            <a:off x="533400" y="1548348"/>
            <a:ext cx="8305800" cy="3323987"/>
          </a:xfrm>
          <a:prstGeom prst="rect">
            <a:avLst/>
          </a:prstGeom>
          <a:noFill/>
        </p:spPr>
        <p:txBody>
          <a:bodyPr wrap="square" rtlCol="0">
            <a:spAutoFit/>
          </a:bodyPr>
          <a:lstStyle/>
          <a:p>
            <a:pPr>
              <a:buFont typeface="Wingdings" pitchFamily="2" charset="2"/>
              <a:buChar char="Ø"/>
            </a:pPr>
            <a:r>
              <a:rPr lang="en-US" sz="3000" dirty="0" smtClean="0"/>
              <a:t> The </a:t>
            </a:r>
            <a:r>
              <a:rPr lang="en-US" sz="3000" b="1" dirty="0" smtClean="0"/>
              <a:t>TURN</a:t>
            </a:r>
          </a:p>
          <a:p>
            <a:endParaRPr lang="en-US" sz="3000" dirty="0" smtClean="0"/>
          </a:p>
          <a:p>
            <a:pPr>
              <a:buFont typeface="Wingdings" pitchFamily="2" charset="2"/>
              <a:buChar char="Ø"/>
            </a:pPr>
            <a:r>
              <a:rPr lang="en-US" sz="3000" b="1" dirty="0" smtClean="0"/>
              <a:t> STRAIGHT and LEVEL </a:t>
            </a:r>
            <a:r>
              <a:rPr lang="en-US" sz="3000" dirty="0" smtClean="0"/>
              <a:t>Flight</a:t>
            </a:r>
          </a:p>
          <a:p>
            <a:endParaRPr lang="en-US" sz="3000" dirty="0" smtClean="0"/>
          </a:p>
          <a:p>
            <a:pPr>
              <a:buFont typeface="Wingdings" pitchFamily="2" charset="2"/>
              <a:buChar char="Ø"/>
            </a:pPr>
            <a:r>
              <a:rPr lang="en-US" sz="3000" dirty="0" smtClean="0"/>
              <a:t> The </a:t>
            </a:r>
            <a:r>
              <a:rPr lang="en-US" sz="3000" b="1" dirty="0" smtClean="0"/>
              <a:t>GLIDE</a:t>
            </a:r>
          </a:p>
          <a:p>
            <a:endParaRPr lang="en-US" sz="3000" b="1" dirty="0" smtClean="0"/>
          </a:p>
          <a:p>
            <a:pPr>
              <a:buFont typeface="Wingdings" pitchFamily="2" charset="2"/>
              <a:buChar char="Ø"/>
            </a:pPr>
            <a:r>
              <a:rPr lang="en-US" sz="3000" dirty="0" smtClean="0"/>
              <a:t> The </a:t>
            </a:r>
            <a:r>
              <a:rPr lang="en-US" sz="3000" b="1" dirty="0" smtClean="0"/>
              <a:t>CLIMB</a:t>
            </a:r>
          </a:p>
        </p:txBody>
      </p:sp>
      <p:sp>
        <p:nvSpPr>
          <p:cNvPr id="11" name="TextBox 10">
            <a:hlinkClick r:id="rId4" action="ppaction://hlinksldjump"/>
          </p:cNvPr>
          <p:cNvSpPr txBox="1"/>
          <p:nvPr/>
        </p:nvSpPr>
        <p:spPr>
          <a:xfrm>
            <a:off x="838200" y="2111276"/>
            <a:ext cx="7543800" cy="2308324"/>
          </a:xfrm>
          <a:prstGeom prst="rect">
            <a:avLst/>
          </a:prstGeom>
          <a:noFill/>
        </p:spPr>
        <p:txBody>
          <a:bodyPr wrap="square" rtlCol="0">
            <a:spAutoFit/>
          </a:bodyPr>
          <a:lstStyle/>
          <a:p>
            <a:pPr algn="ctr"/>
            <a:r>
              <a:rPr lang="en-US" sz="3000" dirty="0" smtClean="0"/>
              <a:t> </a:t>
            </a:r>
            <a:r>
              <a:rPr lang="en-US" sz="3600" b="1" dirty="0" smtClean="0">
                <a:effectLst>
                  <a:outerShdw blurRad="50800" dist="38100" dir="2700000" algn="tl" rotWithShape="0">
                    <a:prstClr val="black">
                      <a:alpha val="40000"/>
                    </a:prstClr>
                  </a:outerShdw>
                </a:effectLst>
              </a:rPr>
              <a:t>If the student has trouble with any maneuver (e.g., landing) the trouble is likely some flaw in the student’s understanding of the fundamentals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 calcmode="lin" valueType="num">
                                      <p:cBhvr additive="base">
                                        <p:cTn id="25" dur="500" fill="hold"/>
                                        <p:tgtEl>
                                          <p:spTgt spid="10">
                                            <p:txEl>
                                              <p:pRg st="6" end="6"/>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xit" presetSubtype="0" fill="hold" grpId="0" nodeType="clickEffect">
                                  <p:stCondLst>
                                    <p:cond delay="0"/>
                                  </p:stCondLst>
                                  <p:childTnLst>
                                    <p:animEffect transition="out" filter="dissolve">
                                      <p:cBhvr>
                                        <p:cTn id="30" dur="500"/>
                                        <p:tgtEl>
                                          <p:spTgt spid="10">
                                            <p:txEl>
                                              <p:pRg st="0" end="0"/>
                                            </p:txEl>
                                          </p:spTgt>
                                        </p:tgtEl>
                                      </p:cBhvr>
                                    </p:animEffect>
                                    <p:set>
                                      <p:cBhvr>
                                        <p:cTn id="31" dur="1" fill="hold">
                                          <p:stCondLst>
                                            <p:cond delay="499"/>
                                          </p:stCondLst>
                                        </p:cTn>
                                        <p:tgtEl>
                                          <p:spTgt spid="10">
                                            <p:txEl>
                                              <p:pRg st="0" end="0"/>
                                            </p:txEl>
                                          </p:spTgt>
                                        </p:tgtEl>
                                        <p:attrNameLst>
                                          <p:attrName>style.visibility</p:attrName>
                                        </p:attrNameLst>
                                      </p:cBhvr>
                                      <p:to>
                                        <p:strVal val="hidden"/>
                                      </p:to>
                                    </p:set>
                                  </p:childTnLst>
                                </p:cTn>
                              </p:par>
                              <p:par>
                                <p:cTn id="32" presetID="9" presetClass="exit" presetSubtype="0" fill="hold" grpId="0" nodeType="withEffect">
                                  <p:stCondLst>
                                    <p:cond delay="0"/>
                                  </p:stCondLst>
                                  <p:childTnLst>
                                    <p:animEffect transition="out" filter="dissolve">
                                      <p:cBhvr>
                                        <p:cTn id="33" dur="500"/>
                                        <p:tgtEl>
                                          <p:spTgt spid="10">
                                            <p:txEl>
                                              <p:pRg st="2" end="2"/>
                                            </p:txEl>
                                          </p:spTgt>
                                        </p:tgtEl>
                                      </p:cBhvr>
                                    </p:animEffect>
                                    <p:set>
                                      <p:cBhvr>
                                        <p:cTn id="34" dur="1" fill="hold">
                                          <p:stCondLst>
                                            <p:cond delay="499"/>
                                          </p:stCondLst>
                                        </p:cTn>
                                        <p:tgtEl>
                                          <p:spTgt spid="10">
                                            <p:txEl>
                                              <p:pRg st="2" end="2"/>
                                            </p:txEl>
                                          </p:spTgt>
                                        </p:tgtEl>
                                        <p:attrNameLst>
                                          <p:attrName>style.visibility</p:attrName>
                                        </p:attrNameLst>
                                      </p:cBhvr>
                                      <p:to>
                                        <p:strVal val="hidden"/>
                                      </p:to>
                                    </p:set>
                                  </p:childTnLst>
                                </p:cTn>
                              </p:par>
                              <p:par>
                                <p:cTn id="35" presetID="9" presetClass="exit" presetSubtype="0" fill="hold" grpId="0" nodeType="withEffect">
                                  <p:stCondLst>
                                    <p:cond delay="0"/>
                                  </p:stCondLst>
                                  <p:childTnLst>
                                    <p:animEffect transition="out" filter="dissolve">
                                      <p:cBhvr>
                                        <p:cTn id="36" dur="500"/>
                                        <p:tgtEl>
                                          <p:spTgt spid="10">
                                            <p:txEl>
                                              <p:pRg st="4" end="4"/>
                                            </p:txEl>
                                          </p:spTgt>
                                        </p:tgtEl>
                                      </p:cBhvr>
                                    </p:animEffect>
                                    <p:set>
                                      <p:cBhvr>
                                        <p:cTn id="37" dur="1" fill="hold">
                                          <p:stCondLst>
                                            <p:cond delay="499"/>
                                          </p:stCondLst>
                                        </p:cTn>
                                        <p:tgtEl>
                                          <p:spTgt spid="10">
                                            <p:txEl>
                                              <p:pRg st="4" end="4"/>
                                            </p:txEl>
                                          </p:spTgt>
                                        </p:tgtEl>
                                        <p:attrNameLst>
                                          <p:attrName>style.visibility</p:attrName>
                                        </p:attrNameLst>
                                      </p:cBhvr>
                                      <p:to>
                                        <p:strVal val="hidden"/>
                                      </p:to>
                                    </p:set>
                                  </p:childTnLst>
                                </p:cTn>
                              </p:par>
                              <p:par>
                                <p:cTn id="38" presetID="9" presetClass="exit" presetSubtype="0" fill="hold" grpId="0" nodeType="withEffect">
                                  <p:stCondLst>
                                    <p:cond delay="0"/>
                                  </p:stCondLst>
                                  <p:childTnLst>
                                    <p:animEffect transition="out" filter="dissolve">
                                      <p:cBhvr>
                                        <p:cTn id="39" dur="500"/>
                                        <p:tgtEl>
                                          <p:spTgt spid="10">
                                            <p:txEl>
                                              <p:pRg st="6" end="6"/>
                                            </p:txEl>
                                          </p:spTgt>
                                        </p:tgtEl>
                                      </p:cBhvr>
                                    </p:animEffect>
                                    <p:set>
                                      <p:cBhvr>
                                        <p:cTn id="40" dur="1" fill="hold">
                                          <p:stCondLst>
                                            <p:cond delay="499"/>
                                          </p:stCondLst>
                                        </p:cTn>
                                        <p:tgtEl>
                                          <p:spTgt spid="10">
                                            <p:txEl>
                                              <p:pRg st="6" end="6"/>
                                            </p:txEl>
                                          </p:spTgt>
                                        </p:tgtEl>
                                        <p:attrNameLst>
                                          <p:attrName>style.visibility</p:attrName>
                                        </p:attrNameLst>
                                      </p:cBhvr>
                                      <p:to>
                                        <p:strVal val="hidden"/>
                                      </p:to>
                                    </p:set>
                                  </p:childTnLst>
                                </p:cTn>
                              </p:par>
                              <p:par>
                                <p:cTn id="41" presetID="9"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dissolve">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a:t>
            </a:r>
            <a:endParaRPr lang="en-US" sz="3600" b="1" dirty="0">
              <a:effectLst>
                <a:outerShdw blurRad="38100" dist="38100" dir="2700000" algn="tl">
                  <a:srgbClr val="000000">
                    <a:alpha val="43137"/>
                  </a:srgbClr>
                </a:outerShdw>
              </a:effectLst>
            </a:endParaRPr>
          </a:p>
        </p:txBody>
      </p:sp>
      <p:sp>
        <p:nvSpPr>
          <p:cNvPr id="10" name="TextBox 9">
            <a:hlinkClick r:id="rId4" action="ppaction://hlinksldjump"/>
          </p:cNvPr>
          <p:cNvSpPr txBox="1"/>
          <p:nvPr/>
        </p:nvSpPr>
        <p:spPr>
          <a:xfrm>
            <a:off x="533400" y="1066800"/>
            <a:ext cx="8305800" cy="3323987"/>
          </a:xfrm>
          <a:prstGeom prst="rect">
            <a:avLst/>
          </a:prstGeom>
          <a:noFill/>
        </p:spPr>
        <p:txBody>
          <a:bodyPr wrap="square" rtlCol="0">
            <a:spAutoFit/>
          </a:bodyPr>
          <a:lstStyle/>
          <a:p>
            <a:pPr>
              <a:buFont typeface="Arial" pitchFamily="34" charset="0"/>
              <a:buChar char="•"/>
            </a:pPr>
            <a:r>
              <a:rPr lang="en-US" sz="3000" dirty="0" smtClean="0"/>
              <a:t> Almost all fatal flying accidents are caused by loss </a:t>
            </a:r>
          </a:p>
          <a:p>
            <a:r>
              <a:rPr lang="en-US" sz="3000" dirty="0" smtClean="0"/>
              <a:t>   of control during a turn</a:t>
            </a:r>
          </a:p>
          <a:p>
            <a:pPr>
              <a:buFont typeface="Arial" pitchFamily="34" charset="0"/>
              <a:buChar char="•"/>
            </a:pPr>
            <a:r>
              <a:rPr lang="en-US" sz="3000" b="1" dirty="0" smtClean="0"/>
              <a:t> </a:t>
            </a:r>
            <a:r>
              <a:rPr lang="en-US" sz="3000" dirty="0" smtClean="0"/>
              <a:t>The rudder cannot turn the UL, it can only produce </a:t>
            </a:r>
          </a:p>
          <a:p>
            <a:r>
              <a:rPr lang="en-US" sz="3000" dirty="0" smtClean="0"/>
              <a:t>   a yaw</a:t>
            </a:r>
          </a:p>
          <a:p>
            <a:pPr>
              <a:buFont typeface="Arial" pitchFamily="34" charset="0"/>
              <a:buChar char="•"/>
            </a:pPr>
            <a:r>
              <a:rPr lang="en-US" sz="3000" dirty="0" smtClean="0"/>
              <a:t> Involves the coordination of three flight controls – </a:t>
            </a:r>
          </a:p>
          <a:p>
            <a:r>
              <a:rPr lang="en-US" sz="3000" dirty="0" smtClean="0"/>
              <a:t>   aileron, rudder, and “elevator”</a:t>
            </a:r>
          </a:p>
          <a:p>
            <a:endParaRPr lang="en-US"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 calcmode="lin" valueType="num">
                                      <p:cBhvr additive="base">
                                        <p:cTn id="11" dur="500" fill="hold"/>
                                        <p:tgtEl>
                                          <p:spTgt spid="10">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 calcmode="lin" valueType="num">
                                      <p:cBhvr additive="base">
                                        <p:cTn id="17" dur="500" fill="hold"/>
                                        <p:tgtEl>
                                          <p:spTgt spid="10">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0">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 calcmode="lin" valueType="num">
                                      <p:cBhvr additive="base">
                                        <p:cTn id="21" dur="500" fill="hold"/>
                                        <p:tgtEl>
                                          <p:spTgt spid="10">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 calcmode="lin" valueType="num">
                                      <p:cBhvr additive="base">
                                        <p:cTn id="27" dur="500" fill="hold"/>
                                        <p:tgtEl>
                                          <p:spTgt spid="10">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0">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anim calcmode="lin" valueType="num">
                                      <p:cBhvr additive="base">
                                        <p:cTn id="31" dur="500" fill="hold"/>
                                        <p:tgtEl>
                                          <p:spTgt spid="10">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0">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a:hlinkClick r:id="rId4" action="ppaction://hlinksldjump"/>
          </p:cNvPr>
          <p:cNvSpPr txBox="1"/>
          <p:nvPr/>
        </p:nvSpPr>
        <p:spPr>
          <a:xfrm>
            <a:off x="533400" y="1066800"/>
            <a:ext cx="8305800" cy="2862322"/>
          </a:xfrm>
          <a:prstGeom prst="rect">
            <a:avLst/>
          </a:prstGeom>
          <a:noFill/>
        </p:spPr>
        <p:txBody>
          <a:bodyPr wrap="square" rtlCol="0">
            <a:spAutoFit/>
          </a:bodyPr>
          <a:lstStyle/>
          <a:p>
            <a:endParaRPr lang="en-US" sz="3000" dirty="0" smtClean="0"/>
          </a:p>
          <a:p>
            <a:r>
              <a:rPr lang="en-US" sz="3000" b="1" dirty="0" smtClean="0"/>
              <a:t>How then is an airplane turned?</a:t>
            </a:r>
          </a:p>
          <a:p>
            <a:endParaRPr lang="en-US" sz="3000" dirty="0" smtClean="0"/>
          </a:p>
          <a:p>
            <a:r>
              <a:rPr lang="en-US" sz="3000" b="1" i="1" dirty="0" smtClean="0"/>
              <a:t>An airplane is turned by laying it over on its side and lifting it around through back pressure on the stick</a:t>
            </a:r>
          </a:p>
        </p:txBody>
      </p:sp>
      <p:sp>
        <p:nvSpPr>
          <p:cNvPr id="8" name="TextBox 7"/>
          <p:cNvSpPr txBox="1"/>
          <p:nvPr/>
        </p:nvSpPr>
        <p:spPr>
          <a:xfrm>
            <a:off x="152400" y="39469"/>
            <a:ext cx="8229600" cy="646331"/>
          </a:xfrm>
          <a:prstGeom prst="rect">
            <a:avLst/>
          </a:prstGeom>
          <a:noFill/>
        </p:spPr>
        <p:txBody>
          <a:bodyPr wrap="square" rtlCol="0">
            <a:spAutoFit/>
          </a:bodyPr>
          <a:lstStyle/>
          <a:p>
            <a:r>
              <a:rPr lang="en-US" sz="3600" b="1" dirty="0" smtClean="0">
                <a:solidFill>
                  <a:srgbClr val="FF0000"/>
                </a:solidFill>
                <a:effectLst>
                  <a:outerShdw blurRad="38100" dist="38100" dir="2700000" algn="tl">
                    <a:srgbClr val="000000">
                      <a:alpha val="43137"/>
                    </a:srgbClr>
                  </a:outerShdw>
                </a:effectLst>
              </a:rPr>
              <a:t>QUESTION </a:t>
            </a:r>
            <a:endParaRPr lang="en-US" sz="3600" b="1"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 calcmode="lin" valueType="num">
                                      <p:cBhvr additive="base">
                                        <p:cTn id="7" dur="500" fill="hold"/>
                                        <p:tgtEl>
                                          <p:spTgt spid="10">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anim calcmode="lin" valueType="num">
                                      <p:cBhvr additive="base">
                                        <p:cTn id="13" dur="500" fill="hold"/>
                                        <p:tgtEl>
                                          <p:spTgt spid="10">
                                            <p:txEl>
                                              <p:pRg st="3" end="3"/>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a:t>
            </a:r>
            <a:endParaRPr lang="en-US" sz="3600" b="1" dirty="0">
              <a:effectLst>
                <a:outerShdw blurRad="38100" dist="38100" dir="2700000" algn="tl">
                  <a:srgbClr val="000000">
                    <a:alpha val="43137"/>
                  </a:srgbClr>
                </a:outerShdw>
              </a:effectLst>
            </a:endParaRPr>
          </a:p>
        </p:txBody>
      </p:sp>
      <p:grpSp>
        <p:nvGrpSpPr>
          <p:cNvPr id="8" name="Group 7"/>
          <p:cNvGrpSpPr/>
          <p:nvPr/>
        </p:nvGrpSpPr>
        <p:grpSpPr>
          <a:xfrm rot="1241071">
            <a:off x="1505061" y="1981201"/>
            <a:ext cx="7161213" cy="2286000"/>
            <a:chOff x="990600" y="2514600"/>
            <a:chExt cx="7161213" cy="2286000"/>
          </a:xfrm>
          <a:scene3d>
            <a:camera prst="orthographicFront">
              <a:rot lat="0" lon="0" rev="0"/>
            </a:camera>
            <a:lightRig rig="glow" dir="t">
              <a:rot lat="0" lon="0" rev="4800000"/>
            </a:lightRig>
          </a:scene3d>
        </p:grpSpPr>
        <p:grpSp>
          <p:nvGrpSpPr>
            <p:cNvPr id="9" name="Group 10"/>
            <p:cNvGrpSpPr/>
            <p:nvPr/>
          </p:nvGrpSpPr>
          <p:grpSpPr>
            <a:xfrm>
              <a:off x="990600" y="2514600"/>
              <a:ext cx="7161213" cy="2286000"/>
              <a:chOff x="990600" y="2514600"/>
              <a:chExt cx="7161213" cy="2286000"/>
            </a:xfrm>
          </p:grpSpPr>
          <p:pic>
            <p:nvPicPr>
              <p:cNvPr id="13" name="Picture 2"/>
              <p:cNvPicPr>
                <a:picLocks noChangeAspect="1" noChangeArrowheads="1"/>
              </p:cNvPicPr>
              <p:nvPr/>
            </p:nvPicPr>
            <p:blipFill>
              <a:blip r:embed="rId4" cstate="print"/>
              <a:srcRect t="26000" b="14000"/>
              <a:stretch>
                <a:fillRect/>
              </a:stretch>
            </p:blipFill>
            <p:spPr bwMode="auto">
              <a:xfrm>
                <a:off x="990600" y="2514600"/>
                <a:ext cx="7161213" cy="2286000"/>
              </a:xfrm>
              <a:prstGeom prst="rect">
                <a:avLst/>
              </a:prstGeom>
              <a:noFill/>
              <a:ln w="9525">
                <a:noFill/>
                <a:miter lim="800000"/>
                <a:headEnd/>
                <a:tailEnd/>
              </a:ln>
              <a:effectLst>
                <a:outerShdw blurRad="190500" dist="228600" dir="2700000" algn="ctr">
                  <a:srgbClr val="000000">
                    <a:alpha val="30000"/>
                  </a:srgbClr>
                </a:outerShdw>
              </a:effectLst>
              <a:sp3d prstMaterial="matte">
                <a:bevelT w="127000" h="63500"/>
              </a:sp3d>
            </p:spPr>
          </p:pic>
          <p:pic>
            <p:nvPicPr>
              <p:cNvPr id="14" name="Picture 3"/>
              <p:cNvPicPr>
                <a:picLocks noChangeAspect="1" noChangeArrowheads="1"/>
              </p:cNvPicPr>
              <p:nvPr/>
            </p:nvPicPr>
            <p:blipFill>
              <a:blip r:embed="rId5" cstate="print"/>
              <a:srcRect l="40425" t="50000" r="40426" b="14000"/>
              <a:stretch>
                <a:fillRect/>
              </a:stretch>
            </p:blipFill>
            <p:spPr bwMode="auto">
              <a:xfrm>
                <a:off x="3886200" y="3429000"/>
                <a:ext cx="1371600" cy="1371600"/>
              </a:xfrm>
              <a:prstGeom prst="rect">
                <a:avLst/>
              </a:prstGeom>
              <a:noFill/>
              <a:ln w="9525">
                <a:noFill/>
                <a:miter lim="800000"/>
                <a:headEnd/>
                <a:tailEnd/>
              </a:ln>
              <a:effectLst>
                <a:outerShdw blurRad="190500" dist="228600" dir="2700000" algn="ctr">
                  <a:srgbClr val="000000">
                    <a:alpha val="30000"/>
                  </a:srgbClr>
                </a:outerShdw>
              </a:effectLst>
              <a:sp3d prstMaterial="matte">
                <a:bevelT w="127000" h="63500"/>
              </a:sp3d>
            </p:spPr>
          </p:pic>
        </p:grpSp>
        <p:cxnSp>
          <p:nvCxnSpPr>
            <p:cNvPr id="10" name="Straight Connector 9"/>
            <p:cNvCxnSpPr/>
            <p:nvPr/>
          </p:nvCxnSpPr>
          <p:spPr>
            <a:xfrm flipV="1">
              <a:off x="4572000" y="3886200"/>
              <a:ext cx="304800" cy="609600"/>
            </a:xfrm>
            <a:prstGeom prst="line">
              <a:avLst/>
            </a:prstGeom>
            <a:ln w="38100">
              <a:noFill/>
            </a:ln>
            <a:effectLst>
              <a:outerShdw blurRad="190500" dist="228600" dir="2700000" algn="ctr">
                <a:srgbClr val="000000">
                  <a:alpha val="30000"/>
                </a:srgbClr>
              </a:outerShdw>
            </a:effectLst>
            <a:sp3d prstMaterial="matte">
              <a:bevelT w="127000" h="63500"/>
            </a:sp3d>
          </p:spPr>
          <p:style>
            <a:lnRef idx="1">
              <a:schemeClr val="accent1"/>
            </a:lnRef>
            <a:fillRef idx="0">
              <a:schemeClr val="accent1"/>
            </a:fillRef>
            <a:effectRef idx="0">
              <a:schemeClr val="accent1"/>
            </a:effectRef>
            <a:fontRef idx="minor">
              <a:schemeClr val="tx1"/>
            </a:fontRef>
          </p:style>
        </p:cxnSp>
        <p:sp>
          <p:nvSpPr>
            <p:cNvPr id="11" name="Freeform 10"/>
            <p:cNvSpPr/>
            <p:nvPr/>
          </p:nvSpPr>
          <p:spPr>
            <a:xfrm>
              <a:off x="6337300" y="3187700"/>
              <a:ext cx="1555750" cy="139700"/>
            </a:xfrm>
            <a:custGeom>
              <a:avLst/>
              <a:gdLst>
                <a:gd name="connsiteX0" fmla="*/ 1555750 w 1555750"/>
                <a:gd name="connsiteY0" fmla="*/ 63500 h 139700"/>
                <a:gd name="connsiteX1" fmla="*/ 1555750 w 1555750"/>
                <a:gd name="connsiteY1" fmla="*/ 0 h 139700"/>
                <a:gd name="connsiteX2" fmla="*/ 0 w 1555750"/>
                <a:gd name="connsiteY2" fmla="*/ 63500 h 139700"/>
                <a:gd name="connsiteX3" fmla="*/ 6350 w 1555750"/>
                <a:gd name="connsiteY3" fmla="*/ 139700 h 139700"/>
                <a:gd name="connsiteX4" fmla="*/ 1555750 w 1555750"/>
                <a:gd name="connsiteY4" fmla="*/ 63500 h 13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5750" h="139700">
                  <a:moveTo>
                    <a:pt x="1555750" y="63500"/>
                  </a:moveTo>
                  <a:lnTo>
                    <a:pt x="1555750" y="0"/>
                  </a:lnTo>
                  <a:lnTo>
                    <a:pt x="0" y="63500"/>
                  </a:lnTo>
                  <a:lnTo>
                    <a:pt x="6350" y="139700"/>
                  </a:lnTo>
                  <a:lnTo>
                    <a:pt x="1555750" y="63500"/>
                  </a:lnTo>
                  <a:close/>
                </a:path>
              </a:pathLst>
            </a:custGeom>
            <a:ln w="3175">
              <a:noFill/>
            </a:ln>
            <a:effectLst>
              <a:outerShdw blurRad="190500" dist="228600" dir="2700000" algn="ctr">
                <a:srgbClr val="000000">
                  <a:alpha val="30000"/>
                </a:srgbClr>
              </a:outerShdw>
            </a:effectLst>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a:off x="1270000" y="3321050"/>
              <a:ext cx="1549400" cy="209550"/>
            </a:xfrm>
            <a:custGeom>
              <a:avLst/>
              <a:gdLst>
                <a:gd name="connsiteX0" fmla="*/ 6350 w 1549400"/>
                <a:gd name="connsiteY0" fmla="*/ 0 h 209550"/>
                <a:gd name="connsiteX1" fmla="*/ 0 w 1549400"/>
                <a:gd name="connsiteY1" fmla="*/ 114300 h 209550"/>
                <a:gd name="connsiteX2" fmla="*/ 1549400 w 1549400"/>
                <a:gd name="connsiteY2" fmla="*/ 209550 h 209550"/>
                <a:gd name="connsiteX3" fmla="*/ 1549400 w 1549400"/>
                <a:gd name="connsiteY3" fmla="*/ 95250 h 209550"/>
                <a:gd name="connsiteX4" fmla="*/ 6350 w 1549400"/>
                <a:gd name="connsiteY4" fmla="*/ 0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400" h="209550">
                  <a:moveTo>
                    <a:pt x="6350" y="0"/>
                  </a:moveTo>
                  <a:lnTo>
                    <a:pt x="0" y="114300"/>
                  </a:lnTo>
                  <a:lnTo>
                    <a:pt x="1549400" y="209550"/>
                  </a:lnTo>
                  <a:lnTo>
                    <a:pt x="1549400" y="95250"/>
                  </a:lnTo>
                  <a:lnTo>
                    <a:pt x="6350" y="0"/>
                  </a:lnTo>
                  <a:close/>
                </a:path>
              </a:pathLst>
            </a:custGeom>
            <a:ln w="3175">
              <a:noFill/>
            </a:ln>
            <a:effectLst>
              <a:outerShdw blurRad="190500" dist="228600" dir="2700000" algn="ctr">
                <a:srgbClr val="000000">
                  <a:alpha val="30000"/>
                </a:srgbClr>
              </a:outerShdw>
            </a:effectLst>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Down Arrow 14"/>
          <p:cNvSpPr/>
          <p:nvPr/>
        </p:nvSpPr>
        <p:spPr>
          <a:xfrm rot="12329142">
            <a:off x="2851535" y="611830"/>
            <a:ext cx="609600" cy="10836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p:cNvSpPr/>
          <p:nvPr/>
        </p:nvSpPr>
        <p:spPr>
          <a:xfrm rot="11984810">
            <a:off x="7457518" y="2828258"/>
            <a:ext cx="609600"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52400" y="4419600"/>
            <a:ext cx="5334000" cy="1815882"/>
          </a:xfrm>
          <a:prstGeom prst="rect">
            <a:avLst/>
          </a:prstGeom>
          <a:noFill/>
        </p:spPr>
        <p:txBody>
          <a:bodyPr wrap="square" rtlCol="0">
            <a:spAutoFit/>
          </a:bodyPr>
          <a:lstStyle/>
          <a:p>
            <a:r>
              <a:rPr lang="en-US" sz="2800" b="1" dirty="0" smtClean="0"/>
              <a:t>Changing the direction of the wing's lift toward one side or the other, the airplane will be pulled in that direction</a:t>
            </a:r>
            <a:endParaRPr lang="en-US" sz="28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a:t>
            </a:r>
            <a:endParaRPr lang="en-US" sz="3600" b="1" dirty="0">
              <a:effectLst>
                <a:outerShdw blurRad="38100" dist="38100" dir="2700000" algn="tl">
                  <a:srgbClr val="000000">
                    <a:alpha val="43137"/>
                  </a:srgbClr>
                </a:outerShdw>
              </a:effectLst>
            </a:endParaRPr>
          </a:p>
        </p:txBody>
      </p:sp>
      <p:pic>
        <p:nvPicPr>
          <p:cNvPr id="2" name="Picture 2"/>
          <p:cNvPicPr>
            <a:picLocks noChangeAspect="1" noChangeArrowheads="1"/>
          </p:cNvPicPr>
          <p:nvPr/>
        </p:nvPicPr>
        <p:blipFill>
          <a:blip r:embed="rId4" cstate="print">
            <a:lum contrast="10000"/>
          </a:blip>
          <a:srcRect/>
          <a:stretch>
            <a:fillRect/>
          </a:stretch>
        </p:blipFill>
        <p:spPr bwMode="auto">
          <a:xfrm>
            <a:off x="1438275" y="914400"/>
            <a:ext cx="6410325" cy="4829175"/>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8" name="Picture 2"/>
          <p:cNvPicPr>
            <a:picLocks noChangeAspect="1" noChangeArrowheads="1"/>
          </p:cNvPicPr>
          <p:nvPr/>
        </p:nvPicPr>
        <p:blipFill>
          <a:blip r:embed="rId4" cstate="print">
            <a:lum contrast="10000"/>
          </a:blip>
          <a:srcRect/>
          <a:stretch>
            <a:fillRect/>
          </a:stretch>
        </p:blipFill>
        <p:spPr bwMode="auto">
          <a:xfrm>
            <a:off x="6172200" y="152400"/>
            <a:ext cx="2819400" cy="2123976"/>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1" name="TextBox 10"/>
          <p:cNvSpPr txBox="1"/>
          <p:nvPr/>
        </p:nvSpPr>
        <p:spPr>
          <a:xfrm>
            <a:off x="152400" y="1694795"/>
            <a:ext cx="7010399" cy="4093428"/>
          </a:xfrm>
          <a:prstGeom prst="rect">
            <a:avLst/>
          </a:prstGeom>
          <a:noFill/>
        </p:spPr>
        <p:txBody>
          <a:bodyPr wrap="square" rtlCol="0">
            <a:spAutoFit/>
          </a:bodyPr>
          <a:lstStyle/>
          <a:p>
            <a:pPr>
              <a:buFont typeface="Arial" pitchFamily="34" charset="0"/>
              <a:buChar char="•"/>
            </a:pPr>
            <a:r>
              <a:rPr lang="en-US" b="1" dirty="0" smtClean="0"/>
              <a:t> </a:t>
            </a:r>
            <a:r>
              <a:rPr lang="en-US" sz="2000" b="1" dirty="0" smtClean="0"/>
              <a:t>At straight and level, the total lift is acting perpendicular to the </a:t>
            </a:r>
          </a:p>
          <a:p>
            <a:r>
              <a:rPr lang="en-US" sz="2000" b="1" dirty="0" smtClean="0"/>
              <a:t>   wings and to the earth</a:t>
            </a:r>
          </a:p>
          <a:p>
            <a:pPr>
              <a:buFont typeface="Arial" pitchFamily="34" charset="0"/>
              <a:buChar char="•"/>
            </a:pPr>
            <a:r>
              <a:rPr lang="en-US" sz="2000" b="1" dirty="0" smtClean="0"/>
              <a:t> As the airplane is banked into a turn, the lift then becomes the </a:t>
            </a:r>
          </a:p>
          <a:p>
            <a:r>
              <a:rPr lang="en-US" sz="2000" b="1" dirty="0" smtClean="0"/>
              <a:t>   resultant of two components: </a:t>
            </a:r>
          </a:p>
          <a:p>
            <a:pPr lvl="1">
              <a:buFont typeface="Wingdings" pitchFamily="2" charset="2"/>
              <a:buChar char="Ø"/>
            </a:pPr>
            <a:r>
              <a:rPr lang="en-US" sz="2000" b="1" dirty="0" smtClean="0"/>
              <a:t> One, the vertical component, continues to act</a:t>
            </a:r>
          </a:p>
          <a:p>
            <a:pPr lvl="1"/>
            <a:r>
              <a:rPr lang="en-US" sz="2000" b="1" dirty="0" smtClean="0"/>
              <a:t>     perpendicular to the earth and opposes gravity </a:t>
            </a:r>
          </a:p>
          <a:p>
            <a:pPr lvl="1">
              <a:buFont typeface="Wingdings" pitchFamily="2" charset="2"/>
              <a:buChar char="Ø"/>
            </a:pPr>
            <a:r>
              <a:rPr lang="en-US" sz="2000" b="1" dirty="0" smtClean="0"/>
              <a:t> The other, the horizontal component, acts parallel to the </a:t>
            </a:r>
          </a:p>
          <a:p>
            <a:pPr lvl="1"/>
            <a:r>
              <a:rPr lang="en-US" sz="2000" b="1" dirty="0" smtClean="0"/>
              <a:t>     earth's surface and opposes centrifugal force caused by   </a:t>
            </a:r>
          </a:p>
          <a:p>
            <a:pPr lvl="1"/>
            <a:r>
              <a:rPr lang="en-US" sz="2000" b="1" dirty="0" smtClean="0"/>
              <a:t>     the turn</a:t>
            </a:r>
          </a:p>
          <a:p>
            <a:pPr>
              <a:buFont typeface="Arial" pitchFamily="34" charset="0"/>
              <a:buChar char="•"/>
            </a:pPr>
            <a:r>
              <a:rPr lang="en-US" sz="2000" b="1" dirty="0" smtClean="0"/>
              <a:t> These two lift components act at right angles to each other, </a:t>
            </a:r>
          </a:p>
          <a:p>
            <a:r>
              <a:rPr lang="en-US" sz="2000" b="1" dirty="0" smtClean="0"/>
              <a:t>   causing the resultant lifting force to act perpendicular to the</a:t>
            </a:r>
          </a:p>
          <a:p>
            <a:r>
              <a:rPr lang="en-US" sz="2000" b="1" dirty="0" smtClean="0"/>
              <a:t>   banked wing of the airplane </a:t>
            </a:r>
          </a:p>
          <a:p>
            <a:endParaRPr lang="en-US" sz="2000" b="1" dirty="0"/>
          </a:p>
        </p:txBody>
      </p:sp>
      <p:sp>
        <p:nvSpPr>
          <p:cNvPr id="12" name="TextBox 11"/>
          <p:cNvSpPr txBox="1"/>
          <p:nvPr/>
        </p:nvSpPr>
        <p:spPr>
          <a:xfrm>
            <a:off x="228600" y="5722203"/>
            <a:ext cx="8763000" cy="830997"/>
          </a:xfrm>
          <a:prstGeom prst="rect">
            <a:avLst/>
          </a:prstGeom>
          <a:noFill/>
        </p:spPr>
        <p:txBody>
          <a:bodyPr wrap="square" rtlCol="0">
            <a:spAutoFit/>
          </a:bodyPr>
          <a:lstStyle/>
          <a:p>
            <a:pPr algn="ctr"/>
            <a:r>
              <a:rPr lang="en-US" sz="2400" b="1" dirty="0" smtClean="0"/>
              <a:t>It is this lifting force that actually turns the airplane - not the rudder </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 calcmode="lin" valueType="num">
                                      <p:cBhvr additive="base">
                                        <p:cTn id="15"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1">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anim calcmode="lin" valueType="num">
                                      <p:cBhvr additive="base">
                                        <p:cTn id="19" dur="500" fill="hold"/>
                                        <p:tgtEl>
                                          <p:spTgt spid="11">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8" fill="hold" nodeType="clickEffect">
                                  <p:stCondLst>
                                    <p:cond delay="0"/>
                                  </p:stCondLst>
                                  <p:childTnLst>
                                    <p:anim calcmode="lin" valueType="num">
                                      <p:cBhvr additive="base">
                                        <p:cTn id="24" dur="500"/>
                                        <p:tgtEl>
                                          <p:spTgt spid="11">
                                            <p:txEl>
                                              <p:pRg st="0" end="0"/>
                                            </p:txEl>
                                          </p:spTgt>
                                        </p:tgtEl>
                                        <p:attrNameLst>
                                          <p:attrName>ppt_x</p:attrName>
                                        </p:attrNameLst>
                                      </p:cBhvr>
                                      <p:tavLst>
                                        <p:tav tm="0">
                                          <p:val>
                                            <p:strVal val="ppt_x"/>
                                          </p:val>
                                        </p:tav>
                                        <p:tav tm="100000">
                                          <p:val>
                                            <p:strVal val="0-ppt_w/2"/>
                                          </p:val>
                                        </p:tav>
                                      </p:tavLst>
                                    </p:anim>
                                    <p:anim calcmode="lin" valueType="num">
                                      <p:cBhvr additive="base">
                                        <p:cTn id="25" dur="500"/>
                                        <p:tgtEl>
                                          <p:spTgt spid="11">
                                            <p:txEl>
                                              <p:pRg st="0" end="0"/>
                                            </p:txEl>
                                          </p:spTgt>
                                        </p:tgtEl>
                                        <p:attrNameLst>
                                          <p:attrName>ppt_y</p:attrName>
                                        </p:attrNameLst>
                                      </p:cBhvr>
                                      <p:tavLst>
                                        <p:tav tm="0">
                                          <p:val>
                                            <p:strVal val="ppt_y"/>
                                          </p:val>
                                        </p:tav>
                                        <p:tav tm="100000">
                                          <p:val>
                                            <p:strVal val="ppt_y"/>
                                          </p:val>
                                        </p:tav>
                                      </p:tavLst>
                                    </p:anim>
                                    <p:set>
                                      <p:cBhvr>
                                        <p:cTn id="26" dur="1" fill="hold">
                                          <p:stCondLst>
                                            <p:cond delay="499"/>
                                          </p:stCondLst>
                                        </p:cTn>
                                        <p:tgtEl>
                                          <p:spTgt spid="11">
                                            <p:txEl>
                                              <p:pRg st="0" end="0"/>
                                            </p:txEl>
                                          </p:spTgt>
                                        </p:tgtEl>
                                        <p:attrNameLst>
                                          <p:attrName>style.visibility</p:attrName>
                                        </p:attrNameLst>
                                      </p:cBhvr>
                                      <p:to>
                                        <p:strVal val="hidden"/>
                                      </p:to>
                                    </p:set>
                                  </p:childTnLst>
                                </p:cTn>
                              </p:par>
                              <p:par>
                                <p:cTn id="27" presetID="2" presetClass="exit" presetSubtype="8" fill="hold" nodeType="withEffect">
                                  <p:stCondLst>
                                    <p:cond delay="0"/>
                                  </p:stCondLst>
                                  <p:childTnLst>
                                    <p:anim calcmode="lin" valueType="num">
                                      <p:cBhvr additive="base">
                                        <p:cTn id="28" dur="500"/>
                                        <p:tgtEl>
                                          <p:spTgt spid="11">
                                            <p:txEl>
                                              <p:pRg st="1" end="1"/>
                                            </p:txEl>
                                          </p:spTgt>
                                        </p:tgtEl>
                                        <p:attrNameLst>
                                          <p:attrName>ppt_x</p:attrName>
                                        </p:attrNameLst>
                                      </p:cBhvr>
                                      <p:tavLst>
                                        <p:tav tm="0">
                                          <p:val>
                                            <p:strVal val="ppt_x"/>
                                          </p:val>
                                        </p:tav>
                                        <p:tav tm="100000">
                                          <p:val>
                                            <p:strVal val="0-ppt_w/2"/>
                                          </p:val>
                                        </p:tav>
                                      </p:tavLst>
                                    </p:anim>
                                    <p:anim calcmode="lin" valueType="num">
                                      <p:cBhvr additive="base">
                                        <p:cTn id="29" dur="500"/>
                                        <p:tgtEl>
                                          <p:spTgt spid="11">
                                            <p:txEl>
                                              <p:pRg st="1" end="1"/>
                                            </p:txEl>
                                          </p:spTgt>
                                        </p:tgtEl>
                                        <p:attrNameLst>
                                          <p:attrName>ppt_y</p:attrName>
                                        </p:attrNameLst>
                                      </p:cBhvr>
                                      <p:tavLst>
                                        <p:tav tm="0">
                                          <p:val>
                                            <p:strVal val="ppt_y"/>
                                          </p:val>
                                        </p:tav>
                                        <p:tav tm="100000">
                                          <p:val>
                                            <p:strVal val="ppt_y"/>
                                          </p:val>
                                        </p:tav>
                                      </p:tavLst>
                                    </p:anim>
                                    <p:set>
                                      <p:cBhvr>
                                        <p:cTn id="30" dur="1" fill="hold">
                                          <p:stCondLst>
                                            <p:cond delay="499"/>
                                          </p:stCondLst>
                                        </p:cTn>
                                        <p:tgtEl>
                                          <p:spTgt spid="11">
                                            <p:txEl>
                                              <p:pRg st="1" end="1"/>
                                            </p:txEl>
                                          </p:spTgt>
                                        </p:tgtEl>
                                        <p:attrNameLst>
                                          <p:attrName>style.visibility</p:attrName>
                                        </p:attrNameLst>
                                      </p:cBhvr>
                                      <p:to>
                                        <p:strVal val="hidden"/>
                                      </p:to>
                                    </p:set>
                                  </p:childTnLst>
                                </p:cTn>
                              </p:par>
                              <p:par>
                                <p:cTn id="31" presetID="2" presetClass="entr" presetSubtype="2" fill="hold" nodeType="withEffect">
                                  <p:stCondLst>
                                    <p:cond delay="0"/>
                                  </p:stCondLst>
                                  <p:childTnLst>
                                    <p:set>
                                      <p:cBhvr>
                                        <p:cTn id="32" dur="1" fill="hold">
                                          <p:stCondLst>
                                            <p:cond delay="0"/>
                                          </p:stCondLst>
                                        </p:cTn>
                                        <p:tgtEl>
                                          <p:spTgt spid="11">
                                            <p:txEl>
                                              <p:pRg st="2" end="2"/>
                                            </p:txEl>
                                          </p:spTgt>
                                        </p:tgtEl>
                                        <p:attrNameLst>
                                          <p:attrName>style.visibility</p:attrName>
                                        </p:attrNameLst>
                                      </p:cBhvr>
                                      <p:to>
                                        <p:strVal val="visible"/>
                                      </p:to>
                                    </p:set>
                                    <p:anim calcmode="lin" valueType="num">
                                      <p:cBhvr additive="base">
                                        <p:cTn id="33" dur="500" fill="hold"/>
                                        <p:tgtEl>
                                          <p:spTgt spid="11">
                                            <p:txEl>
                                              <p:pRg st="2" end="2"/>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1">
                                            <p:txEl>
                                              <p:pRg st="2" end="2"/>
                                            </p:txEl>
                                          </p:spTgt>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11">
                                            <p:txEl>
                                              <p:pRg st="3" end="3"/>
                                            </p:txEl>
                                          </p:spTgt>
                                        </p:tgtEl>
                                        <p:attrNameLst>
                                          <p:attrName>style.visibility</p:attrName>
                                        </p:attrNameLst>
                                      </p:cBhvr>
                                      <p:to>
                                        <p:strVal val="visible"/>
                                      </p:to>
                                    </p:set>
                                    <p:anim calcmode="lin" valueType="num">
                                      <p:cBhvr additive="base">
                                        <p:cTn id="37" dur="500" fill="hold"/>
                                        <p:tgtEl>
                                          <p:spTgt spid="11">
                                            <p:txEl>
                                              <p:pRg st="3" end="3"/>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1">
                                            <p:txEl>
                                              <p:pRg st="3" end="3"/>
                                            </p:txEl>
                                          </p:spTgt>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anim calcmode="lin" valueType="num">
                                      <p:cBhvr additive="base">
                                        <p:cTn id="41" dur="500" fill="hold"/>
                                        <p:tgtEl>
                                          <p:spTgt spid="11">
                                            <p:txEl>
                                              <p:pRg st="4" end="4"/>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1">
                                            <p:txEl>
                                              <p:pRg st="4" end="4"/>
                                            </p:txEl>
                                          </p:spTgt>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11">
                                            <p:txEl>
                                              <p:pRg st="5" end="5"/>
                                            </p:txEl>
                                          </p:spTgt>
                                        </p:tgtEl>
                                        <p:attrNameLst>
                                          <p:attrName>style.visibility</p:attrName>
                                        </p:attrNameLst>
                                      </p:cBhvr>
                                      <p:to>
                                        <p:strVal val="visible"/>
                                      </p:to>
                                    </p:set>
                                    <p:anim calcmode="lin" valueType="num">
                                      <p:cBhvr additive="base">
                                        <p:cTn id="45" dur="500" fill="hold"/>
                                        <p:tgtEl>
                                          <p:spTgt spid="11">
                                            <p:txEl>
                                              <p:pRg st="5" end="5"/>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1">
                                            <p:txEl>
                                              <p:pRg st="5" end="5"/>
                                            </p:txEl>
                                          </p:spTgt>
                                        </p:tgtEl>
                                        <p:attrNameLst>
                                          <p:attrName>ppt_y</p:attrName>
                                        </p:attrNameLst>
                                      </p:cBhvr>
                                      <p:tavLst>
                                        <p:tav tm="0">
                                          <p:val>
                                            <p:strVal val="#ppt_y"/>
                                          </p:val>
                                        </p:tav>
                                        <p:tav tm="100000">
                                          <p:val>
                                            <p:strVal val="#ppt_y"/>
                                          </p:val>
                                        </p:tav>
                                      </p:tavLst>
                                    </p:anim>
                                  </p:childTnLst>
                                </p:cTn>
                              </p:par>
                              <p:par>
                                <p:cTn id="47" presetID="2" presetClass="entr" presetSubtype="2" fill="hold" nodeType="withEffect">
                                  <p:stCondLst>
                                    <p:cond delay="0"/>
                                  </p:stCondLst>
                                  <p:childTnLst>
                                    <p:set>
                                      <p:cBhvr>
                                        <p:cTn id="48" dur="1" fill="hold">
                                          <p:stCondLst>
                                            <p:cond delay="0"/>
                                          </p:stCondLst>
                                        </p:cTn>
                                        <p:tgtEl>
                                          <p:spTgt spid="11">
                                            <p:txEl>
                                              <p:pRg st="6" end="6"/>
                                            </p:txEl>
                                          </p:spTgt>
                                        </p:tgtEl>
                                        <p:attrNameLst>
                                          <p:attrName>style.visibility</p:attrName>
                                        </p:attrNameLst>
                                      </p:cBhvr>
                                      <p:to>
                                        <p:strVal val="visible"/>
                                      </p:to>
                                    </p:set>
                                    <p:anim calcmode="lin" valueType="num">
                                      <p:cBhvr additive="base">
                                        <p:cTn id="49" dur="500" fill="hold"/>
                                        <p:tgtEl>
                                          <p:spTgt spid="11">
                                            <p:txEl>
                                              <p:pRg st="6" end="6"/>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1">
                                            <p:txEl>
                                              <p:pRg st="6" end="6"/>
                                            </p:txEl>
                                          </p:spTgt>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0"/>
                                  </p:stCondLst>
                                  <p:childTnLst>
                                    <p:set>
                                      <p:cBhvr>
                                        <p:cTn id="52" dur="1" fill="hold">
                                          <p:stCondLst>
                                            <p:cond delay="0"/>
                                          </p:stCondLst>
                                        </p:cTn>
                                        <p:tgtEl>
                                          <p:spTgt spid="11">
                                            <p:txEl>
                                              <p:pRg st="7" end="7"/>
                                            </p:txEl>
                                          </p:spTgt>
                                        </p:tgtEl>
                                        <p:attrNameLst>
                                          <p:attrName>style.visibility</p:attrName>
                                        </p:attrNameLst>
                                      </p:cBhvr>
                                      <p:to>
                                        <p:strVal val="visible"/>
                                      </p:to>
                                    </p:set>
                                    <p:anim calcmode="lin" valueType="num">
                                      <p:cBhvr additive="base">
                                        <p:cTn id="53" dur="500" fill="hold"/>
                                        <p:tgtEl>
                                          <p:spTgt spid="11">
                                            <p:txEl>
                                              <p:pRg st="7" end="7"/>
                                            </p:tx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11">
                                            <p:txEl>
                                              <p:pRg st="7" end="7"/>
                                            </p:txEl>
                                          </p:spTgt>
                                        </p:tgtEl>
                                        <p:attrNameLst>
                                          <p:attrName>ppt_y</p:attrName>
                                        </p:attrNameLst>
                                      </p:cBhvr>
                                      <p:tavLst>
                                        <p:tav tm="0">
                                          <p:val>
                                            <p:strVal val="#ppt_y"/>
                                          </p:val>
                                        </p:tav>
                                        <p:tav tm="100000">
                                          <p:val>
                                            <p:strVal val="#ppt_y"/>
                                          </p:val>
                                        </p:tav>
                                      </p:tavLst>
                                    </p:anim>
                                  </p:childTnLst>
                                </p:cTn>
                              </p:par>
                              <p:par>
                                <p:cTn id="55" presetID="2" presetClass="entr" presetSubtype="2" fill="hold" nodeType="withEffect">
                                  <p:stCondLst>
                                    <p:cond delay="0"/>
                                  </p:stCondLst>
                                  <p:childTnLst>
                                    <p:set>
                                      <p:cBhvr>
                                        <p:cTn id="56" dur="1" fill="hold">
                                          <p:stCondLst>
                                            <p:cond delay="0"/>
                                          </p:stCondLst>
                                        </p:cTn>
                                        <p:tgtEl>
                                          <p:spTgt spid="11">
                                            <p:txEl>
                                              <p:pRg st="8" end="8"/>
                                            </p:txEl>
                                          </p:spTgt>
                                        </p:tgtEl>
                                        <p:attrNameLst>
                                          <p:attrName>style.visibility</p:attrName>
                                        </p:attrNameLst>
                                      </p:cBhvr>
                                      <p:to>
                                        <p:strVal val="visible"/>
                                      </p:to>
                                    </p:set>
                                    <p:anim calcmode="lin" valueType="num">
                                      <p:cBhvr additive="base">
                                        <p:cTn id="57" dur="500" fill="hold"/>
                                        <p:tgtEl>
                                          <p:spTgt spid="11">
                                            <p:txEl>
                                              <p:pRg st="8" end="8"/>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11">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nodeType="clickEffect">
                                  <p:stCondLst>
                                    <p:cond delay="0"/>
                                  </p:stCondLst>
                                  <p:childTnLst>
                                    <p:set>
                                      <p:cBhvr>
                                        <p:cTn id="62" dur="1" fill="hold">
                                          <p:stCondLst>
                                            <p:cond delay="0"/>
                                          </p:stCondLst>
                                        </p:cTn>
                                        <p:tgtEl>
                                          <p:spTgt spid="11">
                                            <p:txEl>
                                              <p:pRg st="9" end="9"/>
                                            </p:txEl>
                                          </p:spTgt>
                                        </p:tgtEl>
                                        <p:attrNameLst>
                                          <p:attrName>style.visibility</p:attrName>
                                        </p:attrNameLst>
                                      </p:cBhvr>
                                      <p:to>
                                        <p:strVal val="visible"/>
                                      </p:to>
                                    </p:set>
                                    <p:anim calcmode="lin" valueType="num">
                                      <p:cBhvr additive="base">
                                        <p:cTn id="63" dur="500" fill="hold"/>
                                        <p:tgtEl>
                                          <p:spTgt spid="11">
                                            <p:txEl>
                                              <p:pRg st="9" end="9"/>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11">
                                            <p:txEl>
                                              <p:pRg st="9" end="9"/>
                                            </p:txEl>
                                          </p:spTgt>
                                        </p:tgtEl>
                                        <p:attrNameLst>
                                          <p:attrName>ppt_y</p:attrName>
                                        </p:attrNameLst>
                                      </p:cBhvr>
                                      <p:tavLst>
                                        <p:tav tm="0">
                                          <p:val>
                                            <p:strVal val="#ppt_y"/>
                                          </p:val>
                                        </p:tav>
                                        <p:tav tm="100000">
                                          <p:val>
                                            <p:strVal val="#ppt_y"/>
                                          </p:val>
                                        </p:tav>
                                      </p:tavLst>
                                    </p:anim>
                                  </p:childTnLst>
                                </p:cTn>
                              </p:par>
                              <p:par>
                                <p:cTn id="65" presetID="2" presetClass="entr" presetSubtype="2" fill="hold" nodeType="withEffect">
                                  <p:stCondLst>
                                    <p:cond delay="0"/>
                                  </p:stCondLst>
                                  <p:childTnLst>
                                    <p:set>
                                      <p:cBhvr>
                                        <p:cTn id="66" dur="1" fill="hold">
                                          <p:stCondLst>
                                            <p:cond delay="0"/>
                                          </p:stCondLst>
                                        </p:cTn>
                                        <p:tgtEl>
                                          <p:spTgt spid="11">
                                            <p:txEl>
                                              <p:pRg st="10" end="10"/>
                                            </p:txEl>
                                          </p:spTgt>
                                        </p:tgtEl>
                                        <p:attrNameLst>
                                          <p:attrName>style.visibility</p:attrName>
                                        </p:attrNameLst>
                                      </p:cBhvr>
                                      <p:to>
                                        <p:strVal val="visible"/>
                                      </p:to>
                                    </p:set>
                                    <p:anim calcmode="lin" valueType="num">
                                      <p:cBhvr additive="base">
                                        <p:cTn id="67" dur="500" fill="hold"/>
                                        <p:tgtEl>
                                          <p:spTgt spid="11">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1">
                                            <p:txEl>
                                              <p:pRg st="10" end="10"/>
                                            </p:txEl>
                                          </p:spTgt>
                                        </p:tgtEl>
                                        <p:attrNameLst>
                                          <p:attrName>ppt_y</p:attrName>
                                        </p:attrNameLst>
                                      </p:cBhvr>
                                      <p:tavLst>
                                        <p:tav tm="0">
                                          <p:val>
                                            <p:strVal val="#ppt_y"/>
                                          </p:val>
                                        </p:tav>
                                        <p:tav tm="100000">
                                          <p:val>
                                            <p:strVal val="#ppt_y"/>
                                          </p:val>
                                        </p:tav>
                                      </p:tavLst>
                                    </p:anim>
                                  </p:childTnLst>
                                </p:cTn>
                              </p:par>
                              <p:par>
                                <p:cTn id="69" presetID="2" presetClass="entr" presetSubtype="2" fill="hold" nodeType="withEffect">
                                  <p:stCondLst>
                                    <p:cond delay="0"/>
                                  </p:stCondLst>
                                  <p:childTnLst>
                                    <p:set>
                                      <p:cBhvr>
                                        <p:cTn id="70" dur="1" fill="hold">
                                          <p:stCondLst>
                                            <p:cond delay="0"/>
                                          </p:stCondLst>
                                        </p:cTn>
                                        <p:tgtEl>
                                          <p:spTgt spid="11">
                                            <p:txEl>
                                              <p:pRg st="11" end="11"/>
                                            </p:txEl>
                                          </p:spTgt>
                                        </p:tgtEl>
                                        <p:attrNameLst>
                                          <p:attrName>style.visibility</p:attrName>
                                        </p:attrNameLst>
                                      </p:cBhvr>
                                      <p:to>
                                        <p:strVal val="visible"/>
                                      </p:to>
                                    </p:set>
                                    <p:anim calcmode="lin" valueType="num">
                                      <p:cBhvr additive="base">
                                        <p:cTn id="71" dur="500" fill="hold"/>
                                        <p:tgtEl>
                                          <p:spTgt spid="11">
                                            <p:txEl>
                                              <p:pRg st="11" end="11"/>
                                            </p:tx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11">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xit" presetSubtype="2" fill="hold" nodeType="clickEffect">
                                  <p:stCondLst>
                                    <p:cond delay="0"/>
                                  </p:stCondLst>
                                  <p:childTnLst>
                                    <p:anim calcmode="lin" valueType="num">
                                      <p:cBhvr additive="base">
                                        <p:cTn id="76" dur="500"/>
                                        <p:tgtEl>
                                          <p:spTgt spid="11">
                                            <p:txEl>
                                              <p:pRg st="2" end="2"/>
                                            </p:txEl>
                                          </p:spTgt>
                                        </p:tgtEl>
                                        <p:attrNameLst>
                                          <p:attrName>ppt_x</p:attrName>
                                        </p:attrNameLst>
                                      </p:cBhvr>
                                      <p:tavLst>
                                        <p:tav tm="0">
                                          <p:val>
                                            <p:strVal val="ppt_x"/>
                                          </p:val>
                                        </p:tav>
                                        <p:tav tm="100000">
                                          <p:val>
                                            <p:strVal val="1+ppt_w/2"/>
                                          </p:val>
                                        </p:tav>
                                      </p:tavLst>
                                    </p:anim>
                                    <p:anim calcmode="lin" valueType="num">
                                      <p:cBhvr additive="base">
                                        <p:cTn id="77" dur="500"/>
                                        <p:tgtEl>
                                          <p:spTgt spid="11">
                                            <p:txEl>
                                              <p:pRg st="2" end="2"/>
                                            </p:txEl>
                                          </p:spTgt>
                                        </p:tgtEl>
                                        <p:attrNameLst>
                                          <p:attrName>ppt_y</p:attrName>
                                        </p:attrNameLst>
                                      </p:cBhvr>
                                      <p:tavLst>
                                        <p:tav tm="0">
                                          <p:val>
                                            <p:strVal val="ppt_y"/>
                                          </p:val>
                                        </p:tav>
                                        <p:tav tm="100000">
                                          <p:val>
                                            <p:strVal val="ppt_y"/>
                                          </p:val>
                                        </p:tav>
                                      </p:tavLst>
                                    </p:anim>
                                    <p:set>
                                      <p:cBhvr>
                                        <p:cTn id="78" dur="1" fill="hold">
                                          <p:stCondLst>
                                            <p:cond delay="499"/>
                                          </p:stCondLst>
                                        </p:cTn>
                                        <p:tgtEl>
                                          <p:spTgt spid="11">
                                            <p:txEl>
                                              <p:pRg st="2" end="2"/>
                                            </p:txEl>
                                          </p:spTgt>
                                        </p:tgtEl>
                                        <p:attrNameLst>
                                          <p:attrName>style.visibility</p:attrName>
                                        </p:attrNameLst>
                                      </p:cBhvr>
                                      <p:to>
                                        <p:strVal val="hidden"/>
                                      </p:to>
                                    </p:set>
                                  </p:childTnLst>
                                </p:cTn>
                              </p:par>
                              <p:par>
                                <p:cTn id="79" presetID="2" presetClass="exit" presetSubtype="2" fill="hold" nodeType="withEffect">
                                  <p:stCondLst>
                                    <p:cond delay="0"/>
                                  </p:stCondLst>
                                  <p:childTnLst>
                                    <p:anim calcmode="lin" valueType="num">
                                      <p:cBhvr additive="base">
                                        <p:cTn id="80" dur="500"/>
                                        <p:tgtEl>
                                          <p:spTgt spid="11">
                                            <p:txEl>
                                              <p:pRg st="3" end="3"/>
                                            </p:txEl>
                                          </p:spTgt>
                                        </p:tgtEl>
                                        <p:attrNameLst>
                                          <p:attrName>ppt_x</p:attrName>
                                        </p:attrNameLst>
                                      </p:cBhvr>
                                      <p:tavLst>
                                        <p:tav tm="0">
                                          <p:val>
                                            <p:strVal val="ppt_x"/>
                                          </p:val>
                                        </p:tav>
                                        <p:tav tm="100000">
                                          <p:val>
                                            <p:strVal val="1+ppt_w/2"/>
                                          </p:val>
                                        </p:tav>
                                      </p:tavLst>
                                    </p:anim>
                                    <p:anim calcmode="lin" valueType="num">
                                      <p:cBhvr additive="base">
                                        <p:cTn id="81" dur="500"/>
                                        <p:tgtEl>
                                          <p:spTgt spid="11">
                                            <p:txEl>
                                              <p:pRg st="3" end="3"/>
                                            </p:txEl>
                                          </p:spTgt>
                                        </p:tgtEl>
                                        <p:attrNameLst>
                                          <p:attrName>ppt_y</p:attrName>
                                        </p:attrNameLst>
                                      </p:cBhvr>
                                      <p:tavLst>
                                        <p:tav tm="0">
                                          <p:val>
                                            <p:strVal val="ppt_y"/>
                                          </p:val>
                                        </p:tav>
                                        <p:tav tm="100000">
                                          <p:val>
                                            <p:strVal val="ppt_y"/>
                                          </p:val>
                                        </p:tav>
                                      </p:tavLst>
                                    </p:anim>
                                    <p:set>
                                      <p:cBhvr>
                                        <p:cTn id="82" dur="1" fill="hold">
                                          <p:stCondLst>
                                            <p:cond delay="499"/>
                                          </p:stCondLst>
                                        </p:cTn>
                                        <p:tgtEl>
                                          <p:spTgt spid="11">
                                            <p:txEl>
                                              <p:pRg st="3" end="3"/>
                                            </p:txEl>
                                          </p:spTgt>
                                        </p:tgtEl>
                                        <p:attrNameLst>
                                          <p:attrName>style.visibility</p:attrName>
                                        </p:attrNameLst>
                                      </p:cBhvr>
                                      <p:to>
                                        <p:strVal val="hidden"/>
                                      </p:to>
                                    </p:set>
                                  </p:childTnLst>
                                </p:cTn>
                              </p:par>
                              <p:par>
                                <p:cTn id="83" presetID="2" presetClass="exit" presetSubtype="2" fill="hold" nodeType="withEffect">
                                  <p:stCondLst>
                                    <p:cond delay="0"/>
                                  </p:stCondLst>
                                  <p:childTnLst>
                                    <p:anim calcmode="lin" valueType="num">
                                      <p:cBhvr additive="base">
                                        <p:cTn id="84" dur="500"/>
                                        <p:tgtEl>
                                          <p:spTgt spid="11">
                                            <p:txEl>
                                              <p:pRg st="4" end="4"/>
                                            </p:txEl>
                                          </p:spTgt>
                                        </p:tgtEl>
                                        <p:attrNameLst>
                                          <p:attrName>ppt_x</p:attrName>
                                        </p:attrNameLst>
                                      </p:cBhvr>
                                      <p:tavLst>
                                        <p:tav tm="0">
                                          <p:val>
                                            <p:strVal val="ppt_x"/>
                                          </p:val>
                                        </p:tav>
                                        <p:tav tm="100000">
                                          <p:val>
                                            <p:strVal val="1+ppt_w/2"/>
                                          </p:val>
                                        </p:tav>
                                      </p:tavLst>
                                    </p:anim>
                                    <p:anim calcmode="lin" valueType="num">
                                      <p:cBhvr additive="base">
                                        <p:cTn id="85" dur="500"/>
                                        <p:tgtEl>
                                          <p:spTgt spid="11">
                                            <p:txEl>
                                              <p:pRg st="4" end="4"/>
                                            </p:txEl>
                                          </p:spTgt>
                                        </p:tgtEl>
                                        <p:attrNameLst>
                                          <p:attrName>ppt_y</p:attrName>
                                        </p:attrNameLst>
                                      </p:cBhvr>
                                      <p:tavLst>
                                        <p:tav tm="0">
                                          <p:val>
                                            <p:strVal val="ppt_y"/>
                                          </p:val>
                                        </p:tav>
                                        <p:tav tm="100000">
                                          <p:val>
                                            <p:strVal val="ppt_y"/>
                                          </p:val>
                                        </p:tav>
                                      </p:tavLst>
                                    </p:anim>
                                    <p:set>
                                      <p:cBhvr>
                                        <p:cTn id="86" dur="1" fill="hold">
                                          <p:stCondLst>
                                            <p:cond delay="499"/>
                                          </p:stCondLst>
                                        </p:cTn>
                                        <p:tgtEl>
                                          <p:spTgt spid="11">
                                            <p:txEl>
                                              <p:pRg st="4" end="4"/>
                                            </p:txEl>
                                          </p:spTgt>
                                        </p:tgtEl>
                                        <p:attrNameLst>
                                          <p:attrName>style.visibility</p:attrName>
                                        </p:attrNameLst>
                                      </p:cBhvr>
                                      <p:to>
                                        <p:strVal val="hidden"/>
                                      </p:to>
                                    </p:set>
                                  </p:childTnLst>
                                </p:cTn>
                              </p:par>
                              <p:par>
                                <p:cTn id="87" presetID="2" presetClass="exit" presetSubtype="2" fill="hold" nodeType="withEffect">
                                  <p:stCondLst>
                                    <p:cond delay="0"/>
                                  </p:stCondLst>
                                  <p:childTnLst>
                                    <p:anim calcmode="lin" valueType="num">
                                      <p:cBhvr additive="base">
                                        <p:cTn id="88" dur="500"/>
                                        <p:tgtEl>
                                          <p:spTgt spid="11">
                                            <p:txEl>
                                              <p:pRg st="5" end="5"/>
                                            </p:txEl>
                                          </p:spTgt>
                                        </p:tgtEl>
                                        <p:attrNameLst>
                                          <p:attrName>ppt_x</p:attrName>
                                        </p:attrNameLst>
                                      </p:cBhvr>
                                      <p:tavLst>
                                        <p:tav tm="0">
                                          <p:val>
                                            <p:strVal val="ppt_x"/>
                                          </p:val>
                                        </p:tav>
                                        <p:tav tm="100000">
                                          <p:val>
                                            <p:strVal val="1+ppt_w/2"/>
                                          </p:val>
                                        </p:tav>
                                      </p:tavLst>
                                    </p:anim>
                                    <p:anim calcmode="lin" valueType="num">
                                      <p:cBhvr additive="base">
                                        <p:cTn id="89" dur="500"/>
                                        <p:tgtEl>
                                          <p:spTgt spid="11">
                                            <p:txEl>
                                              <p:pRg st="5" end="5"/>
                                            </p:txEl>
                                          </p:spTgt>
                                        </p:tgtEl>
                                        <p:attrNameLst>
                                          <p:attrName>ppt_y</p:attrName>
                                        </p:attrNameLst>
                                      </p:cBhvr>
                                      <p:tavLst>
                                        <p:tav tm="0">
                                          <p:val>
                                            <p:strVal val="ppt_y"/>
                                          </p:val>
                                        </p:tav>
                                        <p:tav tm="100000">
                                          <p:val>
                                            <p:strVal val="ppt_y"/>
                                          </p:val>
                                        </p:tav>
                                      </p:tavLst>
                                    </p:anim>
                                    <p:set>
                                      <p:cBhvr>
                                        <p:cTn id="90" dur="1" fill="hold">
                                          <p:stCondLst>
                                            <p:cond delay="499"/>
                                          </p:stCondLst>
                                        </p:cTn>
                                        <p:tgtEl>
                                          <p:spTgt spid="11">
                                            <p:txEl>
                                              <p:pRg st="5" end="5"/>
                                            </p:txEl>
                                          </p:spTgt>
                                        </p:tgtEl>
                                        <p:attrNameLst>
                                          <p:attrName>style.visibility</p:attrName>
                                        </p:attrNameLst>
                                      </p:cBhvr>
                                      <p:to>
                                        <p:strVal val="hidden"/>
                                      </p:to>
                                    </p:set>
                                  </p:childTnLst>
                                </p:cTn>
                              </p:par>
                              <p:par>
                                <p:cTn id="91" presetID="2" presetClass="exit" presetSubtype="2" fill="hold" nodeType="withEffect">
                                  <p:stCondLst>
                                    <p:cond delay="0"/>
                                  </p:stCondLst>
                                  <p:childTnLst>
                                    <p:anim calcmode="lin" valueType="num">
                                      <p:cBhvr additive="base">
                                        <p:cTn id="92" dur="500"/>
                                        <p:tgtEl>
                                          <p:spTgt spid="11">
                                            <p:txEl>
                                              <p:pRg st="6" end="6"/>
                                            </p:txEl>
                                          </p:spTgt>
                                        </p:tgtEl>
                                        <p:attrNameLst>
                                          <p:attrName>ppt_x</p:attrName>
                                        </p:attrNameLst>
                                      </p:cBhvr>
                                      <p:tavLst>
                                        <p:tav tm="0">
                                          <p:val>
                                            <p:strVal val="ppt_x"/>
                                          </p:val>
                                        </p:tav>
                                        <p:tav tm="100000">
                                          <p:val>
                                            <p:strVal val="1+ppt_w/2"/>
                                          </p:val>
                                        </p:tav>
                                      </p:tavLst>
                                    </p:anim>
                                    <p:anim calcmode="lin" valueType="num">
                                      <p:cBhvr additive="base">
                                        <p:cTn id="93" dur="500"/>
                                        <p:tgtEl>
                                          <p:spTgt spid="11">
                                            <p:txEl>
                                              <p:pRg st="6" end="6"/>
                                            </p:txEl>
                                          </p:spTgt>
                                        </p:tgtEl>
                                        <p:attrNameLst>
                                          <p:attrName>ppt_y</p:attrName>
                                        </p:attrNameLst>
                                      </p:cBhvr>
                                      <p:tavLst>
                                        <p:tav tm="0">
                                          <p:val>
                                            <p:strVal val="ppt_y"/>
                                          </p:val>
                                        </p:tav>
                                        <p:tav tm="100000">
                                          <p:val>
                                            <p:strVal val="ppt_y"/>
                                          </p:val>
                                        </p:tav>
                                      </p:tavLst>
                                    </p:anim>
                                    <p:set>
                                      <p:cBhvr>
                                        <p:cTn id="94" dur="1" fill="hold">
                                          <p:stCondLst>
                                            <p:cond delay="499"/>
                                          </p:stCondLst>
                                        </p:cTn>
                                        <p:tgtEl>
                                          <p:spTgt spid="11">
                                            <p:txEl>
                                              <p:pRg st="6" end="6"/>
                                            </p:txEl>
                                          </p:spTgt>
                                        </p:tgtEl>
                                        <p:attrNameLst>
                                          <p:attrName>style.visibility</p:attrName>
                                        </p:attrNameLst>
                                      </p:cBhvr>
                                      <p:to>
                                        <p:strVal val="hidden"/>
                                      </p:to>
                                    </p:set>
                                  </p:childTnLst>
                                </p:cTn>
                              </p:par>
                              <p:par>
                                <p:cTn id="95" presetID="2" presetClass="exit" presetSubtype="2" fill="hold" nodeType="withEffect">
                                  <p:stCondLst>
                                    <p:cond delay="0"/>
                                  </p:stCondLst>
                                  <p:childTnLst>
                                    <p:anim calcmode="lin" valueType="num">
                                      <p:cBhvr additive="base">
                                        <p:cTn id="96" dur="500"/>
                                        <p:tgtEl>
                                          <p:spTgt spid="11">
                                            <p:txEl>
                                              <p:pRg st="7" end="7"/>
                                            </p:txEl>
                                          </p:spTgt>
                                        </p:tgtEl>
                                        <p:attrNameLst>
                                          <p:attrName>ppt_x</p:attrName>
                                        </p:attrNameLst>
                                      </p:cBhvr>
                                      <p:tavLst>
                                        <p:tav tm="0">
                                          <p:val>
                                            <p:strVal val="ppt_x"/>
                                          </p:val>
                                        </p:tav>
                                        <p:tav tm="100000">
                                          <p:val>
                                            <p:strVal val="1+ppt_w/2"/>
                                          </p:val>
                                        </p:tav>
                                      </p:tavLst>
                                    </p:anim>
                                    <p:anim calcmode="lin" valueType="num">
                                      <p:cBhvr additive="base">
                                        <p:cTn id="97" dur="500"/>
                                        <p:tgtEl>
                                          <p:spTgt spid="11">
                                            <p:txEl>
                                              <p:pRg st="7" end="7"/>
                                            </p:txEl>
                                          </p:spTgt>
                                        </p:tgtEl>
                                        <p:attrNameLst>
                                          <p:attrName>ppt_y</p:attrName>
                                        </p:attrNameLst>
                                      </p:cBhvr>
                                      <p:tavLst>
                                        <p:tav tm="0">
                                          <p:val>
                                            <p:strVal val="ppt_y"/>
                                          </p:val>
                                        </p:tav>
                                        <p:tav tm="100000">
                                          <p:val>
                                            <p:strVal val="ppt_y"/>
                                          </p:val>
                                        </p:tav>
                                      </p:tavLst>
                                    </p:anim>
                                    <p:set>
                                      <p:cBhvr>
                                        <p:cTn id="98" dur="1" fill="hold">
                                          <p:stCondLst>
                                            <p:cond delay="499"/>
                                          </p:stCondLst>
                                        </p:cTn>
                                        <p:tgtEl>
                                          <p:spTgt spid="11">
                                            <p:txEl>
                                              <p:pRg st="7" end="7"/>
                                            </p:txEl>
                                          </p:spTgt>
                                        </p:tgtEl>
                                        <p:attrNameLst>
                                          <p:attrName>style.visibility</p:attrName>
                                        </p:attrNameLst>
                                      </p:cBhvr>
                                      <p:to>
                                        <p:strVal val="hidden"/>
                                      </p:to>
                                    </p:set>
                                  </p:childTnLst>
                                </p:cTn>
                              </p:par>
                              <p:par>
                                <p:cTn id="99" presetID="2" presetClass="exit" presetSubtype="2" fill="hold" nodeType="withEffect">
                                  <p:stCondLst>
                                    <p:cond delay="0"/>
                                  </p:stCondLst>
                                  <p:childTnLst>
                                    <p:anim calcmode="lin" valueType="num">
                                      <p:cBhvr additive="base">
                                        <p:cTn id="100" dur="500"/>
                                        <p:tgtEl>
                                          <p:spTgt spid="11">
                                            <p:txEl>
                                              <p:pRg st="8" end="8"/>
                                            </p:txEl>
                                          </p:spTgt>
                                        </p:tgtEl>
                                        <p:attrNameLst>
                                          <p:attrName>ppt_x</p:attrName>
                                        </p:attrNameLst>
                                      </p:cBhvr>
                                      <p:tavLst>
                                        <p:tav tm="0">
                                          <p:val>
                                            <p:strVal val="ppt_x"/>
                                          </p:val>
                                        </p:tav>
                                        <p:tav tm="100000">
                                          <p:val>
                                            <p:strVal val="1+ppt_w/2"/>
                                          </p:val>
                                        </p:tav>
                                      </p:tavLst>
                                    </p:anim>
                                    <p:anim calcmode="lin" valueType="num">
                                      <p:cBhvr additive="base">
                                        <p:cTn id="101" dur="500"/>
                                        <p:tgtEl>
                                          <p:spTgt spid="11">
                                            <p:txEl>
                                              <p:pRg st="8" end="8"/>
                                            </p:txEl>
                                          </p:spTgt>
                                        </p:tgtEl>
                                        <p:attrNameLst>
                                          <p:attrName>ppt_y</p:attrName>
                                        </p:attrNameLst>
                                      </p:cBhvr>
                                      <p:tavLst>
                                        <p:tav tm="0">
                                          <p:val>
                                            <p:strVal val="ppt_y"/>
                                          </p:val>
                                        </p:tav>
                                        <p:tav tm="100000">
                                          <p:val>
                                            <p:strVal val="ppt_y"/>
                                          </p:val>
                                        </p:tav>
                                      </p:tavLst>
                                    </p:anim>
                                    <p:set>
                                      <p:cBhvr>
                                        <p:cTn id="102" dur="1" fill="hold">
                                          <p:stCondLst>
                                            <p:cond delay="499"/>
                                          </p:stCondLst>
                                        </p:cTn>
                                        <p:tgtEl>
                                          <p:spTgt spid="11">
                                            <p:txEl>
                                              <p:pRg st="8" end="8"/>
                                            </p:txEl>
                                          </p:spTgt>
                                        </p:tgtEl>
                                        <p:attrNameLst>
                                          <p:attrName>style.visibility</p:attrName>
                                        </p:attrNameLst>
                                      </p:cBhvr>
                                      <p:to>
                                        <p:strVal val="hidden"/>
                                      </p:to>
                                    </p:set>
                                  </p:childTnLst>
                                </p:cTn>
                              </p:par>
                              <p:par>
                                <p:cTn id="103" presetID="2" presetClass="exit" presetSubtype="2" fill="hold" nodeType="withEffect">
                                  <p:stCondLst>
                                    <p:cond delay="0"/>
                                  </p:stCondLst>
                                  <p:childTnLst>
                                    <p:anim calcmode="lin" valueType="num">
                                      <p:cBhvr additive="base">
                                        <p:cTn id="104" dur="500"/>
                                        <p:tgtEl>
                                          <p:spTgt spid="11">
                                            <p:txEl>
                                              <p:pRg st="9" end="9"/>
                                            </p:txEl>
                                          </p:spTgt>
                                        </p:tgtEl>
                                        <p:attrNameLst>
                                          <p:attrName>ppt_x</p:attrName>
                                        </p:attrNameLst>
                                      </p:cBhvr>
                                      <p:tavLst>
                                        <p:tav tm="0">
                                          <p:val>
                                            <p:strVal val="ppt_x"/>
                                          </p:val>
                                        </p:tav>
                                        <p:tav tm="100000">
                                          <p:val>
                                            <p:strVal val="1+ppt_w/2"/>
                                          </p:val>
                                        </p:tav>
                                      </p:tavLst>
                                    </p:anim>
                                    <p:anim calcmode="lin" valueType="num">
                                      <p:cBhvr additive="base">
                                        <p:cTn id="105" dur="500"/>
                                        <p:tgtEl>
                                          <p:spTgt spid="11">
                                            <p:txEl>
                                              <p:pRg st="9" end="9"/>
                                            </p:txEl>
                                          </p:spTgt>
                                        </p:tgtEl>
                                        <p:attrNameLst>
                                          <p:attrName>ppt_y</p:attrName>
                                        </p:attrNameLst>
                                      </p:cBhvr>
                                      <p:tavLst>
                                        <p:tav tm="0">
                                          <p:val>
                                            <p:strVal val="ppt_y"/>
                                          </p:val>
                                        </p:tav>
                                        <p:tav tm="100000">
                                          <p:val>
                                            <p:strVal val="ppt_y"/>
                                          </p:val>
                                        </p:tav>
                                      </p:tavLst>
                                    </p:anim>
                                    <p:set>
                                      <p:cBhvr>
                                        <p:cTn id="106" dur="1" fill="hold">
                                          <p:stCondLst>
                                            <p:cond delay="499"/>
                                          </p:stCondLst>
                                        </p:cTn>
                                        <p:tgtEl>
                                          <p:spTgt spid="11">
                                            <p:txEl>
                                              <p:pRg st="9" end="9"/>
                                            </p:txEl>
                                          </p:spTgt>
                                        </p:tgtEl>
                                        <p:attrNameLst>
                                          <p:attrName>style.visibility</p:attrName>
                                        </p:attrNameLst>
                                      </p:cBhvr>
                                      <p:to>
                                        <p:strVal val="hidden"/>
                                      </p:to>
                                    </p:set>
                                  </p:childTnLst>
                                </p:cTn>
                              </p:par>
                              <p:par>
                                <p:cTn id="107" presetID="2" presetClass="exit" presetSubtype="2" fill="hold" nodeType="withEffect">
                                  <p:stCondLst>
                                    <p:cond delay="0"/>
                                  </p:stCondLst>
                                  <p:childTnLst>
                                    <p:anim calcmode="lin" valueType="num">
                                      <p:cBhvr additive="base">
                                        <p:cTn id="108" dur="500"/>
                                        <p:tgtEl>
                                          <p:spTgt spid="11">
                                            <p:txEl>
                                              <p:pRg st="10" end="10"/>
                                            </p:txEl>
                                          </p:spTgt>
                                        </p:tgtEl>
                                        <p:attrNameLst>
                                          <p:attrName>ppt_x</p:attrName>
                                        </p:attrNameLst>
                                      </p:cBhvr>
                                      <p:tavLst>
                                        <p:tav tm="0">
                                          <p:val>
                                            <p:strVal val="ppt_x"/>
                                          </p:val>
                                        </p:tav>
                                        <p:tav tm="100000">
                                          <p:val>
                                            <p:strVal val="1+ppt_w/2"/>
                                          </p:val>
                                        </p:tav>
                                      </p:tavLst>
                                    </p:anim>
                                    <p:anim calcmode="lin" valueType="num">
                                      <p:cBhvr additive="base">
                                        <p:cTn id="109" dur="500"/>
                                        <p:tgtEl>
                                          <p:spTgt spid="11">
                                            <p:txEl>
                                              <p:pRg st="10" end="10"/>
                                            </p:txEl>
                                          </p:spTgt>
                                        </p:tgtEl>
                                        <p:attrNameLst>
                                          <p:attrName>ppt_y</p:attrName>
                                        </p:attrNameLst>
                                      </p:cBhvr>
                                      <p:tavLst>
                                        <p:tav tm="0">
                                          <p:val>
                                            <p:strVal val="ppt_y"/>
                                          </p:val>
                                        </p:tav>
                                        <p:tav tm="100000">
                                          <p:val>
                                            <p:strVal val="ppt_y"/>
                                          </p:val>
                                        </p:tav>
                                      </p:tavLst>
                                    </p:anim>
                                    <p:set>
                                      <p:cBhvr>
                                        <p:cTn id="110" dur="1" fill="hold">
                                          <p:stCondLst>
                                            <p:cond delay="499"/>
                                          </p:stCondLst>
                                        </p:cTn>
                                        <p:tgtEl>
                                          <p:spTgt spid="11">
                                            <p:txEl>
                                              <p:pRg st="10" end="10"/>
                                            </p:txEl>
                                          </p:spTgt>
                                        </p:tgtEl>
                                        <p:attrNameLst>
                                          <p:attrName>style.visibility</p:attrName>
                                        </p:attrNameLst>
                                      </p:cBhvr>
                                      <p:to>
                                        <p:strVal val="hidden"/>
                                      </p:to>
                                    </p:set>
                                  </p:childTnLst>
                                </p:cTn>
                              </p:par>
                              <p:par>
                                <p:cTn id="111" presetID="2" presetClass="exit" presetSubtype="2" fill="hold" nodeType="withEffect">
                                  <p:stCondLst>
                                    <p:cond delay="0"/>
                                  </p:stCondLst>
                                  <p:childTnLst>
                                    <p:anim calcmode="lin" valueType="num">
                                      <p:cBhvr additive="base">
                                        <p:cTn id="112" dur="500"/>
                                        <p:tgtEl>
                                          <p:spTgt spid="11">
                                            <p:txEl>
                                              <p:pRg st="11" end="11"/>
                                            </p:txEl>
                                          </p:spTgt>
                                        </p:tgtEl>
                                        <p:attrNameLst>
                                          <p:attrName>ppt_x</p:attrName>
                                        </p:attrNameLst>
                                      </p:cBhvr>
                                      <p:tavLst>
                                        <p:tav tm="0">
                                          <p:val>
                                            <p:strVal val="ppt_x"/>
                                          </p:val>
                                        </p:tav>
                                        <p:tav tm="100000">
                                          <p:val>
                                            <p:strVal val="1+ppt_w/2"/>
                                          </p:val>
                                        </p:tav>
                                      </p:tavLst>
                                    </p:anim>
                                    <p:anim calcmode="lin" valueType="num">
                                      <p:cBhvr additive="base">
                                        <p:cTn id="113" dur="500"/>
                                        <p:tgtEl>
                                          <p:spTgt spid="11">
                                            <p:txEl>
                                              <p:pRg st="11" end="11"/>
                                            </p:txEl>
                                          </p:spTgt>
                                        </p:tgtEl>
                                        <p:attrNameLst>
                                          <p:attrName>ppt_y</p:attrName>
                                        </p:attrNameLst>
                                      </p:cBhvr>
                                      <p:tavLst>
                                        <p:tav tm="0">
                                          <p:val>
                                            <p:strVal val="ppt_y"/>
                                          </p:val>
                                        </p:tav>
                                        <p:tav tm="100000">
                                          <p:val>
                                            <p:strVal val="ppt_y"/>
                                          </p:val>
                                        </p:tav>
                                      </p:tavLst>
                                    </p:anim>
                                    <p:set>
                                      <p:cBhvr>
                                        <p:cTn id="114" dur="1" fill="hold">
                                          <p:stCondLst>
                                            <p:cond delay="499"/>
                                          </p:stCondLst>
                                        </p:cTn>
                                        <p:tgtEl>
                                          <p:spTgt spid="11">
                                            <p:txEl>
                                              <p:pRg st="11" end="11"/>
                                            </p:txEl>
                                          </p:spTgt>
                                        </p:tgtEl>
                                        <p:attrNameLst>
                                          <p:attrName>style.visibility</p:attrName>
                                        </p:attrNameLst>
                                      </p:cBhvr>
                                      <p:to>
                                        <p:strVal val="hidden"/>
                                      </p:to>
                                    </p:set>
                                  </p:childTnLst>
                                </p:cTn>
                              </p:par>
                              <p:par>
                                <p:cTn id="115" presetID="9" presetClass="exit" presetSubtype="0" fill="hold" nodeType="withEffect">
                                  <p:stCondLst>
                                    <p:cond delay="0"/>
                                  </p:stCondLst>
                                  <p:childTnLst>
                                    <p:animEffect transition="out" filter="dissolve">
                                      <p:cBhvr>
                                        <p:cTn id="116" dur="500"/>
                                        <p:tgtEl>
                                          <p:spTgt spid="8"/>
                                        </p:tgtEl>
                                      </p:cBhvr>
                                    </p:animEffect>
                                    <p:set>
                                      <p:cBhvr>
                                        <p:cTn id="117" dur="1" fill="hold">
                                          <p:stCondLst>
                                            <p:cond delay="499"/>
                                          </p:stCondLst>
                                        </p:cTn>
                                        <p:tgtEl>
                                          <p:spTgt spid="8"/>
                                        </p:tgtEl>
                                        <p:attrNameLst>
                                          <p:attrName>style.visibility</p:attrName>
                                        </p:attrNameLst>
                                      </p:cBhvr>
                                      <p:to>
                                        <p:strVal val="hidden"/>
                                      </p:to>
                                    </p:set>
                                  </p:childTnLst>
                                </p:cTn>
                              </p:par>
                              <p:par>
                                <p:cTn id="118" presetID="9" presetClass="entr" presetSubtype="0" fill="hold" nodeType="withEffect">
                                  <p:stCondLst>
                                    <p:cond delay="0"/>
                                  </p:stCondLst>
                                  <p:childTnLst>
                                    <p:set>
                                      <p:cBhvr>
                                        <p:cTn id="119" dur="1" fill="hold">
                                          <p:stCondLst>
                                            <p:cond delay="0"/>
                                          </p:stCondLst>
                                        </p:cTn>
                                        <p:tgtEl>
                                          <p:spTgt spid="2"/>
                                        </p:tgtEl>
                                        <p:attrNameLst>
                                          <p:attrName>style.visibility</p:attrName>
                                        </p:attrNameLst>
                                      </p:cBhvr>
                                      <p:to>
                                        <p:strVal val="visible"/>
                                      </p:to>
                                    </p:set>
                                    <p:animEffect transition="in" filter="dissolve">
                                      <p:cBhvr>
                                        <p:cTn id="120" dur="500"/>
                                        <p:tgtEl>
                                          <p:spTgt spid="2"/>
                                        </p:tgtEl>
                                      </p:cBhvr>
                                    </p:animEffect>
                                  </p:childTnLst>
                                </p:cTn>
                              </p:par>
                              <p:par>
                                <p:cTn id="121" presetID="9" presetClass="entr" presetSubtype="0" fill="hold" grpId="0" nodeType="withEffect">
                                  <p:stCondLst>
                                    <p:cond delay="0"/>
                                  </p:stCondLst>
                                  <p:childTnLst>
                                    <p:set>
                                      <p:cBhvr>
                                        <p:cTn id="122" dur="1" fill="hold">
                                          <p:stCondLst>
                                            <p:cond delay="0"/>
                                          </p:stCondLst>
                                        </p:cTn>
                                        <p:tgtEl>
                                          <p:spTgt spid="12"/>
                                        </p:tgtEl>
                                        <p:attrNameLst>
                                          <p:attrName>style.visibility</p:attrName>
                                        </p:attrNameLst>
                                      </p:cBhvr>
                                      <p:to>
                                        <p:strVal val="visible"/>
                                      </p:to>
                                    </p:set>
                                    <p:animEffect transition="in" filter="dissolve">
                                      <p:cBhvr>
                                        <p:cTn id="1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cstate="print">
            <a:lum contrast="10000"/>
          </a:blip>
          <a:srcRect/>
          <a:stretch>
            <a:fillRect/>
          </a:stretch>
        </p:blipFill>
        <p:spPr bwMode="auto">
          <a:xfrm>
            <a:off x="5147934" y="152400"/>
            <a:ext cx="3843666" cy="28956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4" cstate="print"/>
          <a:srcRect/>
          <a:stretch>
            <a:fillRect/>
          </a:stretch>
        </p:blipFill>
        <p:spPr bwMode="auto">
          <a:xfrm>
            <a:off x="8042276" y="6248400"/>
            <a:ext cx="949324" cy="438150"/>
          </a:xfrm>
          <a:prstGeom prst="rect">
            <a:avLst/>
          </a:prstGeom>
          <a:noFill/>
        </p:spPr>
      </p:pic>
      <p:sp>
        <p:nvSpPr>
          <p:cNvPr id="9" name="TextBox 8"/>
          <p:cNvSpPr txBox="1"/>
          <p:nvPr/>
        </p:nvSpPr>
        <p:spPr>
          <a:xfrm>
            <a:off x="228600" y="1066800"/>
            <a:ext cx="8229600" cy="5693866"/>
          </a:xfrm>
          <a:prstGeom prst="rect">
            <a:avLst/>
          </a:prstGeom>
          <a:noFill/>
        </p:spPr>
        <p:txBody>
          <a:bodyPr wrap="square" rtlCol="0">
            <a:spAutoFit/>
          </a:bodyPr>
          <a:lstStyle/>
          <a:p>
            <a:r>
              <a:rPr lang="en-US" sz="3000" dirty="0" smtClean="0"/>
              <a:t>The ‘wing force’ (lift) is needed:</a:t>
            </a:r>
          </a:p>
          <a:p>
            <a:pPr marL="971550" lvl="1" indent="-514350">
              <a:buFont typeface="+mj-lt"/>
              <a:buAutoNum type="arabicPeriod"/>
            </a:pPr>
            <a:r>
              <a:rPr lang="en-US" sz="3000" dirty="0" smtClean="0"/>
              <a:t>To hold the wing up</a:t>
            </a:r>
          </a:p>
          <a:p>
            <a:pPr marL="971550" lvl="1" indent="-514350">
              <a:buFont typeface="+mj-lt"/>
              <a:buAutoNum type="arabicPeriod"/>
            </a:pPr>
            <a:r>
              <a:rPr lang="en-US" sz="3000" dirty="0" smtClean="0"/>
              <a:t>Shove the UL </a:t>
            </a:r>
            <a:r>
              <a:rPr lang="en-US" sz="3000" dirty="0" err="1" smtClean="0"/>
              <a:t>sidewards</a:t>
            </a:r>
            <a:endParaRPr lang="en-US" sz="3000" dirty="0" smtClean="0"/>
          </a:p>
          <a:p>
            <a:pPr marL="514350" indent="-514350"/>
            <a:endParaRPr lang="en-US" sz="3000" dirty="0" smtClean="0"/>
          </a:p>
          <a:p>
            <a:pPr indent="-514350"/>
            <a:r>
              <a:rPr lang="en-US" sz="3200" dirty="0" smtClean="0"/>
              <a:t>However, the ‘wing force’ is not enough to do both jobs, so:</a:t>
            </a:r>
          </a:p>
          <a:p>
            <a:pPr lvl="2" indent="-514350">
              <a:buFont typeface="+mj-lt"/>
              <a:buAutoNum type="arabicPeriod"/>
            </a:pPr>
            <a:r>
              <a:rPr lang="en-US" sz="3000" dirty="0" smtClean="0"/>
              <a:t>UL sinks and noses down</a:t>
            </a:r>
          </a:p>
          <a:p>
            <a:pPr lvl="2" indent="-514350">
              <a:buFont typeface="+mj-lt"/>
              <a:buAutoNum type="arabicPeriod"/>
            </a:pPr>
            <a:r>
              <a:rPr lang="en-US" sz="3000" dirty="0" smtClean="0"/>
              <a:t>UL slips off to the side toward the bank</a:t>
            </a:r>
          </a:p>
          <a:p>
            <a:pPr lvl="2" indent="-514350">
              <a:buFont typeface="+mj-lt"/>
              <a:buAutoNum type="arabicPeriod"/>
            </a:pPr>
            <a:endParaRPr lang="en-US" sz="3000" dirty="0" smtClean="0"/>
          </a:p>
          <a:p>
            <a:pPr lvl="1" indent="-514350"/>
            <a:r>
              <a:rPr lang="en-US" sz="3000" i="1" dirty="0" smtClean="0"/>
              <a:t>Note: If this continues, this will result in a  </a:t>
            </a:r>
          </a:p>
          <a:p>
            <a:pPr lvl="1" indent="-514350"/>
            <a:r>
              <a:rPr lang="en-US" sz="3000" i="1" dirty="0" smtClean="0"/>
              <a:t>           </a:t>
            </a:r>
            <a:r>
              <a:rPr lang="en-US" sz="3000" b="1" i="1" dirty="0" smtClean="0"/>
              <a:t>DOWNWARD  SPIRAL</a:t>
            </a:r>
          </a:p>
          <a:p>
            <a:endParaRPr lang="en-US" sz="3000" i="1" dirty="0">
              <a:effectLst>
                <a:outerShdw blurRad="50800" dist="38100" dir="2700000" algn="tl" rotWithShape="0">
                  <a:prstClr val="black">
                    <a:alpha val="40000"/>
                  </a:prstClr>
                </a:outerShdw>
              </a:effectLst>
            </a:endParaRPr>
          </a:p>
        </p:txBody>
      </p:sp>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a:t>
            </a:r>
            <a:endParaRPr lang="en-US" sz="36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 calcmode="lin" valueType="num">
                                      <p:cBhvr additive="base">
                                        <p:cTn id="21" dur="500" fill="hold"/>
                                        <p:tgtEl>
                                          <p:spTgt spid="9">
                                            <p:txEl>
                                              <p:pRg st="4" end="4"/>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9">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 calcmode="lin" valueType="num">
                                      <p:cBhvr additive="base">
                                        <p:cTn id="25" dur="500" fill="hold"/>
                                        <p:tgtEl>
                                          <p:spTgt spid="9">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 calcmode="lin" valueType="num">
                                      <p:cBhvr additive="base">
                                        <p:cTn id="29" dur="500" fill="hold"/>
                                        <p:tgtEl>
                                          <p:spTgt spid="9">
                                            <p:txEl>
                                              <p:pRg st="6" end="6"/>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 calcmode="lin" valueType="num">
                                      <p:cBhvr additive="base">
                                        <p:cTn id="35" dur="500" fill="hold"/>
                                        <p:tgtEl>
                                          <p:spTgt spid="9">
                                            <p:txEl>
                                              <p:pRg st="8" end="8"/>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9">
                                            <p:txEl>
                                              <p:pRg st="8" end="8"/>
                                            </p:txEl>
                                          </p:spTgt>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anim calcmode="lin" valueType="num">
                                      <p:cBhvr additive="base">
                                        <p:cTn id="39" dur="500" fill="hold"/>
                                        <p:tgtEl>
                                          <p:spTgt spid="9">
                                            <p:txEl>
                                              <p:pRg st="9" end="9"/>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cstate="print">
            <a:lum contrast="10000"/>
          </a:blip>
          <a:srcRect/>
          <a:stretch>
            <a:fillRect/>
          </a:stretch>
        </p:blipFill>
        <p:spPr bwMode="auto">
          <a:xfrm>
            <a:off x="5147934" y="152400"/>
            <a:ext cx="3843666" cy="28956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4" cstate="print"/>
          <a:srcRect/>
          <a:stretch>
            <a:fillRect/>
          </a:stretch>
        </p:blipFill>
        <p:spPr bwMode="auto">
          <a:xfrm>
            <a:off x="8042276" y="6248400"/>
            <a:ext cx="949324" cy="438150"/>
          </a:xfrm>
          <a:prstGeom prst="rect">
            <a:avLst/>
          </a:prstGeom>
          <a:noFill/>
        </p:spPr>
      </p:pic>
      <p:sp>
        <p:nvSpPr>
          <p:cNvPr id="9" name="TextBox 8"/>
          <p:cNvSpPr txBox="1"/>
          <p:nvPr/>
        </p:nvSpPr>
        <p:spPr>
          <a:xfrm>
            <a:off x="152400" y="2514600"/>
            <a:ext cx="8686800" cy="4708981"/>
          </a:xfrm>
          <a:prstGeom prst="rect">
            <a:avLst/>
          </a:prstGeom>
          <a:noFill/>
        </p:spPr>
        <p:txBody>
          <a:bodyPr wrap="square" rtlCol="0">
            <a:spAutoFit/>
          </a:bodyPr>
          <a:lstStyle/>
          <a:p>
            <a:r>
              <a:rPr lang="en-US" sz="3000" b="1" dirty="0" smtClean="0"/>
              <a:t>BACK PRESSURE </a:t>
            </a:r>
            <a:r>
              <a:rPr lang="en-US" sz="3000" dirty="0" smtClean="0"/>
              <a:t>in the turn:</a:t>
            </a:r>
          </a:p>
          <a:p>
            <a:pPr marL="971550" lvl="1" indent="-514350">
              <a:buFont typeface="+mj-lt"/>
              <a:buAutoNum type="arabicPeriod"/>
            </a:pPr>
            <a:r>
              <a:rPr lang="en-US" sz="3000" dirty="0" smtClean="0"/>
              <a:t>We force the UL to fly at a higher Angle of Attack</a:t>
            </a:r>
          </a:p>
          <a:p>
            <a:pPr marL="971550" lvl="1" indent="-514350">
              <a:buFont typeface="+mj-lt"/>
              <a:buAutoNum type="arabicPeriod"/>
            </a:pPr>
            <a:r>
              <a:rPr lang="en-US" sz="3000" dirty="0" smtClean="0"/>
              <a:t>The higher Angle of Attack results to the UL’s wings producing a bigger force</a:t>
            </a:r>
          </a:p>
          <a:p>
            <a:pPr marL="971550" lvl="1" indent="-514350">
              <a:buFont typeface="+mj-lt"/>
              <a:buAutoNum type="arabicPeriod"/>
            </a:pPr>
            <a:r>
              <a:rPr lang="en-US" sz="3000" dirty="0" smtClean="0"/>
              <a:t>A bigger ‘wing force’ is now adequate to hold the UL up and shoving it to the side</a:t>
            </a:r>
          </a:p>
          <a:p>
            <a:pPr marL="514350" indent="-514350"/>
            <a:endParaRPr lang="en-US" sz="3000" dirty="0" smtClean="0"/>
          </a:p>
          <a:p>
            <a:pPr marL="514350" indent="-514350"/>
            <a:r>
              <a:rPr lang="en-US" sz="3000" i="1" dirty="0" smtClean="0"/>
              <a:t>Result: </a:t>
            </a:r>
            <a:r>
              <a:rPr lang="en-US" sz="3000" b="1" i="1" dirty="0" smtClean="0"/>
              <a:t>Level, non-slipping turn </a:t>
            </a:r>
            <a:r>
              <a:rPr lang="en-US" sz="3000" i="1" dirty="0" smtClean="0"/>
              <a:t>(no downward spiral)</a:t>
            </a:r>
          </a:p>
          <a:p>
            <a:pPr marL="971550" lvl="1" indent="-514350"/>
            <a:r>
              <a:rPr lang="en-US" sz="3000" dirty="0" smtClean="0"/>
              <a:t>       </a:t>
            </a:r>
          </a:p>
          <a:p>
            <a:endParaRPr lang="en-US" sz="3000" i="1" dirty="0">
              <a:effectLst>
                <a:outerShdw blurRad="50800" dist="38100" dir="2700000" algn="tl" rotWithShape="0">
                  <a:prstClr val="black">
                    <a:alpha val="40000"/>
                  </a:prstClr>
                </a:outerShdw>
              </a:effectLst>
            </a:endParaRPr>
          </a:p>
        </p:txBody>
      </p:sp>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 – Role of the ‘elevator’ </a:t>
            </a:r>
            <a:endParaRPr lang="en-US" sz="36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 calcmode="lin" valueType="num">
                                      <p:cBhvr additive="base">
                                        <p:cTn id="25" dur="500" fill="hold"/>
                                        <p:tgtEl>
                                          <p:spTgt spid="9">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cstate="print">
            <a:lum contrast="10000"/>
          </a:blip>
          <a:srcRect/>
          <a:stretch>
            <a:fillRect/>
          </a:stretch>
        </p:blipFill>
        <p:spPr bwMode="auto">
          <a:xfrm>
            <a:off x="5147934" y="152400"/>
            <a:ext cx="3843666" cy="28956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4" cstate="print"/>
          <a:srcRect/>
          <a:stretch>
            <a:fillRect/>
          </a:stretch>
        </p:blipFill>
        <p:spPr bwMode="auto">
          <a:xfrm>
            <a:off x="8042276" y="6248400"/>
            <a:ext cx="949324" cy="438150"/>
          </a:xfrm>
          <a:prstGeom prst="rect">
            <a:avLst/>
          </a:prstGeom>
          <a:noFill/>
        </p:spPr>
      </p:pic>
      <p:sp>
        <p:nvSpPr>
          <p:cNvPr id="9" name="TextBox 8"/>
          <p:cNvSpPr txBox="1"/>
          <p:nvPr/>
        </p:nvSpPr>
        <p:spPr>
          <a:xfrm>
            <a:off x="152400" y="2514600"/>
            <a:ext cx="8686800" cy="4247317"/>
          </a:xfrm>
          <a:prstGeom prst="rect">
            <a:avLst/>
          </a:prstGeom>
          <a:noFill/>
        </p:spPr>
        <p:txBody>
          <a:bodyPr wrap="square" rtlCol="0">
            <a:spAutoFit/>
          </a:bodyPr>
          <a:lstStyle/>
          <a:p>
            <a:r>
              <a:rPr lang="en-US" sz="3000" b="1" dirty="0" smtClean="0"/>
              <a:t>BACK PRESSURE </a:t>
            </a:r>
            <a:r>
              <a:rPr lang="en-US" sz="3000" dirty="0" smtClean="0"/>
              <a:t>in the turn:</a:t>
            </a:r>
          </a:p>
          <a:p>
            <a:pPr marL="971550" lvl="1" indent="-514350">
              <a:buFont typeface="+mj-lt"/>
              <a:buAutoNum type="arabicPeriod"/>
            </a:pPr>
            <a:r>
              <a:rPr lang="en-US" sz="3000" dirty="0" smtClean="0"/>
              <a:t>Smoothness of turn depends on the amount of back pressure</a:t>
            </a:r>
          </a:p>
          <a:p>
            <a:pPr marL="971550" lvl="1" indent="-514350">
              <a:buFont typeface="+mj-lt"/>
              <a:buAutoNum type="arabicPeriod"/>
            </a:pPr>
            <a:r>
              <a:rPr lang="en-US" sz="3000" dirty="0" smtClean="0"/>
              <a:t>The steeper the bank, the more back pressure is needed; power can also be added to give sufficient ‘wing force’</a:t>
            </a:r>
          </a:p>
          <a:p>
            <a:pPr marL="971550" lvl="1" indent="-514350">
              <a:buFont typeface="+mj-lt"/>
              <a:buAutoNum type="arabicPeriod"/>
            </a:pPr>
            <a:r>
              <a:rPr lang="en-US" sz="3000" dirty="0" smtClean="0"/>
              <a:t>The rudder has no function in all of this</a:t>
            </a:r>
          </a:p>
          <a:p>
            <a:pPr marL="971550" lvl="1" indent="-514350"/>
            <a:r>
              <a:rPr lang="en-US" sz="3000" dirty="0" smtClean="0"/>
              <a:t>       </a:t>
            </a:r>
          </a:p>
          <a:p>
            <a:endParaRPr lang="en-US" sz="3000" i="1" dirty="0">
              <a:effectLst>
                <a:outerShdw blurRad="50800" dist="38100" dir="2700000" algn="tl" rotWithShape="0">
                  <a:prstClr val="black">
                    <a:alpha val="40000"/>
                  </a:prstClr>
                </a:outerShdw>
              </a:effectLst>
            </a:endParaRPr>
          </a:p>
        </p:txBody>
      </p:sp>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 – Role of the ‘elevator’ </a:t>
            </a:r>
            <a:endParaRPr lang="en-US" sz="36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 name="TextBox 11"/>
          <p:cNvSpPr txBox="1"/>
          <p:nvPr/>
        </p:nvSpPr>
        <p:spPr>
          <a:xfrm>
            <a:off x="990600" y="2561272"/>
            <a:ext cx="7543800" cy="1938992"/>
          </a:xfrm>
          <a:prstGeom prst="rect">
            <a:avLst/>
          </a:prstGeom>
          <a:noFill/>
        </p:spPr>
        <p:txBody>
          <a:bodyPr wrap="square" rtlCol="0">
            <a:spAutoFit/>
          </a:bodyPr>
          <a:lstStyle/>
          <a:p>
            <a:pPr algn="ctr"/>
            <a:r>
              <a:rPr lang="en-US" sz="3000" dirty="0" smtClean="0"/>
              <a:t>In the TURN, do not worry about coordination of rudder and aileron; </a:t>
            </a:r>
          </a:p>
          <a:p>
            <a:pPr algn="ctr"/>
            <a:r>
              <a:rPr lang="en-US" sz="3000" dirty="0" smtClean="0"/>
              <a:t>worry about the coordination of </a:t>
            </a:r>
          </a:p>
          <a:p>
            <a:pPr algn="ctr"/>
            <a:r>
              <a:rPr lang="en-US" sz="3000" b="1" dirty="0" smtClean="0"/>
              <a:t>BACK PRESSURE </a:t>
            </a:r>
            <a:r>
              <a:rPr lang="en-US" sz="3000" dirty="0" smtClean="0"/>
              <a:t>and </a:t>
            </a:r>
            <a:r>
              <a:rPr lang="en-US" sz="3000" b="1" dirty="0" smtClean="0"/>
              <a:t>BANK</a:t>
            </a:r>
            <a:r>
              <a:rPr lang="en-US" sz="3000" dirty="0" smtClean="0"/>
              <a:t>!</a:t>
            </a:r>
            <a:endParaRPr lang="en-US" sz="3000" dirty="0"/>
          </a:p>
        </p:txBody>
      </p:sp>
      <p:sp>
        <p:nvSpPr>
          <p:cNvPr id="13" name="TextBox 12"/>
          <p:cNvSpPr txBox="1"/>
          <p:nvPr/>
        </p:nvSpPr>
        <p:spPr>
          <a:xfrm>
            <a:off x="304800" y="191869"/>
            <a:ext cx="8229600" cy="646331"/>
          </a:xfrm>
          <a:prstGeom prst="rect">
            <a:avLst/>
          </a:prstGeom>
          <a:noFill/>
        </p:spPr>
        <p:txBody>
          <a:bodyPr wrap="square" rtlCol="0">
            <a:spAutoFit/>
          </a:bodyPr>
          <a:lstStyle/>
          <a:p>
            <a:r>
              <a:rPr lang="en-US" sz="3600" b="1" dirty="0" smtClean="0">
                <a:solidFill>
                  <a:srgbClr val="FF0000"/>
                </a:solidFill>
                <a:effectLst>
                  <a:outerShdw blurRad="38100" dist="38100" dir="2700000" algn="tl">
                    <a:srgbClr val="000000">
                      <a:alpha val="43137"/>
                    </a:srgbClr>
                  </a:outerShdw>
                </a:effectLst>
              </a:rPr>
              <a:t>REMEMBER THIS!</a:t>
            </a:r>
            <a:endParaRPr lang="en-US" sz="3600" b="1"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 – Slip and Skid </a:t>
            </a:r>
            <a:endParaRPr lang="en-US" sz="3600" b="1" dirty="0">
              <a:effectLst>
                <a:outerShdw blurRad="38100" dist="38100" dir="2700000" algn="tl">
                  <a:srgbClr val="000000">
                    <a:alpha val="43137"/>
                  </a:srgbClr>
                </a:outerShdw>
              </a:effectLst>
            </a:endParaRPr>
          </a:p>
        </p:txBody>
      </p:sp>
      <p:sp>
        <p:nvSpPr>
          <p:cNvPr id="10" name="TextBox 9"/>
          <p:cNvSpPr txBox="1"/>
          <p:nvPr/>
        </p:nvSpPr>
        <p:spPr>
          <a:xfrm>
            <a:off x="76200" y="4133671"/>
            <a:ext cx="4495800" cy="1569660"/>
          </a:xfrm>
          <a:prstGeom prst="rect">
            <a:avLst/>
          </a:prstGeom>
          <a:noFill/>
        </p:spPr>
        <p:txBody>
          <a:bodyPr wrap="square" rtlCol="0">
            <a:spAutoFit/>
          </a:bodyPr>
          <a:lstStyle/>
          <a:p>
            <a:pPr>
              <a:buFont typeface="Arial" pitchFamily="34" charset="0"/>
              <a:buChar char="•"/>
            </a:pPr>
            <a:r>
              <a:rPr lang="en-US" sz="2400" dirty="0" smtClean="0"/>
              <a:t> Not enough rudder for the bank; </a:t>
            </a:r>
          </a:p>
          <a:p>
            <a:r>
              <a:rPr lang="en-US" sz="2400" dirty="0" smtClean="0"/>
              <a:t>   (too much aileron)</a:t>
            </a:r>
          </a:p>
          <a:p>
            <a:pPr>
              <a:buFont typeface="Arial" pitchFamily="34" charset="0"/>
              <a:buChar char="•"/>
            </a:pPr>
            <a:r>
              <a:rPr lang="en-US" sz="2400" dirty="0" smtClean="0"/>
              <a:t> Not enough back pressure</a:t>
            </a:r>
          </a:p>
          <a:p>
            <a:pPr>
              <a:buFont typeface="Arial" pitchFamily="34" charset="0"/>
              <a:buChar char="•"/>
            </a:pPr>
            <a:r>
              <a:rPr lang="en-US" sz="2400" dirty="0" smtClean="0"/>
              <a:t> Airspeed increase; lose altitude</a:t>
            </a:r>
            <a:endParaRPr lang="en-US" sz="2400" dirty="0"/>
          </a:p>
        </p:txBody>
      </p:sp>
      <p:grpSp>
        <p:nvGrpSpPr>
          <p:cNvPr id="13" name="Group 12"/>
          <p:cNvGrpSpPr/>
          <p:nvPr/>
        </p:nvGrpSpPr>
        <p:grpSpPr>
          <a:xfrm>
            <a:off x="152400" y="685800"/>
            <a:ext cx="4343400" cy="3072161"/>
            <a:chOff x="152400" y="685800"/>
            <a:chExt cx="4343400" cy="3072161"/>
          </a:xfrm>
        </p:grpSpPr>
        <p:pic>
          <p:nvPicPr>
            <p:cNvPr id="2051" name="Picture 3"/>
            <p:cNvPicPr>
              <a:picLocks noChangeAspect="1" noChangeArrowheads="1"/>
            </p:cNvPicPr>
            <p:nvPr/>
          </p:nvPicPr>
          <p:blipFill>
            <a:blip r:embed="rId4" cstate="print"/>
            <a:srcRect/>
            <a:stretch>
              <a:fillRect/>
            </a:stretch>
          </p:blipFill>
          <p:spPr bwMode="auto">
            <a:xfrm>
              <a:off x="152400" y="685800"/>
              <a:ext cx="4343400" cy="3072161"/>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1" name="TextBox 10"/>
            <p:cNvSpPr txBox="1"/>
            <p:nvPr/>
          </p:nvSpPr>
          <p:spPr>
            <a:xfrm>
              <a:off x="3733800" y="3276600"/>
              <a:ext cx="705642" cy="461665"/>
            </a:xfrm>
            <a:prstGeom prst="rect">
              <a:avLst/>
            </a:prstGeom>
            <a:noFill/>
          </p:spPr>
          <p:txBody>
            <a:bodyPr wrap="none" rtlCol="0">
              <a:spAutoFit/>
            </a:bodyPr>
            <a:lstStyle/>
            <a:p>
              <a:r>
                <a:rPr lang="en-US" sz="2400" b="1" dirty="0" smtClean="0"/>
                <a:t>SLIP</a:t>
              </a:r>
              <a:endParaRPr lang="en-US" sz="2400" b="1" dirty="0"/>
            </a:p>
          </p:txBody>
        </p:sp>
      </p:grpSp>
      <p:grpSp>
        <p:nvGrpSpPr>
          <p:cNvPr id="14" name="Group 13"/>
          <p:cNvGrpSpPr/>
          <p:nvPr/>
        </p:nvGrpSpPr>
        <p:grpSpPr>
          <a:xfrm>
            <a:off x="4648200" y="685800"/>
            <a:ext cx="4355971" cy="3124200"/>
            <a:chOff x="4648200" y="685800"/>
            <a:chExt cx="4355971" cy="3124200"/>
          </a:xfrm>
        </p:grpSpPr>
        <p:pic>
          <p:nvPicPr>
            <p:cNvPr id="2" name="Picture 2"/>
            <p:cNvPicPr>
              <a:picLocks noChangeAspect="1" noChangeArrowheads="1"/>
            </p:cNvPicPr>
            <p:nvPr/>
          </p:nvPicPr>
          <p:blipFill>
            <a:blip r:embed="rId5" cstate="print"/>
            <a:srcRect/>
            <a:stretch>
              <a:fillRect/>
            </a:stretch>
          </p:blipFill>
          <p:spPr bwMode="auto">
            <a:xfrm>
              <a:off x="4648200" y="685800"/>
              <a:ext cx="4343400" cy="3100753"/>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2" name="TextBox 11"/>
            <p:cNvSpPr txBox="1"/>
            <p:nvPr/>
          </p:nvSpPr>
          <p:spPr>
            <a:xfrm>
              <a:off x="8229600" y="3348335"/>
              <a:ext cx="774571" cy="461665"/>
            </a:xfrm>
            <a:prstGeom prst="rect">
              <a:avLst/>
            </a:prstGeom>
            <a:noFill/>
          </p:spPr>
          <p:txBody>
            <a:bodyPr wrap="none" rtlCol="0">
              <a:spAutoFit/>
            </a:bodyPr>
            <a:lstStyle/>
            <a:p>
              <a:r>
                <a:rPr lang="en-US" sz="2400" b="1" dirty="0" smtClean="0"/>
                <a:t>SKID</a:t>
              </a:r>
              <a:endParaRPr lang="en-US" sz="2400" b="1" dirty="0"/>
            </a:p>
          </p:txBody>
        </p:sp>
      </p:grpSp>
      <p:sp>
        <p:nvSpPr>
          <p:cNvPr id="15" name="TextBox 14"/>
          <p:cNvSpPr txBox="1"/>
          <p:nvPr/>
        </p:nvSpPr>
        <p:spPr>
          <a:xfrm>
            <a:off x="4635984" y="4114800"/>
            <a:ext cx="4092595" cy="1569660"/>
          </a:xfrm>
          <a:prstGeom prst="rect">
            <a:avLst/>
          </a:prstGeom>
          <a:noFill/>
        </p:spPr>
        <p:txBody>
          <a:bodyPr wrap="none" rtlCol="0">
            <a:spAutoFit/>
          </a:bodyPr>
          <a:lstStyle/>
          <a:p>
            <a:pPr>
              <a:buFont typeface="Arial" pitchFamily="34" charset="0"/>
              <a:buChar char="•"/>
            </a:pPr>
            <a:r>
              <a:rPr lang="en-US" sz="2400" dirty="0" smtClean="0"/>
              <a:t> Too much rudder for the bank</a:t>
            </a:r>
          </a:p>
          <a:p>
            <a:pPr>
              <a:buFont typeface="Arial" pitchFamily="34" charset="0"/>
              <a:buChar char="•"/>
            </a:pPr>
            <a:r>
              <a:rPr lang="en-US" sz="2400" dirty="0" smtClean="0"/>
              <a:t> Airspeed decreases</a:t>
            </a:r>
          </a:p>
          <a:p>
            <a:pPr>
              <a:buFont typeface="Arial" pitchFamily="34" charset="0"/>
              <a:buChar char="•"/>
            </a:pPr>
            <a:r>
              <a:rPr lang="en-US" sz="2400" dirty="0" smtClean="0"/>
              <a:t> More dangerous than SLIP</a:t>
            </a:r>
          </a:p>
          <a:p>
            <a:pPr>
              <a:buFont typeface="Arial" pitchFamily="34" charset="0"/>
              <a:buChar char="•"/>
            </a:pPr>
            <a:r>
              <a:rPr lang="en-US" sz="2400" dirty="0" smtClean="0"/>
              <a:t> Can develop into a SPIN</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1+#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1+#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 – Yaw String </a:t>
            </a:r>
            <a:endParaRPr lang="en-US" sz="3600" b="1" dirty="0">
              <a:effectLst>
                <a:outerShdw blurRad="38100" dist="38100" dir="2700000" algn="tl">
                  <a:srgbClr val="000000">
                    <a:alpha val="43137"/>
                  </a:srgbClr>
                </a:outerShdw>
              </a:effectLst>
            </a:endParaRPr>
          </a:p>
        </p:txBody>
      </p:sp>
      <p:grpSp>
        <p:nvGrpSpPr>
          <p:cNvPr id="23" name="Group 22"/>
          <p:cNvGrpSpPr/>
          <p:nvPr/>
        </p:nvGrpSpPr>
        <p:grpSpPr>
          <a:xfrm>
            <a:off x="152400" y="685800"/>
            <a:ext cx="4343400" cy="3072161"/>
            <a:chOff x="152400" y="685800"/>
            <a:chExt cx="4343400" cy="3072161"/>
          </a:xfrm>
        </p:grpSpPr>
        <p:grpSp>
          <p:nvGrpSpPr>
            <p:cNvPr id="3" name="Group 12"/>
            <p:cNvGrpSpPr/>
            <p:nvPr/>
          </p:nvGrpSpPr>
          <p:grpSpPr>
            <a:xfrm>
              <a:off x="152400" y="685800"/>
              <a:ext cx="4343400" cy="3072161"/>
              <a:chOff x="152400" y="685800"/>
              <a:chExt cx="4343400" cy="3072161"/>
            </a:xfrm>
          </p:grpSpPr>
          <p:pic>
            <p:nvPicPr>
              <p:cNvPr id="2051" name="Picture 3"/>
              <p:cNvPicPr>
                <a:picLocks noChangeAspect="1" noChangeArrowheads="1"/>
              </p:cNvPicPr>
              <p:nvPr/>
            </p:nvPicPr>
            <p:blipFill>
              <a:blip r:embed="rId4" cstate="print"/>
              <a:srcRect/>
              <a:stretch>
                <a:fillRect/>
              </a:stretch>
            </p:blipFill>
            <p:spPr bwMode="auto">
              <a:xfrm>
                <a:off x="152400" y="685800"/>
                <a:ext cx="4343400" cy="3072161"/>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1" name="TextBox 10"/>
              <p:cNvSpPr txBox="1"/>
              <p:nvPr/>
            </p:nvSpPr>
            <p:spPr>
              <a:xfrm>
                <a:off x="3733800" y="3276600"/>
                <a:ext cx="705642" cy="461665"/>
              </a:xfrm>
              <a:prstGeom prst="rect">
                <a:avLst/>
              </a:prstGeom>
              <a:noFill/>
            </p:spPr>
            <p:txBody>
              <a:bodyPr wrap="none" rtlCol="0">
                <a:spAutoFit/>
              </a:bodyPr>
              <a:lstStyle/>
              <a:p>
                <a:r>
                  <a:rPr lang="en-US" sz="2400" b="1" dirty="0" smtClean="0"/>
                  <a:t>SLIP</a:t>
                </a:r>
                <a:endParaRPr lang="en-US" sz="2400" b="1" dirty="0"/>
              </a:p>
            </p:txBody>
          </p:sp>
        </p:grpSp>
        <p:sp>
          <p:nvSpPr>
            <p:cNvPr id="14" name="Oval 13"/>
            <p:cNvSpPr/>
            <p:nvPr/>
          </p:nvSpPr>
          <p:spPr>
            <a:xfrm>
              <a:off x="2209800" y="1676400"/>
              <a:ext cx="76200" cy="76200"/>
            </a:xfrm>
            <a:prstGeom prst="ellipse">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rot="3502598">
              <a:off x="2923435" y="2052736"/>
              <a:ext cx="297321" cy="231465"/>
            </a:xfrm>
            <a:custGeom>
              <a:avLst/>
              <a:gdLst>
                <a:gd name="connsiteX0" fmla="*/ 297321 w 297321"/>
                <a:gd name="connsiteY0" fmla="*/ 11126 h 231465"/>
                <a:gd name="connsiteX1" fmla="*/ 263662 w 297321"/>
                <a:gd name="connsiteY1" fmla="*/ 22346 h 231465"/>
                <a:gd name="connsiteX2" fmla="*/ 230003 w 297321"/>
                <a:gd name="connsiteY2" fmla="*/ 50395 h 231465"/>
                <a:gd name="connsiteX3" fmla="*/ 196344 w 297321"/>
                <a:gd name="connsiteY3" fmla="*/ 72834 h 231465"/>
                <a:gd name="connsiteX4" fmla="*/ 179514 w 297321"/>
                <a:gd name="connsiteY4" fmla="*/ 84054 h 231465"/>
                <a:gd name="connsiteX5" fmla="*/ 162685 w 297321"/>
                <a:gd name="connsiteY5" fmla="*/ 95274 h 231465"/>
                <a:gd name="connsiteX6" fmla="*/ 140246 w 297321"/>
                <a:gd name="connsiteY6" fmla="*/ 123323 h 231465"/>
                <a:gd name="connsiteX7" fmla="*/ 129026 w 297321"/>
                <a:gd name="connsiteY7" fmla="*/ 140152 h 231465"/>
                <a:gd name="connsiteX8" fmla="*/ 95367 w 297321"/>
                <a:gd name="connsiteY8" fmla="*/ 162592 h 231465"/>
                <a:gd name="connsiteX9" fmla="*/ 78538 w 297321"/>
                <a:gd name="connsiteY9" fmla="*/ 173811 h 231465"/>
                <a:gd name="connsiteX10" fmla="*/ 67318 w 297321"/>
                <a:gd name="connsiteY10" fmla="*/ 190641 h 231465"/>
                <a:gd name="connsiteX11" fmla="*/ 50489 w 297321"/>
                <a:gd name="connsiteY11" fmla="*/ 196250 h 231465"/>
                <a:gd name="connsiteX12" fmla="*/ 16830 w 297321"/>
                <a:gd name="connsiteY12" fmla="*/ 213080 h 231465"/>
                <a:gd name="connsiteX13" fmla="*/ 0 w 297321"/>
                <a:gd name="connsiteY13" fmla="*/ 229909 h 23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7321" h="231465">
                  <a:moveTo>
                    <a:pt x="297321" y="11126"/>
                  </a:moveTo>
                  <a:cubicBezTo>
                    <a:pt x="286101" y="14866"/>
                    <a:pt x="273502" y="15786"/>
                    <a:pt x="263662" y="22346"/>
                  </a:cubicBezTo>
                  <a:cubicBezTo>
                    <a:pt x="203517" y="62442"/>
                    <a:pt x="294798" y="0"/>
                    <a:pt x="230003" y="50395"/>
                  </a:cubicBezTo>
                  <a:cubicBezTo>
                    <a:pt x="219359" y="58674"/>
                    <a:pt x="207564" y="65354"/>
                    <a:pt x="196344" y="72834"/>
                  </a:cubicBezTo>
                  <a:lnTo>
                    <a:pt x="179514" y="84054"/>
                  </a:lnTo>
                  <a:lnTo>
                    <a:pt x="162685" y="95274"/>
                  </a:lnTo>
                  <a:cubicBezTo>
                    <a:pt x="151764" y="128036"/>
                    <a:pt x="165620" y="97949"/>
                    <a:pt x="140246" y="123323"/>
                  </a:cubicBezTo>
                  <a:cubicBezTo>
                    <a:pt x="135479" y="128090"/>
                    <a:pt x="134100" y="135712"/>
                    <a:pt x="129026" y="140152"/>
                  </a:cubicBezTo>
                  <a:cubicBezTo>
                    <a:pt x="118878" y="149032"/>
                    <a:pt x="106587" y="155112"/>
                    <a:pt x="95367" y="162592"/>
                  </a:cubicBezTo>
                  <a:lnTo>
                    <a:pt x="78538" y="173811"/>
                  </a:lnTo>
                  <a:cubicBezTo>
                    <a:pt x="74798" y="179421"/>
                    <a:pt x="72583" y="186429"/>
                    <a:pt x="67318" y="190641"/>
                  </a:cubicBezTo>
                  <a:cubicBezTo>
                    <a:pt x="62701" y="194335"/>
                    <a:pt x="55778" y="193606"/>
                    <a:pt x="50489" y="196250"/>
                  </a:cubicBezTo>
                  <a:cubicBezTo>
                    <a:pt x="6982" y="218003"/>
                    <a:pt x="59136" y="198977"/>
                    <a:pt x="16830" y="213080"/>
                  </a:cubicBezTo>
                  <a:cubicBezTo>
                    <a:pt x="4573" y="231465"/>
                    <a:pt x="12352" y="229909"/>
                    <a:pt x="0" y="229909"/>
                  </a:cubicBezTo>
                </a:path>
              </a:pathLst>
            </a:cu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Oval 16"/>
            <p:cNvSpPr/>
            <p:nvPr/>
          </p:nvSpPr>
          <p:spPr>
            <a:xfrm>
              <a:off x="3200400" y="2209800"/>
              <a:ext cx="76200" cy="76200"/>
            </a:xfrm>
            <a:prstGeom prst="ellipse">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rot="21056272">
              <a:off x="1972306" y="1727764"/>
              <a:ext cx="297321" cy="231465"/>
            </a:xfrm>
            <a:custGeom>
              <a:avLst/>
              <a:gdLst>
                <a:gd name="connsiteX0" fmla="*/ 297321 w 297321"/>
                <a:gd name="connsiteY0" fmla="*/ 11126 h 231465"/>
                <a:gd name="connsiteX1" fmla="*/ 263662 w 297321"/>
                <a:gd name="connsiteY1" fmla="*/ 22346 h 231465"/>
                <a:gd name="connsiteX2" fmla="*/ 230003 w 297321"/>
                <a:gd name="connsiteY2" fmla="*/ 50395 h 231465"/>
                <a:gd name="connsiteX3" fmla="*/ 196344 w 297321"/>
                <a:gd name="connsiteY3" fmla="*/ 72834 h 231465"/>
                <a:gd name="connsiteX4" fmla="*/ 179514 w 297321"/>
                <a:gd name="connsiteY4" fmla="*/ 84054 h 231465"/>
                <a:gd name="connsiteX5" fmla="*/ 162685 w 297321"/>
                <a:gd name="connsiteY5" fmla="*/ 95274 h 231465"/>
                <a:gd name="connsiteX6" fmla="*/ 140246 w 297321"/>
                <a:gd name="connsiteY6" fmla="*/ 123323 h 231465"/>
                <a:gd name="connsiteX7" fmla="*/ 129026 w 297321"/>
                <a:gd name="connsiteY7" fmla="*/ 140152 h 231465"/>
                <a:gd name="connsiteX8" fmla="*/ 95367 w 297321"/>
                <a:gd name="connsiteY8" fmla="*/ 162592 h 231465"/>
                <a:gd name="connsiteX9" fmla="*/ 78538 w 297321"/>
                <a:gd name="connsiteY9" fmla="*/ 173811 h 231465"/>
                <a:gd name="connsiteX10" fmla="*/ 67318 w 297321"/>
                <a:gd name="connsiteY10" fmla="*/ 190641 h 231465"/>
                <a:gd name="connsiteX11" fmla="*/ 50489 w 297321"/>
                <a:gd name="connsiteY11" fmla="*/ 196250 h 231465"/>
                <a:gd name="connsiteX12" fmla="*/ 16830 w 297321"/>
                <a:gd name="connsiteY12" fmla="*/ 213080 h 231465"/>
                <a:gd name="connsiteX13" fmla="*/ 0 w 297321"/>
                <a:gd name="connsiteY13" fmla="*/ 229909 h 23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7321" h="231465">
                  <a:moveTo>
                    <a:pt x="297321" y="11126"/>
                  </a:moveTo>
                  <a:cubicBezTo>
                    <a:pt x="286101" y="14866"/>
                    <a:pt x="273502" y="15786"/>
                    <a:pt x="263662" y="22346"/>
                  </a:cubicBezTo>
                  <a:cubicBezTo>
                    <a:pt x="203517" y="62442"/>
                    <a:pt x="294798" y="0"/>
                    <a:pt x="230003" y="50395"/>
                  </a:cubicBezTo>
                  <a:cubicBezTo>
                    <a:pt x="219359" y="58674"/>
                    <a:pt x="207564" y="65354"/>
                    <a:pt x="196344" y="72834"/>
                  </a:cubicBezTo>
                  <a:lnTo>
                    <a:pt x="179514" y="84054"/>
                  </a:lnTo>
                  <a:lnTo>
                    <a:pt x="162685" y="95274"/>
                  </a:lnTo>
                  <a:cubicBezTo>
                    <a:pt x="151764" y="128036"/>
                    <a:pt x="165620" y="97949"/>
                    <a:pt x="140246" y="123323"/>
                  </a:cubicBezTo>
                  <a:cubicBezTo>
                    <a:pt x="135479" y="128090"/>
                    <a:pt x="134100" y="135712"/>
                    <a:pt x="129026" y="140152"/>
                  </a:cubicBezTo>
                  <a:cubicBezTo>
                    <a:pt x="118878" y="149032"/>
                    <a:pt x="106587" y="155112"/>
                    <a:pt x="95367" y="162592"/>
                  </a:cubicBezTo>
                  <a:lnTo>
                    <a:pt x="78538" y="173811"/>
                  </a:lnTo>
                  <a:cubicBezTo>
                    <a:pt x="74798" y="179421"/>
                    <a:pt x="72583" y="186429"/>
                    <a:pt x="67318" y="190641"/>
                  </a:cubicBezTo>
                  <a:cubicBezTo>
                    <a:pt x="62701" y="194335"/>
                    <a:pt x="55778" y="193606"/>
                    <a:pt x="50489" y="196250"/>
                  </a:cubicBezTo>
                  <a:cubicBezTo>
                    <a:pt x="6982" y="218003"/>
                    <a:pt x="59136" y="198977"/>
                    <a:pt x="16830" y="213080"/>
                  </a:cubicBezTo>
                  <a:cubicBezTo>
                    <a:pt x="4573" y="231465"/>
                    <a:pt x="12352" y="229909"/>
                    <a:pt x="0" y="229909"/>
                  </a:cubicBezTo>
                </a:path>
              </a:pathLst>
            </a:cu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 name="Group 23"/>
          <p:cNvGrpSpPr/>
          <p:nvPr/>
        </p:nvGrpSpPr>
        <p:grpSpPr>
          <a:xfrm>
            <a:off x="4648200" y="685800"/>
            <a:ext cx="4355971" cy="3124200"/>
            <a:chOff x="4648200" y="685800"/>
            <a:chExt cx="4355971" cy="3124200"/>
          </a:xfrm>
        </p:grpSpPr>
        <p:grpSp>
          <p:nvGrpSpPr>
            <p:cNvPr id="4" name="Group 13"/>
            <p:cNvGrpSpPr/>
            <p:nvPr/>
          </p:nvGrpSpPr>
          <p:grpSpPr>
            <a:xfrm>
              <a:off x="4648200" y="685800"/>
              <a:ext cx="4355971" cy="3124200"/>
              <a:chOff x="4648200" y="685800"/>
              <a:chExt cx="4355971" cy="3124200"/>
            </a:xfrm>
          </p:grpSpPr>
          <p:pic>
            <p:nvPicPr>
              <p:cNvPr id="2" name="Picture 2"/>
              <p:cNvPicPr>
                <a:picLocks noChangeAspect="1" noChangeArrowheads="1"/>
              </p:cNvPicPr>
              <p:nvPr/>
            </p:nvPicPr>
            <p:blipFill>
              <a:blip r:embed="rId5" cstate="print"/>
              <a:srcRect/>
              <a:stretch>
                <a:fillRect/>
              </a:stretch>
            </p:blipFill>
            <p:spPr bwMode="auto">
              <a:xfrm>
                <a:off x="4648200" y="685800"/>
                <a:ext cx="4343400" cy="3100753"/>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2" name="TextBox 11"/>
              <p:cNvSpPr txBox="1"/>
              <p:nvPr/>
            </p:nvSpPr>
            <p:spPr>
              <a:xfrm>
                <a:off x="8229600" y="3348335"/>
                <a:ext cx="774571" cy="461665"/>
              </a:xfrm>
              <a:prstGeom prst="rect">
                <a:avLst/>
              </a:prstGeom>
              <a:noFill/>
            </p:spPr>
            <p:txBody>
              <a:bodyPr wrap="none" rtlCol="0">
                <a:spAutoFit/>
              </a:bodyPr>
              <a:lstStyle/>
              <a:p>
                <a:r>
                  <a:rPr lang="en-US" sz="2400" b="1" dirty="0" smtClean="0"/>
                  <a:t>SKID</a:t>
                </a:r>
                <a:endParaRPr lang="en-US" sz="2400" b="1" dirty="0"/>
              </a:p>
            </p:txBody>
          </p:sp>
        </p:grpSp>
        <p:sp>
          <p:nvSpPr>
            <p:cNvPr id="19" name="Oval 18"/>
            <p:cNvSpPr/>
            <p:nvPr/>
          </p:nvSpPr>
          <p:spPr>
            <a:xfrm>
              <a:off x="6934200" y="1752600"/>
              <a:ext cx="76200" cy="76200"/>
            </a:xfrm>
            <a:prstGeom prst="ellipse">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p:cNvSpPr/>
            <p:nvPr/>
          </p:nvSpPr>
          <p:spPr>
            <a:xfrm rot="19956859">
              <a:off x="6437374" y="1350811"/>
              <a:ext cx="297321" cy="231465"/>
            </a:xfrm>
            <a:custGeom>
              <a:avLst/>
              <a:gdLst>
                <a:gd name="connsiteX0" fmla="*/ 297321 w 297321"/>
                <a:gd name="connsiteY0" fmla="*/ 11126 h 231465"/>
                <a:gd name="connsiteX1" fmla="*/ 263662 w 297321"/>
                <a:gd name="connsiteY1" fmla="*/ 22346 h 231465"/>
                <a:gd name="connsiteX2" fmla="*/ 230003 w 297321"/>
                <a:gd name="connsiteY2" fmla="*/ 50395 h 231465"/>
                <a:gd name="connsiteX3" fmla="*/ 196344 w 297321"/>
                <a:gd name="connsiteY3" fmla="*/ 72834 h 231465"/>
                <a:gd name="connsiteX4" fmla="*/ 179514 w 297321"/>
                <a:gd name="connsiteY4" fmla="*/ 84054 h 231465"/>
                <a:gd name="connsiteX5" fmla="*/ 162685 w 297321"/>
                <a:gd name="connsiteY5" fmla="*/ 95274 h 231465"/>
                <a:gd name="connsiteX6" fmla="*/ 140246 w 297321"/>
                <a:gd name="connsiteY6" fmla="*/ 123323 h 231465"/>
                <a:gd name="connsiteX7" fmla="*/ 129026 w 297321"/>
                <a:gd name="connsiteY7" fmla="*/ 140152 h 231465"/>
                <a:gd name="connsiteX8" fmla="*/ 95367 w 297321"/>
                <a:gd name="connsiteY8" fmla="*/ 162592 h 231465"/>
                <a:gd name="connsiteX9" fmla="*/ 78538 w 297321"/>
                <a:gd name="connsiteY9" fmla="*/ 173811 h 231465"/>
                <a:gd name="connsiteX10" fmla="*/ 67318 w 297321"/>
                <a:gd name="connsiteY10" fmla="*/ 190641 h 231465"/>
                <a:gd name="connsiteX11" fmla="*/ 50489 w 297321"/>
                <a:gd name="connsiteY11" fmla="*/ 196250 h 231465"/>
                <a:gd name="connsiteX12" fmla="*/ 16830 w 297321"/>
                <a:gd name="connsiteY12" fmla="*/ 213080 h 231465"/>
                <a:gd name="connsiteX13" fmla="*/ 0 w 297321"/>
                <a:gd name="connsiteY13" fmla="*/ 229909 h 23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7321" h="231465">
                  <a:moveTo>
                    <a:pt x="297321" y="11126"/>
                  </a:moveTo>
                  <a:cubicBezTo>
                    <a:pt x="286101" y="14866"/>
                    <a:pt x="273502" y="15786"/>
                    <a:pt x="263662" y="22346"/>
                  </a:cubicBezTo>
                  <a:cubicBezTo>
                    <a:pt x="203517" y="62442"/>
                    <a:pt x="294798" y="0"/>
                    <a:pt x="230003" y="50395"/>
                  </a:cubicBezTo>
                  <a:cubicBezTo>
                    <a:pt x="219359" y="58674"/>
                    <a:pt x="207564" y="65354"/>
                    <a:pt x="196344" y="72834"/>
                  </a:cubicBezTo>
                  <a:lnTo>
                    <a:pt x="179514" y="84054"/>
                  </a:lnTo>
                  <a:lnTo>
                    <a:pt x="162685" y="95274"/>
                  </a:lnTo>
                  <a:cubicBezTo>
                    <a:pt x="151764" y="128036"/>
                    <a:pt x="165620" y="97949"/>
                    <a:pt x="140246" y="123323"/>
                  </a:cubicBezTo>
                  <a:cubicBezTo>
                    <a:pt x="135479" y="128090"/>
                    <a:pt x="134100" y="135712"/>
                    <a:pt x="129026" y="140152"/>
                  </a:cubicBezTo>
                  <a:cubicBezTo>
                    <a:pt x="118878" y="149032"/>
                    <a:pt x="106587" y="155112"/>
                    <a:pt x="95367" y="162592"/>
                  </a:cubicBezTo>
                  <a:lnTo>
                    <a:pt x="78538" y="173811"/>
                  </a:lnTo>
                  <a:cubicBezTo>
                    <a:pt x="74798" y="179421"/>
                    <a:pt x="72583" y="186429"/>
                    <a:pt x="67318" y="190641"/>
                  </a:cubicBezTo>
                  <a:cubicBezTo>
                    <a:pt x="62701" y="194335"/>
                    <a:pt x="55778" y="193606"/>
                    <a:pt x="50489" y="196250"/>
                  </a:cubicBezTo>
                  <a:cubicBezTo>
                    <a:pt x="6982" y="218003"/>
                    <a:pt x="59136" y="198977"/>
                    <a:pt x="16830" y="213080"/>
                  </a:cubicBezTo>
                  <a:cubicBezTo>
                    <a:pt x="4573" y="231465"/>
                    <a:pt x="12352" y="229909"/>
                    <a:pt x="0" y="229909"/>
                  </a:cubicBezTo>
                </a:path>
              </a:pathLst>
            </a:cu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Oval 20"/>
            <p:cNvSpPr/>
            <p:nvPr/>
          </p:nvSpPr>
          <p:spPr>
            <a:xfrm>
              <a:off x="6629400" y="1219200"/>
              <a:ext cx="76200" cy="76200"/>
            </a:xfrm>
            <a:prstGeom prst="ellipse">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21056272">
              <a:off x="6696706" y="1803964"/>
              <a:ext cx="297321" cy="231465"/>
            </a:xfrm>
            <a:custGeom>
              <a:avLst/>
              <a:gdLst>
                <a:gd name="connsiteX0" fmla="*/ 297321 w 297321"/>
                <a:gd name="connsiteY0" fmla="*/ 11126 h 231465"/>
                <a:gd name="connsiteX1" fmla="*/ 263662 w 297321"/>
                <a:gd name="connsiteY1" fmla="*/ 22346 h 231465"/>
                <a:gd name="connsiteX2" fmla="*/ 230003 w 297321"/>
                <a:gd name="connsiteY2" fmla="*/ 50395 h 231465"/>
                <a:gd name="connsiteX3" fmla="*/ 196344 w 297321"/>
                <a:gd name="connsiteY3" fmla="*/ 72834 h 231465"/>
                <a:gd name="connsiteX4" fmla="*/ 179514 w 297321"/>
                <a:gd name="connsiteY4" fmla="*/ 84054 h 231465"/>
                <a:gd name="connsiteX5" fmla="*/ 162685 w 297321"/>
                <a:gd name="connsiteY5" fmla="*/ 95274 h 231465"/>
                <a:gd name="connsiteX6" fmla="*/ 140246 w 297321"/>
                <a:gd name="connsiteY6" fmla="*/ 123323 h 231465"/>
                <a:gd name="connsiteX7" fmla="*/ 129026 w 297321"/>
                <a:gd name="connsiteY7" fmla="*/ 140152 h 231465"/>
                <a:gd name="connsiteX8" fmla="*/ 95367 w 297321"/>
                <a:gd name="connsiteY8" fmla="*/ 162592 h 231465"/>
                <a:gd name="connsiteX9" fmla="*/ 78538 w 297321"/>
                <a:gd name="connsiteY9" fmla="*/ 173811 h 231465"/>
                <a:gd name="connsiteX10" fmla="*/ 67318 w 297321"/>
                <a:gd name="connsiteY10" fmla="*/ 190641 h 231465"/>
                <a:gd name="connsiteX11" fmla="*/ 50489 w 297321"/>
                <a:gd name="connsiteY11" fmla="*/ 196250 h 231465"/>
                <a:gd name="connsiteX12" fmla="*/ 16830 w 297321"/>
                <a:gd name="connsiteY12" fmla="*/ 213080 h 231465"/>
                <a:gd name="connsiteX13" fmla="*/ 0 w 297321"/>
                <a:gd name="connsiteY13" fmla="*/ 229909 h 23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7321" h="231465">
                  <a:moveTo>
                    <a:pt x="297321" y="11126"/>
                  </a:moveTo>
                  <a:cubicBezTo>
                    <a:pt x="286101" y="14866"/>
                    <a:pt x="273502" y="15786"/>
                    <a:pt x="263662" y="22346"/>
                  </a:cubicBezTo>
                  <a:cubicBezTo>
                    <a:pt x="203517" y="62442"/>
                    <a:pt x="294798" y="0"/>
                    <a:pt x="230003" y="50395"/>
                  </a:cubicBezTo>
                  <a:cubicBezTo>
                    <a:pt x="219359" y="58674"/>
                    <a:pt x="207564" y="65354"/>
                    <a:pt x="196344" y="72834"/>
                  </a:cubicBezTo>
                  <a:lnTo>
                    <a:pt x="179514" y="84054"/>
                  </a:lnTo>
                  <a:lnTo>
                    <a:pt x="162685" y="95274"/>
                  </a:lnTo>
                  <a:cubicBezTo>
                    <a:pt x="151764" y="128036"/>
                    <a:pt x="165620" y="97949"/>
                    <a:pt x="140246" y="123323"/>
                  </a:cubicBezTo>
                  <a:cubicBezTo>
                    <a:pt x="135479" y="128090"/>
                    <a:pt x="134100" y="135712"/>
                    <a:pt x="129026" y="140152"/>
                  </a:cubicBezTo>
                  <a:cubicBezTo>
                    <a:pt x="118878" y="149032"/>
                    <a:pt x="106587" y="155112"/>
                    <a:pt x="95367" y="162592"/>
                  </a:cubicBezTo>
                  <a:lnTo>
                    <a:pt x="78538" y="173811"/>
                  </a:lnTo>
                  <a:cubicBezTo>
                    <a:pt x="74798" y="179421"/>
                    <a:pt x="72583" y="186429"/>
                    <a:pt x="67318" y="190641"/>
                  </a:cubicBezTo>
                  <a:cubicBezTo>
                    <a:pt x="62701" y="194335"/>
                    <a:pt x="55778" y="193606"/>
                    <a:pt x="50489" y="196250"/>
                  </a:cubicBezTo>
                  <a:cubicBezTo>
                    <a:pt x="6982" y="218003"/>
                    <a:pt x="59136" y="198977"/>
                    <a:pt x="16830" y="213080"/>
                  </a:cubicBezTo>
                  <a:cubicBezTo>
                    <a:pt x="4573" y="231465"/>
                    <a:pt x="12352" y="229909"/>
                    <a:pt x="0" y="229909"/>
                  </a:cubicBezTo>
                </a:path>
              </a:pathLst>
            </a:cu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3" name="Group 32"/>
          <p:cNvGrpSpPr/>
          <p:nvPr/>
        </p:nvGrpSpPr>
        <p:grpSpPr>
          <a:xfrm>
            <a:off x="182880" y="4191000"/>
            <a:ext cx="960120" cy="1373777"/>
            <a:chOff x="182880" y="4191000"/>
            <a:chExt cx="960120" cy="1373777"/>
          </a:xfrm>
        </p:grpSpPr>
        <p:cxnSp>
          <p:nvCxnSpPr>
            <p:cNvPr id="26" name="Straight Connector 25"/>
            <p:cNvCxnSpPr/>
            <p:nvPr/>
          </p:nvCxnSpPr>
          <p:spPr>
            <a:xfrm>
              <a:off x="1143000" y="4193177"/>
              <a:ext cx="0" cy="1371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Freeform 26"/>
            <p:cNvSpPr/>
            <p:nvPr/>
          </p:nvSpPr>
          <p:spPr>
            <a:xfrm>
              <a:off x="182880" y="4191000"/>
              <a:ext cx="953589" cy="300446"/>
            </a:xfrm>
            <a:custGeom>
              <a:avLst/>
              <a:gdLst>
                <a:gd name="connsiteX0" fmla="*/ 953589 w 953589"/>
                <a:gd name="connsiteY0" fmla="*/ 0 h 300446"/>
                <a:gd name="connsiteX1" fmla="*/ 875211 w 953589"/>
                <a:gd name="connsiteY1" fmla="*/ 13063 h 300446"/>
                <a:gd name="connsiteX2" fmla="*/ 757646 w 953589"/>
                <a:gd name="connsiteY2" fmla="*/ 91440 h 300446"/>
                <a:gd name="connsiteX3" fmla="*/ 718457 w 953589"/>
                <a:gd name="connsiteY3" fmla="*/ 117566 h 300446"/>
                <a:gd name="connsiteX4" fmla="*/ 600891 w 953589"/>
                <a:gd name="connsiteY4" fmla="*/ 143691 h 300446"/>
                <a:gd name="connsiteX5" fmla="*/ 561703 w 953589"/>
                <a:gd name="connsiteY5" fmla="*/ 156754 h 300446"/>
                <a:gd name="connsiteX6" fmla="*/ 509451 w 953589"/>
                <a:gd name="connsiteY6" fmla="*/ 169817 h 300446"/>
                <a:gd name="connsiteX7" fmla="*/ 470263 w 953589"/>
                <a:gd name="connsiteY7" fmla="*/ 182880 h 300446"/>
                <a:gd name="connsiteX8" fmla="*/ 248194 w 953589"/>
                <a:gd name="connsiteY8" fmla="*/ 195943 h 300446"/>
                <a:gd name="connsiteX9" fmla="*/ 156754 w 953589"/>
                <a:gd name="connsiteY9" fmla="*/ 222068 h 300446"/>
                <a:gd name="connsiteX10" fmla="*/ 78377 w 953589"/>
                <a:gd name="connsiteY10" fmla="*/ 274320 h 300446"/>
                <a:gd name="connsiteX11" fmla="*/ 39189 w 953589"/>
                <a:gd name="connsiteY11" fmla="*/ 300446 h 300446"/>
                <a:gd name="connsiteX12" fmla="*/ 0 w 953589"/>
                <a:gd name="connsiteY12" fmla="*/ 300446 h 30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3589" h="300446">
                  <a:moveTo>
                    <a:pt x="953589" y="0"/>
                  </a:moveTo>
                  <a:cubicBezTo>
                    <a:pt x="927463" y="4354"/>
                    <a:pt x="899660" y="2876"/>
                    <a:pt x="875211" y="13063"/>
                  </a:cubicBezTo>
                  <a:cubicBezTo>
                    <a:pt x="875202" y="13067"/>
                    <a:pt x="777244" y="78374"/>
                    <a:pt x="757646" y="91440"/>
                  </a:cubicBezTo>
                  <a:cubicBezTo>
                    <a:pt x="744583" y="100149"/>
                    <a:pt x="733852" y="114487"/>
                    <a:pt x="718457" y="117566"/>
                  </a:cubicBezTo>
                  <a:cubicBezTo>
                    <a:pt x="673558" y="126545"/>
                    <a:pt x="643939" y="131391"/>
                    <a:pt x="600891" y="143691"/>
                  </a:cubicBezTo>
                  <a:cubicBezTo>
                    <a:pt x="587652" y="147474"/>
                    <a:pt x="574942" y="152971"/>
                    <a:pt x="561703" y="156754"/>
                  </a:cubicBezTo>
                  <a:cubicBezTo>
                    <a:pt x="544440" y="161686"/>
                    <a:pt x="526714" y="164885"/>
                    <a:pt x="509451" y="169817"/>
                  </a:cubicBezTo>
                  <a:cubicBezTo>
                    <a:pt x="496212" y="173600"/>
                    <a:pt x="483964" y="181510"/>
                    <a:pt x="470263" y="182880"/>
                  </a:cubicBezTo>
                  <a:cubicBezTo>
                    <a:pt x="396480" y="190258"/>
                    <a:pt x="322217" y="191589"/>
                    <a:pt x="248194" y="195943"/>
                  </a:cubicBezTo>
                  <a:cubicBezTo>
                    <a:pt x="235902" y="199016"/>
                    <a:pt x="172082" y="213553"/>
                    <a:pt x="156754" y="222068"/>
                  </a:cubicBezTo>
                  <a:cubicBezTo>
                    <a:pt x="129306" y="237317"/>
                    <a:pt x="104503" y="256903"/>
                    <a:pt x="78377" y="274320"/>
                  </a:cubicBezTo>
                  <a:cubicBezTo>
                    <a:pt x="65314" y="283029"/>
                    <a:pt x="54888" y="300446"/>
                    <a:pt x="39189" y="300446"/>
                  </a:cubicBezTo>
                  <a:lnTo>
                    <a:pt x="0" y="300446"/>
                  </a:lnTo>
                </a:path>
              </a:pathLst>
            </a:cu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4" name="Group 33"/>
          <p:cNvGrpSpPr/>
          <p:nvPr/>
        </p:nvGrpSpPr>
        <p:grpSpPr>
          <a:xfrm>
            <a:off x="8038011" y="4265023"/>
            <a:ext cx="953589" cy="1373777"/>
            <a:chOff x="8038011" y="4265023"/>
            <a:chExt cx="953589" cy="1373777"/>
          </a:xfrm>
        </p:grpSpPr>
        <p:cxnSp>
          <p:nvCxnSpPr>
            <p:cNvPr id="28" name="Straight Connector 27"/>
            <p:cNvCxnSpPr/>
            <p:nvPr/>
          </p:nvCxnSpPr>
          <p:spPr>
            <a:xfrm flipH="1">
              <a:off x="8077200" y="4267200"/>
              <a:ext cx="0" cy="1371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28"/>
            <p:cNvSpPr/>
            <p:nvPr/>
          </p:nvSpPr>
          <p:spPr>
            <a:xfrm flipH="1">
              <a:off x="8038011" y="4265023"/>
              <a:ext cx="953589" cy="300446"/>
            </a:xfrm>
            <a:custGeom>
              <a:avLst/>
              <a:gdLst>
                <a:gd name="connsiteX0" fmla="*/ 953589 w 953589"/>
                <a:gd name="connsiteY0" fmla="*/ 0 h 300446"/>
                <a:gd name="connsiteX1" fmla="*/ 875211 w 953589"/>
                <a:gd name="connsiteY1" fmla="*/ 13063 h 300446"/>
                <a:gd name="connsiteX2" fmla="*/ 757646 w 953589"/>
                <a:gd name="connsiteY2" fmla="*/ 91440 h 300446"/>
                <a:gd name="connsiteX3" fmla="*/ 718457 w 953589"/>
                <a:gd name="connsiteY3" fmla="*/ 117566 h 300446"/>
                <a:gd name="connsiteX4" fmla="*/ 600891 w 953589"/>
                <a:gd name="connsiteY4" fmla="*/ 143691 h 300446"/>
                <a:gd name="connsiteX5" fmla="*/ 561703 w 953589"/>
                <a:gd name="connsiteY5" fmla="*/ 156754 h 300446"/>
                <a:gd name="connsiteX6" fmla="*/ 509451 w 953589"/>
                <a:gd name="connsiteY6" fmla="*/ 169817 h 300446"/>
                <a:gd name="connsiteX7" fmla="*/ 470263 w 953589"/>
                <a:gd name="connsiteY7" fmla="*/ 182880 h 300446"/>
                <a:gd name="connsiteX8" fmla="*/ 248194 w 953589"/>
                <a:gd name="connsiteY8" fmla="*/ 195943 h 300446"/>
                <a:gd name="connsiteX9" fmla="*/ 156754 w 953589"/>
                <a:gd name="connsiteY9" fmla="*/ 222068 h 300446"/>
                <a:gd name="connsiteX10" fmla="*/ 78377 w 953589"/>
                <a:gd name="connsiteY10" fmla="*/ 274320 h 300446"/>
                <a:gd name="connsiteX11" fmla="*/ 39189 w 953589"/>
                <a:gd name="connsiteY11" fmla="*/ 300446 h 300446"/>
                <a:gd name="connsiteX12" fmla="*/ 0 w 953589"/>
                <a:gd name="connsiteY12" fmla="*/ 300446 h 30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3589" h="300446">
                  <a:moveTo>
                    <a:pt x="953589" y="0"/>
                  </a:moveTo>
                  <a:cubicBezTo>
                    <a:pt x="927463" y="4354"/>
                    <a:pt x="899660" y="2876"/>
                    <a:pt x="875211" y="13063"/>
                  </a:cubicBezTo>
                  <a:cubicBezTo>
                    <a:pt x="875202" y="13067"/>
                    <a:pt x="777244" y="78374"/>
                    <a:pt x="757646" y="91440"/>
                  </a:cubicBezTo>
                  <a:cubicBezTo>
                    <a:pt x="744583" y="100149"/>
                    <a:pt x="733852" y="114487"/>
                    <a:pt x="718457" y="117566"/>
                  </a:cubicBezTo>
                  <a:cubicBezTo>
                    <a:pt x="673558" y="126545"/>
                    <a:pt x="643939" y="131391"/>
                    <a:pt x="600891" y="143691"/>
                  </a:cubicBezTo>
                  <a:cubicBezTo>
                    <a:pt x="587652" y="147474"/>
                    <a:pt x="574942" y="152971"/>
                    <a:pt x="561703" y="156754"/>
                  </a:cubicBezTo>
                  <a:cubicBezTo>
                    <a:pt x="544440" y="161686"/>
                    <a:pt x="526714" y="164885"/>
                    <a:pt x="509451" y="169817"/>
                  </a:cubicBezTo>
                  <a:cubicBezTo>
                    <a:pt x="496212" y="173600"/>
                    <a:pt x="483964" y="181510"/>
                    <a:pt x="470263" y="182880"/>
                  </a:cubicBezTo>
                  <a:cubicBezTo>
                    <a:pt x="396480" y="190258"/>
                    <a:pt x="322217" y="191589"/>
                    <a:pt x="248194" y="195943"/>
                  </a:cubicBezTo>
                  <a:cubicBezTo>
                    <a:pt x="235902" y="199016"/>
                    <a:pt x="172082" y="213553"/>
                    <a:pt x="156754" y="222068"/>
                  </a:cubicBezTo>
                  <a:cubicBezTo>
                    <a:pt x="129306" y="237317"/>
                    <a:pt x="104503" y="256903"/>
                    <a:pt x="78377" y="274320"/>
                  </a:cubicBezTo>
                  <a:cubicBezTo>
                    <a:pt x="65314" y="283029"/>
                    <a:pt x="54888" y="300446"/>
                    <a:pt x="39189" y="300446"/>
                  </a:cubicBezTo>
                  <a:lnTo>
                    <a:pt x="0" y="300446"/>
                  </a:lnTo>
                </a:path>
              </a:pathLst>
            </a:cu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5" name="Group 34"/>
          <p:cNvGrpSpPr/>
          <p:nvPr/>
        </p:nvGrpSpPr>
        <p:grpSpPr>
          <a:xfrm>
            <a:off x="4572000" y="4191000"/>
            <a:ext cx="152400" cy="1371600"/>
            <a:chOff x="4572000" y="4191000"/>
            <a:chExt cx="152400" cy="1371600"/>
          </a:xfrm>
        </p:grpSpPr>
        <p:cxnSp>
          <p:nvCxnSpPr>
            <p:cNvPr id="30" name="Straight Connector 29"/>
            <p:cNvCxnSpPr/>
            <p:nvPr/>
          </p:nvCxnSpPr>
          <p:spPr>
            <a:xfrm flipH="1">
              <a:off x="4572000" y="4191000"/>
              <a:ext cx="0" cy="1371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Freeform 30"/>
            <p:cNvSpPr/>
            <p:nvPr/>
          </p:nvSpPr>
          <p:spPr>
            <a:xfrm flipH="1">
              <a:off x="4572000" y="4191000"/>
              <a:ext cx="152400" cy="457200"/>
            </a:xfrm>
            <a:custGeom>
              <a:avLst/>
              <a:gdLst>
                <a:gd name="connsiteX0" fmla="*/ 953589 w 953589"/>
                <a:gd name="connsiteY0" fmla="*/ 0 h 300446"/>
                <a:gd name="connsiteX1" fmla="*/ 875211 w 953589"/>
                <a:gd name="connsiteY1" fmla="*/ 13063 h 300446"/>
                <a:gd name="connsiteX2" fmla="*/ 757646 w 953589"/>
                <a:gd name="connsiteY2" fmla="*/ 91440 h 300446"/>
                <a:gd name="connsiteX3" fmla="*/ 718457 w 953589"/>
                <a:gd name="connsiteY3" fmla="*/ 117566 h 300446"/>
                <a:gd name="connsiteX4" fmla="*/ 600891 w 953589"/>
                <a:gd name="connsiteY4" fmla="*/ 143691 h 300446"/>
                <a:gd name="connsiteX5" fmla="*/ 561703 w 953589"/>
                <a:gd name="connsiteY5" fmla="*/ 156754 h 300446"/>
                <a:gd name="connsiteX6" fmla="*/ 509451 w 953589"/>
                <a:gd name="connsiteY6" fmla="*/ 169817 h 300446"/>
                <a:gd name="connsiteX7" fmla="*/ 470263 w 953589"/>
                <a:gd name="connsiteY7" fmla="*/ 182880 h 300446"/>
                <a:gd name="connsiteX8" fmla="*/ 248194 w 953589"/>
                <a:gd name="connsiteY8" fmla="*/ 195943 h 300446"/>
                <a:gd name="connsiteX9" fmla="*/ 156754 w 953589"/>
                <a:gd name="connsiteY9" fmla="*/ 222068 h 300446"/>
                <a:gd name="connsiteX10" fmla="*/ 78377 w 953589"/>
                <a:gd name="connsiteY10" fmla="*/ 274320 h 300446"/>
                <a:gd name="connsiteX11" fmla="*/ 39189 w 953589"/>
                <a:gd name="connsiteY11" fmla="*/ 300446 h 300446"/>
                <a:gd name="connsiteX12" fmla="*/ 0 w 953589"/>
                <a:gd name="connsiteY12" fmla="*/ 300446 h 30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3589" h="300446">
                  <a:moveTo>
                    <a:pt x="953589" y="0"/>
                  </a:moveTo>
                  <a:cubicBezTo>
                    <a:pt x="927463" y="4354"/>
                    <a:pt x="899660" y="2876"/>
                    <a:pt x="875211" y="13063"/>
                  </a:cubicBezTo>
                  <a:cubicBezTo>
                    <a:pt x="875202" y="13067"/>
                    <a:pt x="777244" y="78374"/>
                    <a:pt x="757646" y="91440"/>
                  </a:cubicBezTo>
                  <a:cubicBezTo>
                    <a:pt x="744583" y="100149"/>
                    <a:pt x="733852" y="114487"/>
                    <a:pt x="718457" y="117566"/>
                  </a:cubicBezTo>
                  <a:cubicBezTo>
                    <a:pt x="673558" y="126545"/>
                    <a:pt x="643939" y="131391"/>
                    <a:pt x="600891" y="143691"/>
                  </a:cubicBezTo>
                  <a:cubicBezTo>
                    <a:pt x="587652" y="147474"/>
                    <a:pt x="574942" y="152971"/>
                    <a:pt x="561703" y="156754"/>
                  </a:cubicBezTo>
                  <a:cubicBezTo>
                    <a:pt x="544440" y="161686"/>
                    <a:pt x="526714" y="164885"/>
                    <a:pt x="509451" y="169817"/>
                  </a:cubicBezTo>
                  <a:cubicBezTo>
                    <a:pt x="496212" y="173600"/>
                    <a:pt x="483964" y="181510"/>
                    <a:pt x="470263" y="182880"/>
                  </a:cubicBezTo>
                  <a:cubicBezTo>
                    <a:pt x="396480" y="190258"/>
                    <a:pt x="322217" y="191589"/>
                    <a:pt x="248194" y="195943"/>
                  </a:cubicBezTo>
                  <a:cubicBezTo>
                    <a:pt x="235902" y="199016"/>
                    <a:pt x="172082" y="213553"/>
                    <a:pt x="156754" y="222068"/>
                  </a:cubicBezTo>
                  <a:cubicBezTo>
                    <a:pt x="129306" y="237317"/>
                    <a:pt x="104503" y="256903"/>
                    <a:pt x="78377" y="274320"/>
                  </a:cubicBezTo>
                  <a:cubicBezTo>
                    <a:pt x="65314" y="283029"/>
                    <a:pt x="54888" y="300446"/>
                    <a:pt x="39189" y="300446"/>
                  </a:cubicBezTo>
                  <a:lnTo>
                    <a:pt x="0" y="300446"/>
                  </a:lnTo>
                </a:path>
              </a:pathLst>
            </a:cu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2" name="TextBox 31"/>
          <p:cNvSpPr txBox="1"/>
          <p:nvPr/>
        </p:nvSpPr>
        <p:spPr>
          <a:xfrm>
            <a:off x="3200400" y="5638800"/>
            <a:ext cx="2745432" cy="523220"/>
          </a:xfrm>
          <a:prstGeom prst="rect">
            <a:avLst/>
          </a:prstGeom>
          <a:noFill/>
        </p:spPr>
        <p:txBody>
          <a:bodyPr wrap="none" rtlCol="0">
            <a:spAutoFit/>
          </a:bodyPr>
          <a:lstStyle/>
          <a:p>
            <a:r>
              <a:rPr lang="en-US" sz="2800" b="1" dirty="0" smtClean="0"/>
              <a:t>Coordinated turn</a:t>
            </a:r>
            <a:endParaRPr 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1+#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1+#ppt_w/2"/>
                                          </p:val>
                                        </p:tav>
                                        <p:tav tm="100000">
                                          <p:val>
                                            <p:strVal val="#ppt_x"/>
                                          </p:val>
                                        </p:tav>
                                      </p:tavLst>
                                    </p:anim>
                                    <p:anim calcmode="lin" valueType="num">
                                      <p:cBhvr additive="base">
                                        <p:cTn id="12"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1+#ppt_w/2"/>
                                          </p:val>
                                        </p:tav>
                                        <p:tav tm="100000">
                                          <p:val>
                                            <p:strVal val="#ppt_x"/>
                                          </p:val>
                                        </p:tav>
                                      </p:tavLst>
                                    </p:anim>
                                    <p:anim calcmode="lin" valueType="num">
                                      <p:cBhvr additive="base">
                                        <p:cTn id="18" dur="500" fill="hold"/>
                                        <p:tgtEl>
                                          <p:spTgt spid="24"/>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1+#ppt_w/2"/>
                                          </p:val>
                                        </p:tav>
                                        <p:tav tm="100000">
                                          <p:val>
                                            <p:strVal val="#ppt_x"/>
                                          </p:val>
                                        </p:tav>
                                      </p:tavLst>
                                    </p:anim>
                                    <p:anim calcmode="lin" valueType="num">
                                      <p:cBhvr additive="base">
                                        <p:cTn id="22"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ppt_x"/>
                                          </p:val>
                                        </p:tav>
                                        <p:tav tm="100000">
                                          <p:val>
                                            <p:strVal val="#ppt_x"/>
                                          </p:val>
                                        </p:tav>
                                      </p:tavLst>
                                    </p:anim>
                                    <p:anim calcmode="lin" valueType="num">
                                      <p:cBhvr additive="base">
                                        <p:cTn id="28" dur="500" fill="hold"/>
                                        <p:tgtEl>
                                          <p:spTgt spid="3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34"/>
          <p:cNvSpPr/>
          <p:nvPr/>
        </p:nvSpPr>
        <p:spPr>
          <a:xfrm>
            <a:off x="300446" y="1524000"/>
            <a:ext cx="7785463" cy="3905795"/>
          </a:xfrm>
          <a:custGeom>
            <a:avLst/>
            <a:gdLst>
              <a:gd name="connsiteX0" fmla="*/ 0 w 7785463"/>
              <a:gd name="connsiteY0" fmla="*/ 0 h 3905795"/>
              <a:gd name="connsiteX1" fmla="*/ 6113417 w 7785463"/>
              <a:gd name="connsiteY1" fmla="*/ 13063 h 3905795"/>
              <a:gd name="connsiteX2" fmla="*/ 6884125 w 7785463"/>
              <a:gd name="connsiteY2" fmla="*/ 326572 h 3905795"/>
              <a:gd name="connsiteX3" fmla="*/ 7432765 w 7785463"/>
              <a:gd name="connsiteY3" fmla="*/ 901337 h 3905795"/>
              <a:gd name="connsiteX4" fmla="*/ 7694023 w 7785463"/>
              <a:gd name="connsiteY4" fmla="*/ 1541417 h 3905795"/>
              <a:gd name="connsiteX5" fmla="*/ 7785463 w 7785463"/>
              <a:gd name="connsiteY5" fmla="*/ 2259875 h 3905795"/>
              <a:gd name="connsiteX6" fmla="*/ 7654834 w 7785463"/>
              <a:gd name="connsiteY6" fmla="*/ 2847703 h 3905795"/>
              <a:gd name="connsiteX7" fmla="*/ 7210697 w 7785463"/>
              <a:gd name="connsiteY7" fmla="*/ 3396343 h 3905795"/>
              <a:gd name="connsiteX8" fmla="*/ 6662057 w 7785463"/>
              <a:gd name="connsiteY8" fmla="*/ 3801292 h 3905795"/>
              <a:gd name="connsiteX9" fmla="*/ 6322423 w 7785463"/>
              <a:gd name="connsiteY9" fmla="*/ 3905795 h 3905795"/>
              <a:gd name="connsiteX10" fmla="*/ 13063 w 7785463"/>
              <a:gd name="connsiteY10" fmla="*/ 3905795 h 3905795"/>
              <a:gd name="connsiteX11" fmla="*/ 13063 w 7785463"/>
              <a:gd name="connsiteY11" fmla="*/ 3905795 h 390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85463" h="3905795">
                <a:moveTo>
                  <a:pt x="0" y="0"/>
                </a:moveTo>
                <a:lnTo>
                  <a:pt x="6113417" y="13063"/>
                </a:lnTo>
                <a:lnTo>
                  <a:pt x="6884125" y="326572"/>
                </a:lnTo>
                <a:lnTo>
                  <a:pt x="7432765" y="901337"/>
                </a:lnTo>
                <a:lnTo>
                  <a:pt x="7694023" y="1541417"/>
                </a:lnTo>
                <a:lnTo>
                  <a:pt x="7785463" y="2259875"/>
                </a:lnTo>
                <a:lnTo>
                  <a:pt x="7654834" y="2847703"/>
                </a:lnTo>
                <a:lnTo>
                  <a:pt x="7210697" y="3396343"/>
                </a:lnTo>
                <a:lnTo>
                  <a:pt x="6662057" y="3801292"/>
                </a:lnTo>
                <a:lnTo>
                  <a:pt x="6322423" y="3905795"/>
                </a:lnTo>
                <a:lnTo>
                  <a:pt x="13063" y="3905795"/>
                </a:lnTo>
                <a:lnTo>
                  <a:pt x="13063" y="3905795"/>
                </a:lnTo>
              </a:path>
            </a:pathLst>
          </a:custGeom>
          <a:ln w="762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Turn  </a:t>
            </a:r>
            <a:endParaRPr lang="en-US" sz="3600" b="1" dirty="0">
              <a:effectLst>
                <a:outerShdw blurRad="38100" dist="38100" dir="2700000" algn="tl">
                  <a:srgbClr val="000000">
                    <a:alpha val="43137"/>
                  </a:srgbClr>
                </a:outerShdw>
              </a:effectLst>
            </a:endParaRPr>
          </a:p>
        </p:txBody>
      </p:sp>
      <p:pic>
        <p:nvPicPr>
          <p:cNvPr id="3074" name="Picture 2" descr="C:\Users\cosievert\Documents\MSFC\clean.jpg"/>
          <p:cNvPicPr>
            <a:picLocks noChangeAspect="1" noChangeArrowheads="1"/>
          </p:cNvPicPr>
          <p:nvPr/>
        </p:nvPicPr>
        <p:blipFill>
          <a:blip r:embed="rId4" cstate="print"/>
          <a:srcRect/>
          <a:stretch>
            <a:fillRect/>
          </a:stretch>
        </p:blipFill>
        <p:spPr bwMode="auto">
          <a:xfrm rot="5400000">
            <a:off x="1373364" y="988836"/>
            <a:ext cx="1905000" cy="1146528"/>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34" name="Picture 2" descr="C:\Users\cosievert\Documents\MSFC\clean.jpg"/>
          <p:cNvPicPr>
            <a:picLocks noChangeAspect="1" noChangeArrowheads="1"/>
          </p:cNvPicPr>
          <p:nvPr/>
        </p:nvPicPr>
        <p:blipFill>
          <a:blip r:embed="rId4" cstate="print"/>
          <a:srcRect/>
          <a:stretch>
            <a:fillRect/>
          </a:stretch>
        </p:blipFill>
        <p:spPr bwMode="auto">
          <a:xfrm rot="6487220">
            <a:off x="5679774" y="1043690"/>
            <a:ext cx="1905000" cy="1146528"/>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36" name="Picture 2" descr="C:\Users\cosievert\Documents\MSFC\clean.jpg"/>
          <p:cNvPicPr>
            <a:picLocks noChangeAspect="1" noChangeArrowheads="1"/>
          </p:cNvPicPr>
          <p:nvPr/>
        </p:nvPicPr>
        <p:blipFill>
          <a:blip r:embed="rId4" cstate="print"/>
          <a:srcRect/>
          <a:stretch>
            <a:fillRect/>
          </a:stretch>
        </p:blipFill>
        <p:spPr bwMode="auto">
          <a:xfrm rot="10800000">
            <a:off x="7086600" y="2667000"/>
            <a:ext cx="1905000" cy="1146528"/>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37" name="Picture 2" descr="C:\Users\cosievert\Documents\MSFC\clean.jpg"/>
          <p:cNvPicPr>
            <a:picLocks noChangeAspect="1" noChangeArrowheads="1"/>
          </p:cNvPicPr>
          <p:nvPr/>
        </p:nvPicPr>
        <p:blipFill>
          <a:blip r:embed="rId4" cstate="print"/>
          <a:srcRect/>
          <a:stretch>
            <a:fillRect/>
          </a:stretch>
        </p:blipFill>
        <p:spPr bwMode="auto">
          <a:xfrm rot="13947530">
            <a:off x="5873638" y="4493696"/>
            <a:ext cx="1905000" cy="1146528"/>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38" name="Picture 2" descr="C:\Users\cosievert\Documents\MSFC\clean.jpg"/>
          <p:cNvPicPr>
            <a:picLocks noChangeAspect="1" noChangeArrowheads="1"/>
          </p:cNvPicPr>
          <p:nvPr/>
        </p:nvPicPr>
        <p:blipFill>
          <a:blip r:embed="rId4" cstate="print"/>
          <a:srcRect/>
          <a:stretch>
            <a:fillRect/>
          </a:stretch>
        </p:blipFill>
        <p:spPr bwMode="auto">
          <a:xfrm rot="16200000">
            <a:off x="1525764" y="4722636"/>
            <a:ext cx="1905000" cy="1146528"/>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40" name="TextBox 39"/>
          <p:cNvSpPr txBox="1"/>
          <p:nvPr/>
        </p:nvSpPr>
        <p:spPr>
          <a:xfrm>
            <a:off x="1447800" y="3124200"/>
            <a:ext cx="2883033" cy="553998"/>
          </a:xfrm>
          <a:prstGeom prst="rect">
            <a:avLst/>
          </a:prstGeom>
          <a:noFill/>
          <a:ln>
            <a:solidFill>
              <a:schemeClr val="tx1"/>
            </a:solidFill>
          </a:ln>
        </p:spPr>
        <p:txBody>
          <a:bodyPr wrap="none" rtlCol="0">
            <a:spAutoFit/>
          </a:bodyPr>
          <a:lstStyle/>
          <a:p>
            <a:r>
              <a:rPr lang="en-US" sz="3000" dirty="0" smtClean="0"/>
              <a:t>Straight and level</a:t>
            </a:r>
            <a:endParaRPr lang="en-US" sz="3000" dirty="0"/>
          </a:p>
        </p:txBody>
      </p:sp>
      <p:cxnSp>
        <p:nvCxnSpPr>
          <p:cNvPr id="42" name="Straight Connector 41"/>
          <p:cNvCxnSpPr/>
          <p:nvPr/>
        </p:nvCxnSpPr>
        <p:spPr>
          <a:xfrm>
            <a:off x="1981200" y="2438400"/>
            <a:ext cx="0" cy="685800"/>
          </a:xfrm>
          <a:prstGeom prst="line">
            <a:avLst/>
          </a:prstGeom>
          <a:ln w="28575">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447800" y="3124200"/>
            <a:ext cx="3847848" cy="553998"/>
          </a:xfrm>
          <a:prstGeom prst="rect">
            <a:avLst/>
          </a:prstGeom>
          <a:noFill/>
          <a:ln>
            <a:solidFill>
              <a:schemeClr val="tx1"/>
            </a:solidFill>
          </a:ln>
        </p:spPr>
        <p:txBody>
          <a:bodyPr wrap="none" rtlCol="0">
            <a:spAutoFit/>
          </a:bodyPr>
          <a:lstStyle/>
          <a:p>
            <a:r>
              <a:rPr lang="en-US" sz="3000" dirty="0" smtClean="0"/>
              <a:t>Roll in: aileron + rudder</a:t>
            </a:r>
            <a:endParaRPr lang="en-US" sz="3000" dirty="0"/>
          </a:p>
        </p:txBody>
      </p:sp>
      <p:cxnSp>
        <p:nvCxnSpPr>
          <p:cNvPr id="44" name="Straight Connector 43"/>
          <p:cNvCxnSpPr/>
          <p:nvPr/>
        </p:nvCxnSpPr>
        <p:spPr>
          <a:xfrm flipH="1">
            <a:off x="5257800" y="2286000"/>
            <a:ext cx="762000" cy="838200"/>
          </a:xfrm>
          <a:prstGeom prst="line">
            <a:avLst/>
          </a:prstGeom>
          <a:ln w="28575">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838200" y="3124200"/>
            <a:ext cx="5410200" cy="553998"/>
          </a:xfrm>
          <a:prstGeom prst="rect">
            <a:avLst/>
          </a:prstGeom>
          <a:noFill/>
          <a:ln>
            <a:solidFill>
              <a:schemeClr val="tx1"/>
            </a:solidFill>
          </a:ln>
        </p:spPr>
        <p:txBody>
          <a:bodyPr wrap="square" rtlCol="0">
            <a:spAutoFit/>
          </a:bodyPr>
          <a:lstStyle/>
          <a:p>
            <a:r>
              <a:rPr lang="en-US" sz="3000" dirty="0" smtClean="0"/>
              <a:t>In the turn: bank + back pressure</a:t>
            </a:r>
            <a:endParaRPr lang="en-US" sz="3000" dirty="0"/>
          </a:p>
        </p:txBody>
      </p:sp>
      <p:sp>
        <p:nvSpPr>
          <p:cNvPr id="51" name="TextBox 50"/>
          <p:cNvSpPr txBox="1"/>
          <p:nvPr/>
        </p:nvSpPr>
        <p:spPr>
          <a:xfrm>
            <a:off x="1447800" y="3124200"/>
            <a:ext cx="4091505" cy="553998"/>
          </a:xfrm>
          <a:prstGeom prst="rect">
            <a:avLst/>
          </a:prstGeom>
          <a:noFill/>
          <a:ln>
            <a:solidFill>
              <a:schemeClr val="tx1"/>
            </a:solidFill>
          </a:ln>
        </p:spPr>
        <p:txBody>
          <a:bodyPr wrap="none" rtlCol="0">
            <a:spAutoFit/>
          </a:bodyPr>
          <a:lstStyle/>
          <a:p>
            <a:r>
              <a:rPr lang="en-US" sz="3000" dirty="0" smtClean="0"/>
              <a:t>Roll out: aileron + rudder</a:t>
            </a:r>
            <a:endParaRPr lang="en-US" sz="3000" dirty="0"/>
          </a:p>
        </p:txBody>
      </p:sp>
      <p:cxnSp>
        <p:nvCxnSpPr>
          <p:cNvPr id="53" name="Straight Connector 52"/>
          <p:cNvCxnSpPr/>
          <p:nvPr/>
        </p:nvCxnSpPr>
        <p:spPr>
          <a:xfrm flipH="1">
            <a:off x="6248400" y="3352800"/>
            <a:ext cx="990600" cy="0"/>
          </a:xfrm>
          <a:prstGeom prst="line">
            <a:avLst/>
          </a:prstGeom>
          <a:ln w="28575">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flipV="1">
            <a:off x="5257800" y="3657600"/>
            <a:ext cx="914400" cy="762000"/>
          </a:xfrm>
          <a:prstGeom prst="line">
            <a:avLst/>
          </a:prstGeom>
          <a:ln w="28575">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2286000" y="3657600"/>
            <a:ext cx="0" cy="762000"/>
          </a:xfrm>
          <a:prstGeom prst="line">
            <a:avLst/>
          </a:prstGeom>
          <a:ln w="28575">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3074"/>
                                        </p:tgtEl>
                                      </p:cBhvr>
                                    </p:animEffect>
                                    <p:set>
                                      <p:cBhvr>
                                        <p:cTn id="7" dur="1" fill="hold">
                                          <p:stCondLst>
                                            <p:cond delay="499"/>
                                          </p:stCondLst>
                                        </p:cTn>
                                        <p:tgtEl>
                                          <p:spTgt spid="3074"/>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42"/>
                                        </p:tgtEl>
                                      </p:cBhvr>
                                    </p:animEffect>
                                    <p:set>
                                      <p:cBhvr>
                                        <p:cTn id="10" dur="1" fill="hold">
                                          <p:stCondLst>
                                            <p:cond delay="499"/>
                                          </p:stCondLst>
                                        </p:cTn>
                                        <p:tgtEl>
                                          <p:spTgt spid="42"/>
                                        </p:tgtEl>
                                        <p:attrNameLst>
                                          <p:attrName>style.visibility</p:attrName>
                                        </p:attrNameLst>
                                      </p:cBhvr>
                                      <p:to>
                                        <p:strVal val="hidden"/>
                                      </p:to>
                                    </p:set>
                                  </p:childTnLst>
                                </p:cTn>
                              </p:par>
                              <p:par>
                                <p:cTn id="11" presetID="9" presetClass="exit" presetSubtype="0" fill="hold" grpId="0" nodeType="withEffect">
                                  <p:stCondLst>
                                    <p:cond delay="0"/>
                                  </p:stCondLst>
                                  <p:childTnLst>
                                    <p:animEffect transition="out" filter="dissolve">
                                      <p:cBhvr>
                                        <p:cTn id="12" dur="500"/>
                                        <p:tgtEl>
                                          <p:spTgt spid="40"/>
                                        </p:tgtEl>
                                      </p:cBhvr>
                                    </p:animEffect>
                                    <p:set>
                                      <p:cBhvr>
                                        <p:cTn id="13" dur="1" fill="hold">
                                          <p:stCondLst>
                                            <p:cond delay="499"/>
                                          </p:stCondLst>
                                        </p:cTn>
                                        <p:tgtEl>
                                          <p:spTgt spid="40"/>
                                        </p:tgtEl>
                                        <p:attrNameLst>
                                          <p:attrName>style.visibility</p:attrName>
                                        </p:attrNameLst>
                                      </p:cBhvr>
                                      <p:to>
                                        <p:strVal val="hidden"/>
                                      </p:to>
                                    </p:set>
                                  </p:childTnLst>
                                </p:cTn>
                              </p:par>
                              <p:par>
                                <p:cTn id="14" presetID="9" presetClass="entr" presetSubtype="0" fill="hold" grpId="0"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dissolve">
                                      <p:cBhvr>
                                        <p:cTn id="16" dur="500"/>
                                        <p:tgtEl>
                                          <p:spTgt spid="43"/>
                                        </p:tgtEl>
                                      </p:cBhvr>
                                    </p:animEffect>
                                  </p:childTnLst>
                                </p:cTn>
                              </p:par>
                              <p:par>
                                <p:cTn id="17" presetID="9"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dissolve">
                                      <p:cBhvr>
                                        <p:cTn id="19" dur="500"/>
                                        <p:tgtEl>
                                          <p:spTgt spid="44"/>
                                        </p:tgtEl>
                                      </p:cBhvr>
                                    </p:animEffect>
                                  </p:childTnLst>
                                </p:cTn>
                              </p:par>
                              <p:par>
                                <p:cTn id="20" presetID="9" presetClass="entr" presetSubtype="0" fill="hold"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dissolv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1" nodeType="clickEffect">
                                  <p:stCondLst>
                                    <p:cond delay="0"/>
                                  </p:stCondLst>
                                  <p:childTnLst>
                                    <p:animEffect transition="out" filter="dissolve">
                                      <p:cBhvr>
                                        <p:cTn id="26" dur="500"/>
                                        <p:tgtEl>
                                          <p:spTgt spid="43"/>
                                        </p:tgtEl>
                                      </p:cBhvr>
                                    </p:animEffect>
                                    <p:set>
                                      <p:cBhvr>
                                        <p:cTn id="27" dur="1" fill="hold">
                                          <p:stCondLst>
                                            <p:cond delay="499"/>
                                          </p:stCondLst>
                                        </p:cTn>
                                        <p:tgtEl>
                                          <p:spTgt spid="43"/>
                                        </p:tgtEl>
                                        <p:attrNameLst>
                                          <p:attrName>style.visibility</p:attrName>
                                        </p:attrNameLst>
                                      </p:cBhvr>
                                      <p:to>
                                        <p:strVal val="hidden"/>
                                      </p:to>
                                    </p:set>
                                  </p:childTnLst>
                                </p:cTn>
                              </p:par>
                              <p:par>
                                <p:cTn id="28" presetID="9" presetClass="exit" presetSubtype="0" fill="hold" nodeType="withEffect">
                                  <p:stCondLst>
                                    <p:cond delay="0"/>
                                  </p:stCondLst>
                                  <p:childTnLst>
                                    <p:animEffect transition="out" filter="dissolve">
                                      <p:cBhvr>
                                        <p:cTn id="29" dur="500"/>
                                        <p:tgtEl>
                                          <p:spTgt spid="44"/>
                                        </p:tgtEl>
                                      </p:cBhvr>
                                    </p:animEffect>
                                    <p:set>
                                      <p:cBhvr>
                                        <p:cTn id="30" dur="1" fill="hold">
                                          <p:stCondLst>
                                            <p:cond delay="499"/>
                                          </p:stCondLst>
                                        </p:cTn>
                                        <p:tgtEl>
                                          <p:spTgt spid="44"/>
                                        </p:tgtEl>
                                        <p:attrNameLst>
                                          <p:attrName>style.visibility</p:attrName>
                                        </p:attrNameLst>
                                      </p:cBhvr>
                                      <p:to>
                                        <p:strVal val="hidden"/>
                                      </p:to>
                                    </p:set>
                                  </p:childTnLst>
                                </p:cTn>
                              </p:par>
                              <p:par>
                                <p:cTn id="31" presetID="9" presetClass="exit" presetSubtype="0" fill="hold" nodeType="withEffect">
                                  <p:stCondLst>
                                    <p:cond delay="0"/>
                                  </p:stCondLst>
                                  <p:childTnLst>
                                    <p:animEffect transition="out" filter="dissolve">
                                      <p:cBhvr>
                                        <p:cTn id="32" dur="500"/>
                                        <p:tgtEl>
                                          <p:spTgt spid="34"/>
                                        </p:tgtEl>
                                      </p:cBhvr>
                                    </p:animEffect>
                                    <p:set>
                                      <p:cBhvr>
                                        <p:cTn id="33" dur="1" fill="hold">
                                          <p:stCondLst>
                                            <p:cond delay="499"/>
                                          </p:stCondLst>
                                        </p:cTn>
                                        <p:tgtEl>
                                          <p:spTgt spid="34"/>
                                        </p:tgtEl>
                                        <p:attrNameLst>
                                          <p:attrName>style.visibility</p:attrName>
                                        </p:attrNameLst>
                                      </p:cBhvr>
                                      <p:to>
                                        <p:strVal val="hidden"/>
                                      </p:to>
                                    </p:set>
                                  </p:childTnLst>
                                </p:cTn>
                              </p:par>
                              <p:par>
                                <p:cTn id="34" presetID="9" presetClass="entr" presetSubtype="0"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dissolve">
                                      <p:cBhvr>
                                        <p:cTn id="36" dur="500"/>
                                        <p:tgtEl>
                                          <p:spTgt spid="46"/>
                                        </p:tgtEl>
                                      </p:cBhvr>
                                    </p:animEffect>
                                  </p:childTnLst>
                                </p:cTn>
                              </p:par>
                              <p:par>
                                <p:cTn id="37" presetID="9" presetClass="entr" presetSubtype="0" fill="hold" nodeType="with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dissolve">
                                      <p:cBhvr>
                                        <p:cTn id="39" dur="500"/>
                                        <p:tgtEl>
                                          <p:spTgt spid="53"/>
                                        </p:tgtEl>
                                      </p:cBhvr>
                                    </p:animEffect>
                                  </p:childTnLst>
                                </p:cTn>
                              </p:par>
                              <p:par>
                                <p:cTn id="40" presetID="9" presetClass="entr" presetSubtype="0" fill="hold"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dissolve">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1" nodeType="clickEffect">
                                  <p:stCondLst>
                                    <p:cond delay="0"/>
                                  </p:stCondLst>
                                  <p:childTnLst>
                                    <p:animEffect transition="out" filter="dissolve">
                                      <p:cBhvr>
                                        <p:cTn id="46" dur="500"/>
                                        <p:tgtEl>
                                          <p:spTgt spid="46"/>
                                        </p:tgtEl>
                                      </p:cBhvr>
                                    </p:animEffect>
                                    <p:set>
                                      <p:cBhvr>
                                        <p:cTn id="47" dur="1" fill="hold">
                                          <p:stCondLst>
                                            <p:cond delay="499"/>
                                          </p:stCondLst>
                                        </p:cTn>
                                        <p:tgtEl>
                                          <p:spTgt spid="46"/>
                                        </p:tgtEl>
                                        <p:attrNameLst>
                                          <p:attrName>style.visibility</p:attrName>
                                        </p:attrNameLst>
                                      </p:cBhvr>
                                      <p:to>
                                        <p:strVal val="hidden"/>
                                      </p:to>
                                    </p:set>
                                  </p:childTnLst>
                                </p:cTn>
                              </p:par>
                              <p:par>
                                <p:cTn id="48" presetID="9" presetClass="exit" presetSubtype="0" fill="hold" nodeType="withEffect">
                                  <p:stCondLst>
                                    <p:cond delay="0"/>
                                  </p:stCondLst>
                                  <p:childTnLst>
                                    <p:animEffect transition="out" filter="dissolve">
                                      <p:cBhvr>
                                        <p:cTn id="49" dur="500"/>
                                        <p:tgtEl>
                                          <p:spTgt spid="53"/>
                                        </p:tgtEl>
                                      </p:cBhvr>
                                    </p:animEffect>
                                    <p:set>
                                      <p:cBhvr>
                                        <p:cTn id="50" dur="1" fill="hold">
                                          <p:stCondLst>
                                            <p:cond delay="499"/>
                                          </p:stCondLst>
                                        </p:cTn>
                                        <p:tgtEl>
                                          <p:spTgt spid="53"/>
                                        </p:tgtEl>
                                        <p:attrNameLst>
                                          <p:attrName>style.visibility</p:attrName>
                                        </p:attrNameLst>
                                      </p:cBhvr>
                                      <p:to>
                                        <p:strVal val="hidden"/>
                                      </p:to>
                                    </p:set>
                                  </p:childTnLst>
                                </p:cTn>
                              </p:par>
                              <p:par>
                                <p:cTn id="51" presetID="9" presetClass="exit" presetSubtype="0" fill="hold" nodeType="withEffect">
                                  <p:stCondLst>
                                    <p:cond delay="0"/>
                                  </p:stCondLst>
                                  <p:childTnLst>
                                    <p:animEffect transition="out" filter="dissolve">
                                      <p:cBhvr>
                                        <p:cTn id="52" dur="500"/>
                                        <p:tgtEl>
                                          <p:spTgt spid="36"/>
                                        </p:tgtEl>
                                      </p:cBhvr>
                                    </p:animEffect>
                                    <p:set>
                                      <p:cBhvr>
                                        <p:cTn id="53" dur="1" fill="hold">
                                          <p:stCondLst>
                                            <p:cond delay="499"/>
                                          </p:stCondLst>
                                        </p:cTn>
                                        <p:tgtEl>
                                          <p:spTgt spid="36"/>
                                        </p:tgtEl>
                                        <p:attrNameLst>
                                          <p:attrName>style.visibility</p:attrName>
                                        </p:attrNameLst>
                                      </p:cBhvr>
                                      <p:to>
                                        <p:strVal val="hidden"/>
                                      </p:to>
                                    </p:set>
                                  </p:childTnLst>
                                </p:cTn>
                              </p:par>
                              <p:par>
                                <p:cTn id="54" presetID="9" presetClass="entr" presetSubtype="0" fill="hold" grpId="0" nodeType="with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dissolve">
                                      <p:cBhvr>
                                        <p:cTn id="56" dur="500"/>
                                        <p:tgtEl>
                                          <p:spTgt spid="51"/>
                                        </p:tgtEl>
                                      </p:cBhvr>
                                    </p:animEffect>
                                  </p:childTnLst>
                                </p:cTn>
                              </p:par>
                              <p:par>
                                <p:cTn id="57" presetID="9" presetClass="entr" presetSubtype="0" fill="hold" nodeType="withEffect">
                                  <p:stCondLst>
                                    <p:cond delay="0"/>
                                  </p:stCondLst>
                                  <p:childTnLst>
                                    <p:set>
                                      <p:cBhvr>
                                        <p:cTn id="58" dur="1" fill="hold">
                                          <p:stCondLst>
                                            <p:cond delay="0"/>
                                          </p:stCondLst>
                                        </p:cTn>
                                        <p:tgtEl>
                                          <p:spTgt spid="55"/>
                                        </p:tgtEl>
                                        <p:attrNameLst>
                                          <p:attrName>style.visibility</p:attrName>
                                        </p:attrNameLst>
                                      </p:cBhvr>
                                      <p:to>
                                        <p:strVal val="visible"/>
                                      </p:to>
                                    </p:set>
                                    <p:animEffect transition="in" filter="dissolve">
                                      <p:cBhvr>
                                        <p:cTn id="59" dur="500"/>
                                        <p:tgtEl>
                                          <p:spTgt spid="55"/>
                                        </p:tgtEl>
                                      </p:cBhvr>
                                    </p:animEffect>
                                  </p:childTnLst>
                                </p:cTn>
                              </p:par>
                              <p:par>
                                <p:cTn id="60" presetID="9" presetClass="entr" presetSubtype="0" fill="hold"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dissolve">
                                      <p:cBhvr>
                                        <p:cTn id="62" dur="500"/>
                                        <p:tgtEl>
                                          <p:spTgt spid="3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xit" presetSubtype="0" fill="hold" grpId="1" nodeType="clickEffect">
                                  <p:stCondLst>
                                    <p:cond delay="0"/>
                                  </p:stCondLst>
                                  <p:childTnLst>
                                    <p:animEffect transition="out" filter="dissolve">
                                      <p:cBhvr>
                                        <p:cTn id="66" dur="500"/>
                                        <p:tgtEl>
                                          <p:spTgt spid="51"/>
                                        </p:tgtEl>
                                      </p:cBhvr>
                                    </p:animEffect>
                                    <p:set>
                                      <p:cBhvr>
                                        <p:cTn id="67" dur="1" fill="hold">
                                          <p:stCondLst>
                                            <p:cond delay="499"/>
                                          </p:stCondLst>
                                        </p:cTn>
                                        <p:tgtEl>
                                          <p:spTgt spid="51"/>
                                        </p:tgtEl>
                                        <p:attrNameLst>
                                          <p:attrName>style.visibility</p:attrName>
                                        </p:attrNameLst>
                                      </p:cBhvr>
                                      <p:to>
                                        <p:strVal val="hidden"/>
                                      </p:to>
                                    </p:set>
                                  </p:childTnLst>
                                </p:cTn>
                              </p:par>
                              <p:par>
                                <p:cTn id="68" presetID="9" presetClass="exit" presetSubtype="0" fill="hold" nodeType="withEffect">
                                  <p:stCondLst>
                                    <p:cond delay="0"/>
                                  </p:stCondLst>
                                  <p:childTnLst>
                                    <p:animEffect transition="out" filter="dissolve">
                                      <p:cBhvr>
                                        <p:cTn id="69" dur="500"/>
                                        <p:tgtEl>
                                          <p:spTgt spid="55"/>
                                        </p:tgtEl>
                                      </p:cBhvr>
                                    </p:animEffect>
                                    <p:set>
                                      <p:cBhvr>
                                        <p:cTn id="70" dur="1" fill="hold">
                                          <p:stCondLst>
                                            <p:cond delay="499"/>
                                          </p:stCondLst>
                                        </p:cTn>
                                        <p:tgtEl>
                                          <p:spTgt spid="55"/>
                                        </p:tgtEl>
                                        <p:attrNameLst>
                                          <p:attrName>style.visibility</p:attrName>
                                        </p:attrNameLst>
                                      </p:cBhvr>
                                      <p:to>
                                        <p:strVal val="hidden"/>
                                      </p:to>
                                    </p:set>
                                  </p:childTnLst>
                                </p:cTn>
                              </p:par>
                              <p:par>
                                <p:cTn id="71" presetID="9" presetClass="exit" presetSubtype="0" fill="hold" nodeType="withEffect">
                                  <p:stCondLst>
                                    <p:cond delay="0"/>
                                  </p:stCondLst>
                                  <p:childTnLst>
                                    <p:animEffect transition="out" filter="dissolve">
                                      <p:cBhvr>
                                        <p:cTn id="72" dur="500"/>
                                        <p:tgtEl>
                                          <p:spTgt spid="37"/>
                                        </p:tgtEl>
                                      </p:cBhvr>
                                    </p:animEffect>
                                    <p:set>
                                      <p:cBhvr>
                                        <p:cTn id="73" dur="1" fill="hold">
                                          <p:stCondLst>
                                            <p:cond delay="499"/>
                                          </p:stCondLst>
                                        </p:cTn>
                                        <p:tgtEl>
                                          <p:spTgt spid="37"/>
                                        </p:tgtEl>
                                        <p:attrNameLst>
                                          <p:attrName>style.visibility</p:attrName>
                                        </p:attrNameLst>
                                      </p:cBhvr>
                                      <p:to>
                                        <p:strVal val="hidden"/>
                                      </p:to>
                                    </p:set>
                                  </p:childTnLst>
                                </p:cTn>
                              </p:par>
                              <p:par>
                                <p:cTn id="74" presetID="9" presetClass="entr" presetSubtype="0" fill="hold" grpId="1" nodeType="with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dissolve">
                                      <p:cBhvr>
                                        <p:cTn id="76" dur="500"/>
                                        <p:tgtEl>
                                          <p:spTgt spid="40"/>
                                        </p:tgtEl>
                                      </p:cBhvr>
                                    </p:animEffect>
                                  </p:childTnLst>
                                </p:cTn>
                              </p:par>
                              <p:par>
                                <p:cTn id="77" presetID="9" presetClass="entr" presetSubtype="0" fill="hold" nodeType="with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dissolve">
                                      <p:cBhvr>
                                        <p:cTn id="79" dur="500"/>
                                        <p:tgtEl>
                                          <p:spTgt spid="57"/>
                                        </p:tgtEl>
                                      </p:cBhvr>
                                    </p:animEffect>
                                  </p:childTnLst>
                                </p:cTn>
                              </p:par>
                              <p:par>
                                <p:cTn id="80" presetID="9" presetClass="entr" presetSubtype="0" fill="hold"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dissolve">
                                      <p:cBhvr>
                                        <p:cTn id="82" dur="50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xit" presetSubtype="0" fill="hold" nodeType="clickEffect">
                                  <p:stCondLst>
                                    <p:cond delay="0"/>
                                  </p:stCondLst>
                                  <p:childTnLst>
                                    <p:animEffect transition="out" filter="dissolve">
                                      <p:cBhvr>
                                        <p:cTn id="86" dur="500"/>
                                        <p:tgtEl>
                                          <p:spTgt spid="57"/>
                                        </p:tgtEl>
                                      </p:cBhvr>
                                    </p:animEffect>
                                    <p:set>
                                      <p:cBhvr>
                                        <p:cTn id="87" dur="1" fill="hold">
                                          <p:stCondLst>
                                            <p:cond delay="499"/>
                                          </p:stCondLst>
                                        </p:cTn>
                                        <p:tgtEl>
                                          <p:spTgt spid="57"/>
                                        </p:tgtEl>
                                        <p:attrNameLst>
                                          <p:attrName>style.visibility</p:attrName>
                                        </p:attrNameLst>
                                      </p:cBhvr>
                                      <p:to>
                                        <p:strVal val="hidden"/>
                                      </p:to>
                                    </p:set>
                                  </p:childTnLst>
                                </p:cTn>
                              </p:par>
                              <p:par>
                                <p:cTn id="88" presetID="9" presetClass="exit" presetSubtype="0" fill="hold" grpId="2" nodeType="withEffect">
                                  <p:stCondLst>
                                    <p:cond delay="0"/>
                                  </p:stCondLst>
                                  <p:childTnLst>
                                    <p:animEffect transition="out" filter="dissolve">
                                      <p:cBhvr>
                                        <p:cTn id="89" dur="500"/>
                                        <p:tgtEl>
                                          <p:spTgt spid="40"/>
                                        </p:tgtEl>
                                      </p:cBhvr>
                                    </p:animEffect>
                                    <p:set>
                                      <p:cBhvr>
                                        <p:cTn id="90" dur="1" fill="hold">
                                          <p:stCondLst>
                                            <p:cond delay="499"/>
                                          </p:stCondLst>
                                        </p:cTn>
                                        <p:tgtEl>
                                          <p:spTgt spid="40"/>
                                        </p:tgtEl>
                                        <p:attrNameLst>
                                          <p:attrName>style.visibility</p:attrName>
                                        </p:attrNameLst>
                                      </p:cBhvr>
                                      <p:to>
                                        <p:strVal val="hidden"/>
                                      </p:to>
                                    </p:set>
                                  </p:childTnLst>
                                </p:cTn>
                              </p:par>
                              <p:par>
                                <p:cTn id="91" presetID="2" presetClass="exit" presetSubtype="8" fill="hold" nodeType="withEffect">
                                  <p:stCondLst>
                                    <p:cond delay="0"/>
                                  </p:stCondLst>
                                  <p:childTnLst>
                                    <p:anim calcmode="lin" valueType="num">
                                      <p:cBhvr additive="base">
                                        <p:cTn id="92" dur="500"/>
                                        <p:tgtEl>
                                          <p:spTgt spid="38"/>
                                        </p:tgtEl>
                                        <p:attrNameLst>
                                          <p:attrName>ppt_x</p:attrName>
                                        </p:attrNameLst>
                                      </p:cBhvr>
                                      <p:tavLst>
                                        <p:tav tm="0">
                                          <p:val>
                                            <p:strVal val="ppt_x"/>
                                          </p:val>
                                        </p:tav>
                                        <p:tav tm="100000">
                                          <p:val>
                                            <p:strVal val="0-ppt_w/2"/>
                                          </p:val>
                                        </p:tav>
                                      </p:tavLst>
                                    </p:anim>
                                    <p:anim calcmode="lin" valueType="num">
                                      <p:cBhvr additive="base">
                                        <p:cTn id="93" dur="500"/>
                                        <p:tgtEl>
                                          <p:spTgt spid="38"/>
                                        </p:tgtEl>
                                        <p:attrNameLst>
                                          <p:attrName>ppt_y</p:attrName>
                                        </p:attrNameLst>
                                      </p:cBhvr>
                                      <p:tavLst>
                                        <p:tav tm="0">
                                          <p:val>
                                            <p:strVal val="ppt_y"/>
                                          </p:val>
                                        </p:tav>
                                        <p:tav tm="100000">
                                          <p:val>
                                            <p:strVal val="ppt_y"/>
                                          </p:val>
                                        </p:tav>
                                      </p:tavLst>
                                    </p:anim>
                                    <p:set>
                                      <p:cBhvr>
                                        <p:cTn id="94" dur="1" fill="hold">
                                          <p:stCondLst>
                                            <p:cond delay="499"/>
                                          </p:stCondLst>
                                        </p:cTn>
                                        <p:tgtEl>
                                          <p:spTgt spid="38"/>
                                        </p:tgtEl>
                                        <p:attrNameLst>
                                          <p:attrName>style.visibility</p:attrName>
                                        </p:attrNameLst>
                                      </p:cBhvr>
                                      <p:to>
                                        <p:strVal val="hidden"/>
                                      </p:to>
                                    </p:set>
                                  </p:childTnLst>
                                </p:cTn>
                              </p:par>
                              <p:par>
                                <p:cTn id="95" presetID="22" presetClass="exit" presetSubtype="2" fill="hold" grpId="0" nodeType="withEffect">
                                  <p:stCondLst>
                                    <p:cond delay="0"/>
                                  </p:stCondLst>
                                  <p:childTnLst>
                                    <p:animEffect transition="out" filter="wipe(right)">
                                      <p:cBhvr>
                                        <p:cTn id="96" dur="500"/>
                                        <p:tgtEl>
                                          <p:spTgt spid="35"/>
                                        </p:tgtEl>
                                      </p:cBhvr>
                                    </p:animEffect>
                                    <p:set>
                                      <p:cBhvr>
                                        <p:cTn id="97"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0" grpId="0" animBg="1"/>
      <p:bldP spid="40" grpId="1" animBg="1"/>
      <p:bldP spid="40" grpId="2" animBg="1"/>
      <p:bldP spid="43" grpId="0" animBg="1"/>
      <p:bldP spid="43" grpId="1" animBg="1"/>
      <p:bldP spid="46" grpId="0" animBg="1"/>
      <p:bldP spid="46" grpId="1" animBg="1"/>
      <p:bldP spid="51" grpId="0" animBg="1"/>
      <p:bldP spid="51" grpId="1"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Straight &amp; Level Flight</a:t>
            </a:r>
            <a:endParaRPr lang="en-US" sz="3600" b="1" dirty="0">
              <a:effectLst>
                <a:outerShdw blurRad="38100" dist="38100" dir="2700000" algn="tl">
                  <a:srgbClr val="000000">
                    <a:alpha val="43137"/>
                  </a:srgbClr>
                </a:outerShdw>
              </a:effectLst>
            </a:endParaRPr>
          </a:p>
        </p:txBody>
      </p:sp>
      <p:sp>
        <p:nvSpPr>
          <p:cNvPr id="9" name="TextBox 8">
            <a:hlinkClick r:id="rId4" action="ppaction://hlinksldjump"/>
          </p:cNvPr>
          <p:cNvSpPr txBox="1"/>
          <p:nvPr/>
        </p:nvSpPr>
        <p:spPr>
          <a:xfrm>
            <a:off x="533400" y="1066800"/>
            <a:ext cx="8305800" cy="5632311"/>
          </a:xfrm>
          <a:prstGeom prst="rect">
            <a:avLst/>
          </a:prstGeom>
          <a:noFill/>
        </p:spPr>
        <p:txBody>
          <a:bodyPr wrap="square" rtlCol="0">
            <a:spAutoFit/>
          </a:bodyPr>
          <a:lstStyle/>
          <a:p>
            <a:r>
              <a:rPr lang="en-US" sz="3000" b="1" dirty="0" smtClean="0"/>
              <a:t>How to level-off from a climb:</a:t>
            </a:r>
          </a:p>
          <a:p>
            <a:pPr marL="514350" indent="-514350">
              <a:buFont typeface="Arial" pitchFamily="34" charset="0"/>
              <a:buChar char="•"/>
            </a:pPr>
            <a:r>
              <a:rPr lang="en-US" sz="3000" dirty="0" smtClean="0"/>
              <a:t>Nose down until at desired airspeed. Then adjust throttle for level flight</a:t>
            </a:r>
          </a:p>
          <a:p>
            <a:pPr marL="514350" indent="-514350">
              <a:buFont typeface="Arial" pitchFamily="34" charset="0"/>
              <a:buChar char="•"/>
            </a:pPr>
            <a:r>
              <a:rPr lang="en-US" sz="3000" dirty="0" smtClean="0"/>
              <a:t>Upon reaching desired altitude, set throttle to desired RPM (cruising). Then by elevator, raise/lower nose for airspeed</a:t>
            </a:r>
          </a:p>
          <a:p>
            <a:pPr marL="514350" indent="-514350"/>
            <a:endParaRPr lang="en-US" sz="3000" dirty="0" smtClean="0"/>
          </a:p>
          <a:p>
            <a:pPr marL="514350" indent="-514350"/>
            <a:r>
              <a:rPr lang="en-US" sz="3000" b="1" dirty="0" smtClean="0"/>
              <a:t>Procedure for level flight:</a:t>
            </a:r>
          </a:p>
          <a:p>
            <a:pPr marL="514350" indent="-514350">
              <a:buFont typeface="Arial" pitchFamily="34" charset="0"/>
              <a:buChar char="•"/>
            </a:pPr>
            <a:r>
              <a:rPr lang="en-US" sz="3000" dirty="0" smtClean="0"/>
              <a:t>Pilot holds his stick; hence also holds airspeed</a:t>
            </a:r>
          </a:p>
          <a:p>
            <a:pPr marL="514350" indent="-514350">
              <a:buFont typeface="Arial" pitchFamily="34" charset="0"/>
              <a:buChar char="•"/>
            </a:pPr>
            <a:r>
              <a:rPr lang="en-US" sz="3000" dirty="0" smtClean="0"/>
              <a:t>Regulate altitude by retarding/advancing the throttle</a:t>
            </a:r>
          </a:p>
          <a:p>
            <a:endParaRPr lang="en-US" sz="30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 calcmode="lin" valueType="num">
                                      <p:cBhvr additive="base">
                                        <p:cTn id="25" dur="500" fill="hold"/>
                                        <p:tgtEl>
                                          <p:spTgt spid="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 calcmode="lin" valueType="num">
                                      <p:cBhvr additive="base">
                                        <p:cTn id="31" dur="500" fill="hold"/>
                                        <p:tgtEl>
                                          <p:spTgt spid="9">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 calcmode="lin" valueType="num">
                                      <p:cBhvr additive="base">
                                        <p:cTn id="37" dur="500" fill="hold"/>
                                        <p:tgtEl>
                                          <p:spTgt spid="9">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Straight &amp; Level Flight</a:t>
            </a:r>
            <a:endParaRPr lang="en-US" sz="3600" b="1" dirty="0">
              <a:effectLst>
                <a:outerShdw blurRad="38100" dist="38100" dir="2700000" algn="tl">
                  <a:srgbClr val="000000">
                    <a:alpha val="43137"/>
                  </a:srgbClr>
                </a:outerShdw>
              </a:effectLst>
            </a:endParaRPr>
          </a:p>
        </p:txBody>
      </p:sp>
      <p:sp>
        <p:nvSpPr>
          <p:cNvPr id="9" name="TextBox 8">
            <a:hlinkClick r:id="rId4" action="ppaction://hlinksldjump"/>
          </p:cNvPr>
          <p:cNvSpPr txBox="1"/>
          <p:nvPr/>
        </p:nvSpPr>
        <p:spPr>
          <a:xfrm>
            <a:off x="533400" y="1066800"/>
            <a:ext cx="8305800" cy="3508653"/>
          </a:xfrm>
          <a:prstGeom prst="rect">
            <a:avLst/>
          </a:prstGeom>
          <a:noFill/>
        </p:spPr>
        <p:txBody>
          <a:bodyPr wrap="square" rtlCol="0">
            <a:spAutoFit/>
          </a:bodyPr>
          <a:lstStyle/>
          <a:p>
            <a:r>
              <a:rPr lang="en-US" sz="3000" b="1" dirty="0" smtClean="0"/>
              <a:t>How to fly straight:</a:t>
            </a:r>
          </a:p>
          <a:p>
            <a:pPr marL="514350" indent="-514350">
              <a:buFont typeface="Arial" pitchFamily="34" charset="0"/>
              <a:buChar char="•"/>
            </a:pPr>
            <a:r>
              <a:rPr lang="en-US" sz="3200" dirty="0" smtClean="0"/>
              <a:t>The pilot selects two or more outside visual reference points directly ahead of the UL (such as fields, towns, lakes, or mountains, to form points along an imaginary line) and keeps the airplane's nose headed along that line</a:t>
            </a:r>
            <a:endParaRPr lang="en-US"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Straight &amp; Level Flight</a:t>
            </a:r>
            <a:endParaRPr lang="en-US" sz="3600" b="1" dirty="0">
              <a:effectLst>
                <a:outerShdw blurRad="38100" dist="38100" dir="2700000" algn="tl">
                  <a:srgbClr val="000000">
                    <a:alpha val="43137"/>
                  </a:srgbClr>
                </a:outerShdw>
              </a:effectLst>
            </a:endParaRPr>
          </a:p>
        </p:txBody>
      </p:sp>
      <p:sp>
        <p:nvSpPr>
          <p:cNvPr id="9" name="TextBox 8">
            <a:hlinkClick r:id="rId4" action="ppaction://hlinksldjump"/>
          </p:cNvPr>
          <p:cNvSpPr txBox="1"/>
          <p:nvPr/>
        </p:nvSpPr>
        <p:spPr>
          <a:xfrm>
            <a:off x="533400" y="1066800"/>
            <a:ext cx="8305800" cy="4001095"/>
          </a:xfrm>
          <a:prstGeom prst="rect">
            <a:avLst/>
          </a:prstGeom>
          <a:noFill/>
        </p:spPr>
        <p:txBody>
          <a:bodyPr wrap="square" rtlCol="0">
            <a:spAutoFit/>
          </a:bodyPr>
          <a:lstStyle/>
          <a:p>
            <a:r>
              <a:rPr lang="en-US" sz="3000" b="1" dirty="0" smtClean="0"/>
              <a:t>How to fly level:</a:t>
            </a:r>
          </a:p>
          <a:p>
            <a:pPr marL="514350" indent="-514350">
              <a:buFont typeface="Arial" pitchFamily="34" charset="0"/>
              <a:buChar char="•"/>
            </a:pPr>
            <a:r>
              <a:rPr lang="en-US" sz="3200" dirty="0" smtClean="0"/>
              <a:t>Select a reference point (e.g., the top of your shoe, instrument panel, etc.) and then keep that point in a fixed position relative to the horizon. That position should be cross checked occasionally against the altimeter to determine whether or not the pitch attitude is correct</a:t>
            </a:r>
            <a:endParaRPr lang="en-US"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Straight &amp; Level Flight</a:t>
            </a:r>
            <a:endParaRPr lang="en-US" sz="3600" b="1" dirty="0">
              <a:effectLst>
                <a:outerShdw blurRad="38100" dist="38100" dir="2700000" algn="tl">
                  <a:srgbClr val="000000">
                    <a:alpha val="43137"/>
                  </a:srgbClr>
                </a:outerShdw>
              </a:effectLst>
            </a:endParaRPr>
          </a:p>
        </p:txBody>
      </p:sp>
      <p:pic>
        <p:nvPicPr>
          <p:cNvPr id="4099" name="Picture 3" descr="C:\Users\cosievert\Documents\MSFC\ALT.jpg"/>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0" y="838200"/>
            <a:ext cx="3557202" cy="3733800"/>
          </a:xfrm>
          <a:prstGeom prst="rect">
            <a:avLst/>
          </a:prstGeom>
          <a:noFill/>
          <a:ln>
            <a:noFill/>
          </a:ln>
          <a:effectLst/>
          <a:scene3d>
            <a:camera prst="orthographicFront">
              <a:rot lat="0" lon="0" rev="0"/>
            </a:camera>
            <a:lightRig rig="glow" dir="t">
              <a:rot lat="0" lon="0" rev="4800000"/>
            </a:lightRig>
          </a:scene3d>
          <a:sp3d prstMaterial="matte">
            <a:bevelT w="127000" h="63500"/>
          </a:sp3d>
        </p:spPr>
      </p:pic>
      <p:sp>
        <p:nvSpPr>
          <p:cNvPr id="10" name="TextBox 9"/>
          <p:cNvSpPr txBox="1"/>
          <p:nvPr/>
        </p:nvSpPr>
        <p:spPr>
          <a:xfrm>
            <a:off x="498808" y="4191000"/>
            <a:ext cx="2600135" cy="1200329"/>
          </a:xfrm>
          <a:prstGeom prst="rect">
            <a:avLst/>
          </a:prstGeom>
          <a:noFill/>
        </p:spPr>
        <p:txBody>
          <a:bodyPr wrap="none" rtlCol="0">
            <a:spAutoFit/>
          </a:bodyPr>
          <a:lstStyle/>
          <a:p>
            <a:pPr algn="ctr"/>
            <a:r>
              <a:rPr lang="en-US" sz="3600" b="1" dirty="0" smtClean="0"/>
              <a:t>Altimeter at </a:t>
            </a:r>
          </a:p>
          <a:p>
            <a:pPr algn="ctr"/>
            <a:r>
              <a:rPr lang="en-US" sz="3600" b="1" dirty="0" smtClean="0"/>
              <a:t>1,200 ft.</a:t>
            </a:r>
            <a:endParaRPr lang="en-US" sz="3600" b="1" dirty="0"/>
          </a:p>
        </p:txBody>
      </p:sp>
      <p:sp>
        <p:nvSpPr>
          <p:cNvPr id="11" name="TextBox 10"/>
          <p:cNvSpPr txBox="1"/>
          <p:nvPr/>
        </p:nvSpPr>
        <p:spPr>
          <a:xfrm>
            <a:off x="3810000" y="1696283"/>
            <a:ext cx="5105400" cy="4708981"/>
          </a:xfrm>
          <a:prstGeom prst="rect">
            <a:avLst/>
          </a:prstGeom>
          <a:noFill/>
        </p:spPr>
        <p:txBody>
          <a:bodyPr wrap="square" rtlCol="0">
            <a:spAutoFit/>
          </a:bodyPr>
          <a:lstStyle/>
          <a:p>
            <a:pPr>
              <a:buFont typeface="Wingdings" pitchFamily="2" charset="2"/>
              <a:buChar char="ü"/>
            </a:pPr>
            <a:r>
              <a:rPr lang="en-US" sz="3000" dirty="0" smtClean="0"/>
              <a:t> Glance at your altimeter only </a:t>
            </a:r>
          </a:p>
          <a:p>
            <a:r>
              <a:rPr lang="en-US" sz="3000" dirty="0" smtClean="0"/>
              <a:t>     for a few seconds </a:t>
            </a:r>
          </a:p>
          <a:p>
            <a:pPr>
              <a:buFont typeface="Wingdings" pitchFamily="2" charset="2"/>
              <a:buChar char="ü"/>
            </a:pPr>
            <a:r>
              <a:rPr lang="en-US" sz="3000" dirty="0" smtClean="0"/>
              <a:t> Do not freeze your attention  </a:t>
            </a:r>
          </a:p>
          <a:p>
            <a:r>
              <a:rPr lang="en-US" sz="3000" dirty="0" smtClean="0"/>
              <a:t>     on it</a:t>
            </a:r>
          </a:p>
          <a:p>
            <a:pPr>
              <a:buFont typeface="Wingdings" pitchFamily="2" charset="2"/>
              <a:buChar char="ü"/>
            </a:pPr>
            <a:r>
              <a:rPr lang="en-US" sz="3000" dirty="0" smtClean="0"/>
              <a:t> 90% should be spent looking </a:t>
            </a:r>
          </a:p>
          <a:p>
            <a:r>
              <a:rPr lang="en-US" sz="3000" dirty="0" smtClean="0"/>
              <a:t>     out (ground, horizon, etc.)</a:t>
            </a:r>
          </a:p>
          <a:p>
            <a:pPr>
              <a:buFont typeface="Wingdings" pitchFamily="2" charset="2"/>
              <a:buChar char="ü"/>
            </a:pPr>
            <a:r>
              <a:rPr lang="en-US" sz="3000" dirty="0" smtClean="0"/>
              <a:t> For the student: Study the </a:t>
            </a:r>
          </a:p>
          <a:p>
            <a:r>
              <a:rPr lang="en-US" sz="3000" dirty="0" smtClean="0"/>
              <a:t>     altimeter face – </a:t>
            </a:r>
          </a:p>
          <a:p>
            <a:r>
              <a:rPr lang="en-US" sz="3000" dirty="0" smtClean="0"/>
              <a:t>     ON THE GROUND</a:t>
            </a:r>
          </a:p>
          <a:p>
            <a:pPr>
              <a:buFont typeface="Wingdings" pitchFamily="2" charset="2"/>
              <a:buChar char="ü"/>
            </a:pPr>
            <a:endParaRPr lang="en-US" sz="3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 calcmode="lin" valueType="num">
                                      <p:cBhvr additive="base">
                                        <p:cTn id="11" dur="500" fill="hold"/>
                                        <p:tgtEl>
                                          <p:spTgt spid="1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 calcmode="lin" valueType="num">
                                      <p:cBhvr additive="base">
                                        <p:cTn id="17" dur="500" fill="hold"/>
                                        <p:tgtEl>
                                          <p:spTgt spid="11">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 calcmode="lin" valueType="num">
                                      <p:cBhvr additive="base">
                                        <p:cTn id="21" dur="500" fill="hold"/>
                                        <p:tgtEl>
                                          <p:spTgt spid="11">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 calcmode="lin" valueType="num">
                                      <p:cBhvr additive="base">
                                        <p:cTn id="27" dur="500" fill="hold"/>
                                        <p:tgtEl>
                                          <p:spTgt spid="11">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1">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anim calcmode="lin" valueType="num">
                                      <p:cBhvr additive="base">
                                        <p:cTn id="31" dur="500" fill="hold"/>
                                        <p:tgtEl>
                                          <p:spTgt spid="11">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 calcmode="lin" valueType="num">
                                      <p:cBhvr additive="base">
                                        <p:cTn id="37" dur="500" fill="hold"/>
                                        <p:tgtEl>
                                          <p:spTgt spid="11">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1">
                                            <p:txEl>
                                              <p:pRg st="6" end="6"/>
                                            </p:txEl>
                                          </p:spTgt>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11">
                                            <p:txEl>
                                              <p:pRg st="7" end="7"/>
                                            </p:txEl>
                                          </p:spTgt>
                                        </p:tgtEl>
                                        <p:attrNameLst>
                                          <p:attrName>style.visibility</p:attrName>
                                        </p:attrNameLst>
                                      </p:cBhvr>
                                      <p:to>
                                        <p:strVal val="visible"/>
                                      </p:to>
                                    </p:set>
                                    <p:anim calcmode="lin" valueType="num">
                                      <p:cBhvr additive="base">
                                        <p:cTn id="41" dur="500" fill="hold"/>
                                        <p:tgtEl>
                                          <p:spTgt spid="11">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1">
                                            <p:txEl>
                                              <p:pRg st="7" end="7"/>
                                            </p:txEl>
                                          </p:spTgt>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11">
                                            <p:txEl>
                                              <p:pRg st="8" end="8"/>
                                            </p:txEl>
                                          </p:spTgt>
                                        </p:tgtEl>
                                        <p:attrNameLst>
                                          <p:attrName>style.visibility</p:attrName>
                                        </p:attrNameLst>
                                      </p:cBhvr>
                                      <p:to>
                                        <p:strVal val="visible"/>
                                      </p:to>
                                    </p:set>
                                    <p:anim calcmode="lin" valueType="num">
                                      <p:cBhvr additive="base">
                                        <p:cTn id="45" dur="500" fill="hold"/>
                                        <p:tgtEl>
                                          <p:spTgt spid="11">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Glide</a:t>
            </a:r>
            <a:endParaRPr lang="en-US" sz="3600" b="1" dirty="0">
              <a:effectLst>
                <a:outerShdw blurRad="38100" dist="38100" dir="2700000" algn="tl">
                  <a:srgbClr val="000000">
                    <a:alpha val="43137"/>
                  </a:srgbClr>
                </a:outerShdw>
              </a:effectLst>
            </a:endParaRPr>
          </a:p>
        </p:txBody>
      </p:sp>
      <p:sp>
        <p:nvSpPr>
          <p:cNvPr id="9" name="TextBox 8">
            <a:hlinkClick r:id="rId4" action="ppaction://hlinksldjump"/>
          </p:cNvPr>
          <p:cNvSpPr txBox="1"/>
          <p:nvPr/>
        </p:nvSpPr>
        <p:spPr>
          <a:xfrm>
            <a:off x="533400" y="1066800"/>
            <a:ext cx="8305800" cy="4247317"/>
          </a:xfrm>
          <a:prstGeom prst="rect">
            <a:avLst/>
          </a:prstGeom>
          <a:noFill/>
        </p:spPr>
        <p:txBody>
          <a:bodyPr wrap="square" rtlCol="0">
            <a:spAutoFit/>
          </a:bodyPr>
          <a:lstStyle/>
          <a:p>
            <a:r>
              <a:rPr lang="en-US" sz="3000" b="1" dirty="0" smtClean="0"/>
              <a:t>Difficulties of the glide are twofold:</a:t>
            </a:r>
          </a:p>
          <a:p>
            <a:endParaRPr lang="en-US" sz="3000" b="1" dirty="0" smtClean="0"/>
          </a:p>
          <a:p>
            <a:pPr marL="514350" indent="-514350">
              <a:buFont typeface="+mj-lt"/>
              <a:buAutoNum type="arabicPeriod"/>
            </a:pPr>
            <a:r>
              <a:rPr lang="en-US" sz="3000" u="sng" dirty="0" smtClean="0"/>
              <a:t>PERCEPTION</a:t>
            </a:r>
            <a:r>
              <a:rPr lang="en-US" sz="3000" dirty="0" smtClean="0"/>
              <a:t> – the inexperienced eye cannot gauge exactly where the UL is going</a:t>
            </a:r>
          </a:p>
          <a:p>
            <a:pPr marL="514350" indent="-514350">
              <a:buFont typeface="+mj-lt"/>
              <a:buAutoNum type="arabicPeriod"/>
            </a:pPr>
            <a:endParaRPr lang="en-US" sz="3000" dirty="0" smtClean="0"/>
          </a:p>
          <a:p>
            <a:pPr marL="514350" indent="-514350">
              <a:buFont typeface="+mj-lt"/>
              <a:buAutoNum type="arabicPeriod"/>
            </a:pPr>
            <a:r>
              <a:rPr lang="en-US" sz="3000" u="sng" dirty="0" smtClean="0"/>
              <a:t>PROBLEM OF CONTROL </a:t>
            </a:r>
            <a:r>
              <a:rPr lang="en-US" sz="3000" dirty="0" smtClean="0"/>
              <a:t>– in a glide the UL’s response to the stick is almost directly contrary to “common sense”</a:t>
            </a:r>
          </a:p>
          <a:p>
            <a:pPr marL="514350" indent="-514350"/>
            <a:endParaRPr lang="en-US"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 calcmode="lin" valueType="num">
                                      <p:cBhvr additive="base">
                                        <p:cTn id="19" dur="500" fill="hold"/>
                                        <p:tgtEl>
                                          <p:spTgt spid="9">
                                            <p:txEl>
                                              <p:pRg st="4" end="4"/>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Glide</a:t>
            </a:r>
            <a:endParaRPr lang="en-US" sz="3600" b="1" dirty="0">
              <a:effectLst>
                <a:outerShdw blurRad="38100" dist="38100" dir="2700000" algn="tl">
                  <a:srgbClr val="000000">
                    <a:alpha val="43137"/>
                  </a:srgbClr>
                </a:outerShdw>
              </a:effectLst>
            </a:endParaRPr>
          </a:p>
        </p:txBody>
      </p:sp>
      <p:sp>
        <p:nvSpPr>
          <p:cNvPr id="9" name="TextBox 8">
            <a:hlinkClick r:id="rId4" action="ppaction://hlinksldjump"/>
          </p:cNvPr>
          <p:cNvSpPr txBox="1"/>
          <p:nvPr/>
        </p:nvSpPr>
        <p:spPr>
          <a:xfrm>
            <a:off x="533400" y="1066800"/>
            <a:ext cx="3733800" cy="2862322"/>
          </a:xfrm>
          <a:prstGeom prst="rect">
            <a:avLst/>
          </a:prstGeom>
          <a:noFill/>
        </p:spPr>
        <p:txBody>
          <a:bodyPr wrap="square" rtlCol="0">
            <a:spAutoFit/>
          </a:bodyPr>
          <a:lstStyle/>
          <a:p>
            <a:r>
              <a:rPr lang="en-US" sz="3000" b="1" dirty="0" smtClean="0"/>
              <a:t>Natural Tendencies:</a:t>
            </a:r>
          </a:p>
          <a:p>
            <a:endParaRPr lang="en-US" sz="3000" b="1" dirty="0" smtClean="0"/>
          </a:p>
          <a:p>
            <a:pPr marL="514350" indent="-514350">
              <a:buFont typeface="+mj-lt"/>
              <a:buAutoNum type="arabicPeriod"/>
            </a:pPr>
            <a:r>
              <a:rPr lang="en-US" sz="3000" b="1" dirty="0" smtClean="0"/>
              <a:t>OVERSHOOT! </a:t>
            </a:r>
            <a:endParaRPr lang="en-US" sz="3000" dirty="0" smtClean="0"/>
          </a:p>
          <a:p>
            <a:pPr marL="514350" indent="-514350">
              <a:buFont typeface="+mj-lt"/>
              <a:buAutoNum type="arabicPeriod"/>
            </a:pPr>
            <a:endParaRPr lang="en-US" sz="3000" dirty="0" smtClean="0"/>
          </a:p>
          <a:p>
            <a:pPr marL="514350" indent="-514350">
              <a:buFont typeface="+mj-lt"/>
              <a:buAutoNum type="arabicPeriod"/>
            </a:pPr>
            <a:r>
              <a:rPr lang="en-US" sz="3000" b="1" dirty="0" smtClean="0"/>
              <a:t>UNDERSHOOT! </a:t>
            </a:r>
            <a:endParaRPr lang="en-US" sz="3000" dirty="0" smtClean="0"/>
          </a:p>
          <a:p>
            <a:pPr marL="514350" indent="-514350"/>
            <a:endParaRPr lang="en-US" sz="3000" dirty="0" smtClean="0"/>
          </a:p>
        </p:txBody>
      </p:sp>
      <p:sp>
        <p:nvSpPr>
          <p:cNvPr id="7" name="TextBox 6">
            <a:hlinkClick r:id="rId4" action="ppaction://hlinksldjump"/>
          </p:cNvPr>
          <p:cNvSpPr txBox="1"/>
          <p:nvPr/>
        </p:nvSpPr>
        <p:spPr>
          <a:xfrm>
            <a:off x="3124200" y="1524000"/>
            <a:ext cx="5791200" cy="2400657"/>
          </a:xfrm>
          <a:prstGeom prst="rect">
            <a:avLst/>
          </a:prstGeom>
          <a:noFill/>
        </p:spPr>
        <p:txBody>
          <a:bodyPr wrap="square" rtlCol="0">
            <a:spAutoFit/>
          </a:bodyPr>
          <a:lstStyle/>
          <a:p>
            <a:endParaRPr lang="en-US" sz="3000" b="1" dirty="0" smtClean="0"/>
          </a:p>
          <a:p>
            <a:pPr marL="514350" indent="-514350"/>
            <a:r>
              <a:rPr lang="en-US" sz="3000" dirty="0" smtClean="0"/>
              <a:t> - point down steeply</a:t>
            </a:r>
          </a:p>
          <a:p>
            <a:pPr marL="514350" indent="-514350"/>
            <a:endParaRPr lang="en-US" sz="3000" dirty="0" smtClean="0"/>
          </a:p>
          <a:p>
            <a:pPr marL="514350" indent="-514350"/>
            <a:r>
              <a:rPr lang="en-US" sz="3000" dirty="0" smtClean="0"/>
              <a:t>    - less steep to “stretch” the glide</a:t>
            </a:r>
          </a:p>
          <a:p>
            <a:pPr marL="514350" indent="-514350"/>
            <a:endParaRPr lang="en-US"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 calcmode="lin" valueType="num">
                                      <p:cBhvr additive="base">
                                        <p:cTn id="7" dur="500" fill="hold"/>
                                        <p:tgtEl>
                                          <p:spTgt spid="9">
                                            <p:txEl>
                                              <p:pRg st="2" end="2"/>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 calcmode="lin" valueType="num">
                                      <p:cBhvr additive="base">
                                        <p:cTn id="13" dur="500" fill="hold"/>
                                        <p:tgtEl>
                                          <p:spTgt spid="9">
                                            <p:txEl>
                                              <p:pRg st="4" end="4"/>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 calcmode="lin" valueType="num">
                                      <p:cBhvr additive="base">
                                        <p:cTn id="19"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 calcmode="lin" valueType="num">
                                      <p:cBhvr additive="base">
                                        <p:cTn id="23"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 calcmode="lin" valueType="num">
                                      <p:cBhvr additive="base">
                                        <p:cTn id="29" dur="500" fill="hold"/>
                                        <p:tgtEl>
                                          <p:spTgt spid="7">
                                            <p:txEl>
                                              <p:pRg st="3" end="3"/>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2400" y="1066800"/>
            <a:ext cx="8839200" cy="495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Glide – Secret of Glide Control</a:t>
            </a:r>
            <a:endParaRPr lang="en-US" sz="3600" b="1" dirty="0">
              <a:effectLst>
                <a:outerShdw blurRad="38100" dist="38100" dir="2700000" algn="tl">
                  <a:srgbClr val="000000">
                    <a:alpha val="43137"/>
                  </a:srgbClr>
                </a:outerShdw>
              </a:effectLst>
            </a:endParaRPr>
          </a:p>
        </p:txBody>
      </p:sp>
      <p:pic>
        <p:nvPicPr>
          <p:cNvPr id="2" name="Picture 2" descr="C:\Users\cosievert\Documents\MSFC\glide.JPG"/>
          <p:cNvPicPr>
            <a:picLocks noChangeAspect="1" noChangeArrowheads="1"/>
          </p:cNvPicPr>
          <p:nvPr/>
        </p:nvPicPr>
        <p:blipFill>
          <a:blip r:embed="rId4" cstate="print"/>
          <a:srcRect/>
          <a:stretch>
            <a:fillRect/>
          </a:stretch>
        </p:blipFill>
        <p:spPr bwMode="auto">
          <a:xfrm rot="20493856">
            <a:off x="-1100085" y="602807"/>
            <a:ext cx="1024962" cy="641428"/>
          </a:xfrm>
          <a:prstGeom prst="rect">
            <a:avLst/>
          </a:prstGeom>
          <a:noFill/>
        </p:spPr>
      </p:pic>
      <p:sp>
        <p:nvSpPr>
          <p:cNvPr id="11" name="Freeform 10"/>
          <p:cNvSpPr/>
          <p:nvPr/>
        </p:nvSpPr>
        <p:spPr>
          <a:xfrm>
            <a:off x="3276600" y="2667000"/>
            <a:ext cx="5716451" cy="228600"/>
          </a:xfrm>
          <a:custGeom>
            <a:avLst/>
            <a:gdLst>
              <a:gd name="connsiteX0" fmla="*/ 5904412 w 5917475"/>
              <a:gd name="connsiteY0" fmla="*/ 0 h 431074"/>
              <a:gd name="connsiteX1" fmla="*/ 692332 w 5917475"/>
              <a:gd name="connsiteY1" fmla="*/ 13063 h 431074"/>
              <a:gd name="connsiteX2" fmla="*/ 0 w 5917475"/>
              <a:gd name="connsiteY2" fmla="*/ 378823 h 431074"/>
              <a:gd name="connsiteX3" fmla="*/ 5917475 w 5917475"/>
              <a:gd name="connsiteY3" fmla="*/ 431074 h 431074"/>
              <a:gd name="connsiteX4" fmla="*/ 5904412 w 5917475"/>
              <a:gd name="connsiteY4" fmla="*/ 0 h 431074"/>
              <a:gd name="connsiteX0" fmla="*/ 5921829 w 5921829"/>
              <a:gd name="connsiteY0" fmla="*/ 0 h 426720"/>
              <a:gd name="connsiteX1" fmla="*/ 692332 w 5921829"/>
              <a:gd name="connsiteY1" fmla="*/ 8709 h 426720"/>
              <a:gd name="connsiteX2" fmla="*/ 0 w 5921829"/>
              <a:gd name="connsiteY2" fmla="*/ 374469 h 426720"/>
              <a:gd name="connsiteX3" fmla="*/ 5917475 w 5921829"/>
              <a:gd name="connsiteY3" fmla="*/ 426720 h 426720"/>
              <a:gd name="connsiteX4" fmla="*/ 5921829 w 5921829"/>
              <a:gd name="connsiteY4" fmla="*/ 0 h 426720"/>
              <a:gd name="connsiteX0" fmla="*/ 5693229 w 5693229"/>
              <a:gd name="connsiteY0" fmla="*/ 0 h 426720"/>
              <a:gd name="connsiteX1" fmla="*/ 463732 w 5693229"/>
              <a:gd name="connsiteY1" fmla="*/ 8709 h 426720"/>
              <a:gd name="connsiteX2" fmla="*/ 0 w 5693229"/>
              <a:gd name="connsiteY2" fmla="*/ 228600 h 426720"/>
              <a:gd name="connsiteX3" fmla="*/ 5688875 w 5693229"/>
              <a:gd name="connsiteY3" fmla="*/ 426720 h 426720"/>
              <a:gd name="connsiteX4" fmla="*/ 5693229 w 5693229"/>
              <a:gd name="connsiteY4" fmla="*/ 0 h 426720"/>
              <a:gd name="connsiteX0" fmla="*/ 5693229 w 5716451"/>
              <a:gd name="connsiteY0" fmla="*/ 0 h 228600"/>
              <a:gd name="connsiteX1" fmla="*/ 463732 w 5716451"/>
              <a:gd name="connsiteY1" fmla="*/ 8709 h 228600"/>
              <a:gd name="connsiteX2" fmla="*/ 0 w 5716451"/>
              <a:gd name="connsiteY2" fmla="*/ 228600 h 228600"/>
              <a:gd name="connsiteX3" fmla="*/ 5715000 w 5716451"/>
              <a:gd name="connsiteY3" fmla="*/ 228600 h 228600"/>
              <a:gd name="connsiteX4" fmla="*/ 5693229 w 5716451"/>
              <a:gd name="connsiteY4" fmla="*/ 0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6451" h="228600">
                <a:moveTo>
                  <a:pt x="5693229" y="0"/>
                </a:moveTo>
                <a:lnTo>
                  <a:pt x="463732" y="8709"/>
                </a:lnTo>
                <a:lnTo>
                  <a:pt x="0" y="228600"/>
                </a:lnTo>
                <a:lnTo>
                  <a:pt x="5715000" y="228600"/>
                </a:lnTo>
                <a:cubicBezTo>
                  <a:pt x="5716451" y="86360"/>
                  <a:pt x="5691778" y="142240"/>
                  <a:pt x="5693229" y="0"/>
                </a:cubicBezTo>
                <a:close/>
              </a:path>
            </a:pathLst>
          </a:custGeom>
          <a:solidFill>
            <a:schemeClr val="bg1">
              <a:lumMod val="50000"/>
            </a:schemeClr>
          </a:solidFill>
          <a:ln w="9525">
            <a:solidFill>
              <a:srgbClr val="0808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a:off x="2895600" y="1676400"/>
            <a:ext cx="3352800" cy="914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819400" y="1752600"/>
            <a:ext cx="1295400" cy="914400"/>
          </a:xfrm>
          <a:prstGeom prst="straightConnector1">
            <a:avLst/>
          </a:prstGeom>
          <a:ln w="381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7" name="Freeform 26"/>
          <p:cNvSpPr/>
          <p:nvPr/>
        </p:nvSpPr>
        <p:spPr>
          <a:xfrm>
            <a:off x="3276600" y="5638800"/>
            <a:ext cx="5716451" cy="228600"/>
          </a:xfrm>
          <a:custGeom>
            <a:avLst/>
            <a:gdLst>
              <a:gd name="connsiteX0" fmla="*/ 5904412 w 5917475"/>
              <a:gd name="connsiteY0" fmla="*/ 0 h 431074"/>
              <a:gd name="connsiteX1" fmla="*/ 692332 w 5917475"/>
              <a:gd name="connsiteY1" fmla="*/ 13063 h 431074"/>
              <a:gd name="connsiteX2" fmla="*/ 0 w 5917475"/>
              <a:gd name="connsiteY2" fmla="*/ 378823 h 431074"/>
              <a:gd name="connsiteX3" fmla="*/ 5917475 w 5917475"/>
              <a:gd name="connsiteY3" fmla="*/ 431074 h 431074"/>
              <a:gd name="connsiteX4" fmla="*/ 5904412 w 5917475"/>
              <a:gd name="connsiteY4" fmla="*/ 0 h 431074"/>
              <a:gd name="connsiteX0" fmla="*/ 5921829 w 5921829"/>
              <a:gd name="connsiteY0" fmla="*/ 0 h 426720"/>
              <a:gd name="connsiteX1" fmla="*/ 692332 w 5921829"/>
              <a:gd name="connsiteY1" fmla="*/ 8709 h 426720"/>
              <a:gd name="connsiteX2" fmla="*/ 0 w 5921829"/>
              <a:gd name="connsiteY2" fmla="*/ 374469 h 426720"/>
              <a:gd name="connsiteX3" fmla="*/ 5917475 w 5921829"/>
              <a:gd name="connsiteY3" fmla="*/ 426720 h 426720"/>
              <a:gd name="connsiteX4" fmla="*/ 5921829 w 5921829"/>
              <a:gd name="connsiteY4" fmla="*/ 0 h 426720"/>
              <a:gd name="connsiteX0" fmla="*/ 5693229 w 5693229"/>
              <a:gd name="connsiteY0" fmla="*/ 0 h 426720"/>
              <a:gd name="connsiteX1" fmla="*/ 463732 w 5693229"/>
              <a:gd name="connsiteY1" fmla="*/ 8709 h 426720"/>
              <a:gd name="connsiteX2" fmla="*/ 0 w 5693229"/>
              <a:gd name="connsiteY2" fmla="*/ 228600 h 426720"/>
              <a:gd name="connsiteX3" fmla="*/ 5688875 w 5693229"/>
              <a:gd name="connsiteY3" fmla="*/ 426720 h 426720"/>
              <a:gd name="connsiteX4" fmla="*/ 5693229 w 5693229"/>
              <a:gd name="connsiteY4" fmla="*/ 0 h 426720"/>
              <a:gd name="connsiteX0" fmla="*/ 5693229 w 5716451"/>
              <a:gd name="connsiteY0" fmla="*/ 0 h 228600"/>
              <a:gd name="connsiteX1" fmla="*/ 463732 w 5716451"/>
              <a:gd name="connsiteY1" fmla="*/ 8709 h 228600"/>
              <a:gd name="connsiteX2" fmla="*/ 0 w 5716451"/>
              <a:gd name="connsiteY2" fmla="*/ 228600 h 228600"/>
              <a:gd name="connsiteX3" fmla="*/ 5715000 w 5716451"/>
              <a:gd name="connsiteY3" fmla="*/ 228600 h 228600"/>
              <a:gd name="connsiteX4" fmla="*/ 5693229 w 5716451"/>
              <a:gd name="connsiteY4" fmla="*/ 0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6451" h="228600">
                <a:moveTo>
                  <a:pt x="5693229" y="0"/>
                </a:moveTo>
                <a:lnTo>
                  <a:pt x="463732" y="8709"/>
                </a:lnTo>
                <a:lnTo>
                  <a:pt x="0" y="228600"/>
                </a:lnTo>
                <a:lnTo>
                  <a:pt x="5715000" y="228600"/>
                </a:lnTo>
                <a:cubicBezTo>
                  <a:pt x="5716451" y="86360"/>
                  <a:pt x="5691778" y="142240"/>
                  <a:pt x="5693229" y="0"/>
                </a:cubicBezTo>
                <a:close/>
              </a:path>
            </a:pathLst>
          </a:custGeom>
          <a:solidFill>
            <a:schemeClr val="bg1">
              <a:lumMod val="50000"/>
            </a:schemeClr>
          </a:solidFill>
          <a:ln w="9525">
            <a:solidFill>
              <a:srgbClr val="0808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p:cNvCxnSpPr/>
          <p:nvPr/>
        </p:nvCxnSpPr>
        <p:spPr>
          <a:xfrm>
            <a:off x="3048000" y="4572000"/>
            <a:ext cx="1600200" cy="1066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200400" y="4572000"/>
            <a:ext cx="2971800" cy="990600"/>
          </a:xfrm>
          <a:prstGeom prst="straightConnector1">
            <a:avLst/>
          </a:prstGeom>
          <a:ln w="381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30" name="Picture 2" descr="C:\Users\cosievert\Documents\MSFC\glide.JPG"/>
          <p:cNvPicPr>
            <a:picLocks noChangeAspect="1" noChangeArrowheads="1"/>
          </p:cNvPicPr>
          <p:nvPr/>
        </p:nvPicPr>
        <p:blipFill>
          <a:blip r:embed="rId4" cstate="print"/>
          <a:srcRect/>
          <a:stretch>
            <a:fillRect/>
          </a:stretch>
        </p:blipFill>
        <p:spPr bwMode="auto">
          <a:xfrm rot="1040888">
            <a:off x="-1375483" y="1586021"/>
            <a:ext cx="1024962" cy="641428"/>
          </a:xfrm>
          <a:prstGeom prst="rect">
            <a:avLst/>
          </a:prstGeom>
          <a:noFill/>
        </p:spPr>
      </p:pic>
      <p:sp>
        <p:nvSpPr>
          <p:cNvPr id="37" name="TextBox 36"/>
          <p:cNvSpPr txBox="1"/>
          <p:nvPr/>
        </p:nvSpPr>
        <p:spPr>
          <a:xfrm rot="935075">
            <a:off x="4062749" y="1889440"/>
            <a:ext cx="1387752" cy="369332"/>
          </a:xfrm>
          <a:prstGeom prst="rect">
            <a:avLst/>
          </a:prstGeom>
          <a:noFill/>
        </p:spPr>
        <p:txBody>
          <a:bodyPr wrap="none" rtlCol="0">
            <a:spAutoFit/>
          </a:bodyPr>
          <a:lstStyle/>
          <a:p>
            <a:r>
              <a:rPr lang="en-US" b="1" dirty="0" smtClean="0"/>
              <a:t>PERCEPTION</a:t>
            </a:r>
            <a:endParaRPr lang="en-US" b="1" dirty="0"/>
          </a:p>
        </p:txBody>
      </p:sp>
      <p:sp>
        <p:nvSpPr>
          <p:cNvPr id="38" name="TextBox 37"/>
          <p:cNvSpPr txBox="1"/>
          <p:nvPr/>
        </p:nvSpPr>
        <p:spPr>
          <a:xfrm rot="2003099">
            <a:off x="3111320" y="4770943"/>
            <a:ext cx="1387752" cy="369332"/>
          </a:xfrm>
          <a:prstGeom prst="rect">
            <a:avLst/>
          </a:prstGeom>
          <a:noFill/>
        </p:spPr>
        <p:txBody>
          <a:bodyPr wrap="none" rtlCol="0">
            <a:spAutoFit/>
          </a:bodyPr>
          <a:lstStyle/>
          <a:p>
            <a:r>
              <a:rPr lang="en-US" b="1" dirty="0" smtClean="0"/>
              <a:t>PERCEPTION</a:t>
            </a:r>
            <a:endParaRPr lang="en-US" b="1" dirty="0"/>
          </a:p>
        </p:txBody>
      </p:sp>
      <p:sp>
        <p:nvSpPr>
          <p:cNvPr id="40" name="TextBox 39"/>
          <p:cNvSpPr txBox="1"/>
          <p:nvPr/>
        </p:nvSpPr>
        <p:spPr>
          <a:xfrm rot="2094391">
            <a:off x="3153743" y="1985757"/>
            <a:ext cx="939937" cy="369332"/>
          </a:xfrm>
          <a:prstGeom prst="rect">
            <a:avLst/>
          </a:prstGeom>
          <a:noFill/>
        </p:spPr>
        <p:txBody>
          <a:bodyPr wrap="none" rtlCol="0">
            <a:spAutoFit/>
          </a:bodyPr>
          <a:lstStyle/>
          <a:p>
            <a:r>
              <a:rPr lang="en-US" b="1" dirty="0" smtClean="0"/>
              <a:t>ACTUAL</a:t>
            </a:r>
            <a:endParaRPr lang="en-US" b="1" dirty="0"/>
          </a:p>
        </p:txBody>
      </p:sp>
      <p:sp>
        <p:nvSpPr>
          <p:cNvPr id="41" name="TextBox 40"/>
          <p:cNvSpPr txBox="1"/>
          <p:nvPr/>
        </p:nvSpPr>
        <p:spPr>
          <a:xfrm rot="1126299">
            <a:off x="4530227" y="4865812"/>
            <a:ext cx="939937" cy="369332"/>
          </a:xfrm>
          <a:prstGeom prst="rect">
            <a:avLst/>
          </a:prstGeom>
          <a:noFill/>
        </p:spPr>
        <p:txBody>
          <a:bodyPr wrap="none" rtlCol="0">
            <a:spAutoFit/>
          </a:bodyPr>
          <a:lstStyle/>
          <a:p>
            <a:r>
              <a:rPr lang="en-US" b="1" dirty="0" smtClean="0"/>
              <a:t>ACTUAL</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33333E-6 -2.22222E-6 L 0.325 0.1 " pathEditMode="relative" rAng="0" ptsTypes="AA">
                                      <p:cBhvr>
                                        <p:cTn id="6" dur="2000" fill="hold"/>
                                        <p:tgtEl>
                                          <p:spTgt spid="2"/>
                                        </p:tgtEl>
                                        <p:attrNameLst>
                                          <p:attrName>ppt_x</p:attrName>
                                          <p:attrName>ppt_y</p:attrName>
                                        </p:attrNameLst>
                                      </p:cBhvr>
                                      <p:rCtr x="162" y="50"/>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0" presetClass="path" presetSubtype="0" accel="50000" decel="50000" fill="hold" nodeType="clickEffect">
                                  <p:stCondLst>
                                    <p:cond delay="0"/>
                                  </p:stCondLst>
                                  <p:childTnLst>
                                    <p:animMotion origin="layout" path="M 8.33333E-7 7.40741E-7 L 0.38594 0.3331 " pathEditMode="relative" rAng="0" ptsTypes="AA">
                                      <p:cBhvr>
                                        <p:cTn id="15" dur="2000" fill="hold"/>
                                        <p:tgtEl>
                                          <p:spTgt spid="30"/>
                                        </p:tgtEl>
                                        <p:attrNameLst>
                                          <p:attrName>ppt_x</p:attrName>
                                          <p:attrName>ppt_y</p:attrName>
                                        </p:attrNameLst>
                                      </p:cBhvr>
                                      <p:rCtr x="193" y="166"/>
                                    </p:animMotion>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5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dissolve">
                                      <p:cBhvr>
                                        <p:cTn id="25" dur="500"/>
                                        <p:tgtEl>
                                          <p:spTgt spid="37"/>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dissolve">
                                      <p:cBhvr>
                                        <p:cTn id="28" dur="50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par>
                                <p:cTn id="34" presetID="22" presetClass="entr" presetSubtype="8"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left)">
                                      <p:cBhvr>
                                        <p:cTn id="36" dur="500"/>
                                        <p:tgtEl>
                                          <p:spTgt spid="2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dissolve">
                                      <p:cBhvr>
                                        <p:cTn id="39" dur="500"/>
                                        <p:tgtEl>
                                          <p:spTgt spid="4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dissolve">
                                      <p:cBhvr>
                                        <p:cTn id="42" dur="500"/>
                                        <p:tgtEl>
                                          <p:spTgt spid="40"/>
                                        </p:tgtEl>
                                      </p:cBhvr>
                                    </p:animEffect>
                                  </p:childTnLst>
                                </p:cTn>
                              </p:par>
                              <p:par>
                                <p:cTn id="43" presetID="1" presetClass="exit" presetSubtype="0" fill="hold" grpId="1" nodeType="withEffect">
                                  <p:stCondLst>
                                    <p:cond delay="0"/>
                                  </p:stCondLst>
                                  <p:childTnLst>
                                    <p:set>
                                      <p:cBhvr>
                                        <p:cTn id="44" dur="1" fill="hold">
                                          <p:stCondLst>
                                            <p:cond delay="0"/>
                                          </p:stCondLst>
                                        </p:cTn>
                                        <p:tgtEl>
                                          <p:spTgt spid="37"/>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P spid="38" grpId="0"/>
      <p:bldP spid="38" grpId="1"/>
      <p:bldP spid="40" grpId="0"/>
      <p:bldP spid="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2400" y="1066800"/>
            <a:ext cx="8839200" cy="495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Glide – Secret of Glide Control</a:t>
            </a:r>
            <a:endParaRPr lang="en-US" sz="3600" b="1" dirty="0">
              <a:effectLst>
                <a:outerShdw blurRad="38100" dist="38100" dir="2700000" algn="tl">
                  <a:srgbClr val="000000">
                    <a:alpha val="43137"/>
                  </a:srgbClr>
                </a:outerShdw>
              </a:effectLst>
            </a:endParaRPr>
          </a:p>
        </p:txBody>
      </p:sp>
      <p:sp>
        <p:nvSpPr>
          <p:cNvPr id="11" name="Freeform 10"/>
          <p:cNvSpPr/>
          <p:nvPr/>
        </p:nvSpPr>
        <p:spPr>
          <a:xfrm>
            <a:off x="3276600" y="5257800"/>
            <a:ext cx="5716451" cy="228600"/>
          </a:xfrm>
          <a:custGeom>
            <a:avLst/>
            <a:gdLst>
              <a:gd name="connsiteX0" fmla="*/ 5904412 w 5917475"/>
              <a:gd name="connsiteY0" fmla="*/ 0 h 431074"/>
              <a:gd name="connsiteX1" fmla="*/ 692332 w 5917475"/>
              <a:gd name="connsiteY1" fmla="*/ 13063 h 431074"/>
              <a:gd name="connsiteX2" fmla="*/ 0 w 5917475"/>
              <a:gd name="connsiteY2" fmla="*/ 378823 h 431074"/>
              <a:gd name="connsiteX3" fmla="*/ 5917475 w 5917475"/>
              <a:gd name="connsiteY3" fmla="*/ 431074 h 431074"/>
              <a:gd name="connsiteX4" fmla="*/ 5904412 w 5917475"/>
              <a:gd name="connsiteY4" fmla="*/ 0 h 431074"/>
              <a:gd name="connsiteX0" fmla="*/ 5921829 w 5921829"/>
              <a:gd name="connsiteY0" fmla="*/ 0 h 426720"/>
              <a:gd name="connsiteX1" fmla="*/ 692332 w 5921829"/>
              <a:gd name="connsiteY1" fmla="*/ 8709 h 426720"/>
              <a:gd name="connsiteX2" fmla="*/ 0 w 5921829"/>
              <a:gd name="connsiteY2" fmla="*/ 374469 h 426720"/>
              <a:gd name="connsiteX3" fmla="*/ 5917475 w 5921829"/>
              <a:gd name="connsiteY3" fmla="*/ 426720 h 426720"/>
              <a:gd name="connsiteX4" fmla="*/ 5921829 w 5921829"/>
              <a:gd name="connsiteY4" fmla="*/ 0 h 426720"/>
              <a:gd name="connsiteX0" fmla="*/ 5693229 w 5693229"/>
              <a:gd name="connsiteY0" fmla="*/ 0 h 426720"/>
              <a:gd name="connsiteX1" fmla="*/ 463732 w 5693229"/>
              <a:gd name="connsiteY1" fmla="*/ 8709 h 426720"/>
              <a:gd name="connsiteX2" fmla="*/ 0 w 5693229"/>
              <a:gd name="connsiteY2" fmla="*/ 228600 h 426720"/>
              <a:gd name="connsiteX3" fmla="*/ 5688875 w 5693229"/>
              <a:gd name="connsiteY3" fmla="*/ 426720 h 426720"/>
              <a:gd name="connsiteX4" fmla="*/ 5693229 w 5693229"/>
              <a:gd name="connsiteY4" fmla="*/ 0 h 426720"/>
              <a:gd name="connsiteX0" fmla="*/ 5693229 w 5716451"/>
              <a:gd name="connsiteY0" fmla="*/ 0 h 228600"/>
              <a:gd name="connsiteX1" fmla="*/ 463732 w 5716451"/>
              <a:gd name="connsiteY1" fmla="*/ 8709 h 228600"/>
              <a:gd name="connsiteX2" fmla="*/ 0 w 5716451"/>
              <a:gd name="connsiteY2" fmla="*/ 228600 h 228600"/>
              <a:gd name="connsiteX3" fmla="*/ 5715000 w 5716451"/>
              <a:gd name="connsiteY3" fmla="*/ 228600 h 228600"/>
              <a:gd name="connsiteX4" fmla="*/ 5693229 w 5716451"/>
              <a:gd name="connsiteY4" fmla="*/ 0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6451" h="228600">
                <a:moveTo>
                  <a:pt x="5693229" y="0"/>
                </a:moveTo>
                <a:lnTo>
                  <a:pt x="463732" y="8709"/>
                </a:lnTo>
                <a:lnTo>
                  <a:pt x="0" y="228600"/>
                </a:lnTo>
                <a:lnTo>
                  <a:pt x="5715000" y="228600"/>
                </a:lnTo>
                <a:cubicBezTo>
                  <a:pt x="5716451" y="86360"/>
                  <a:pt x="5691778" y="142240"/>
                  <a:pt x="5693229" y="0"/>
                </a:cubicBezTo>
                <a:close/>
              </a:path>
            </a:pathLst>
          </a:custGeom>
          <a:solidFill>
            <a:schemeClr val="bg1">
              <a:lumMod val="50000"/>
            </a:schemeClr>
          </a:solidFill>
          <a:ln w="9525">
            <a:solidFill>
              <a:srgbClr val="0808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p:nvCxnSpPr>
        <p:spPr>
          <a:xfrm>
            <a:off x="1981200" y="1828800"/>
            <a:ext cx="6324600" cy="3429000"/>
          </a:xfrm>
          <a:prstGeom prst="straightConnector1">
            <a:avLst/>
          </a:prstGeom>
          <a:ln w="381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1905000" y="2057400"/>
            <a:ext cx="2438400" cy="3200400"/>
          </a:xfrm>
          <a:prstGeom prst="straightConnector1">
            <a:avLst/>
          </a:prstGeom>
          <a:ln w="381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30" name="Picture 2" descr="C:\Users\cosievert\Documents\MSFC\glide.JPG"/>
          <p:cNvPicPr>
            <a:picLocks noChangeAspect="1" noChangeArrowheads="1"/>
          </p:cNvPicPr>
          <p:nvPr/>
        </p:nvPicPr>
        <p:blipFill>
          <a:blip r:embed="rId4" cstate="print"/>
          <a:srcRect/>
          <a:stretch>
            <a:fillRect/>
          </a:stretch>
        </p:blipFill>
        <p:spPr bwMode="auto">
          <a:xfrm rot="609519">
            <a:off x="4468132" y="3083211"/>
            <a:ext cx="1024962" cy="641428"/>
          </a:xfrm>
          <a:prstGeom prst="rect">
            <a:avLst/>
          </a:prstGeom>
          <a:noFill/>
        </p:spPr>
      </p:pic>
      <p:sp>
        <p:nvSpPr>
          <p:cNvPr id="34" name="TextBox 33"/>
          <p:cNvSpPr txBox="1"/>
          <p:nvPr/>
        </p:nvSpPr>
        <p:spPr>
          <a:xfrm>
            <a:off x="5257800" y="1828800"/>
            <a:ext cx="3429000" cy="923330"/>
          </a:xfrm>
          <a:prstGeom prst="rect">
            <a:avLst/>
          </a:prstGeom>
          <a:noFill/>
        </p:spPr>
        <p:txBody>
          <a:bodyPr wrap="square" rtlCol="0">
            <a:spAutoFit/>
          </a:bodyPr>
          <a:lstStyle/>
          <a:p>
            <a:pPr algn="just"/>
            <a:r>
              <a:rPr lang="en-US" b="1" dirty="0" smtClean="0"/>
              <a:t>Most efficient glide </a:t>
            </a:r>
            <a:r>
              <a:rPr lang="en-US" dirty="0" smtClean="0"/>
              <a:t>– compromise between dangerously slow and awkwardly excessive speeds </a:t>
            </a:r>
            <a:endParaRPr lang="en-US" dirty="0"/>
          </a:p>
        </p:txBody>
      </p:sp>
      <p:pic>
        <p:nvPicPr>
          <p:cNvPr id="2" name="Picture 2" descr="C:\Users\cosievert\Documents\MSFC\glide.JPG"/>
          <p:cNvPicPr>
            <a:picLocks noChangeAspect="1" noChangeArrowheads="1"/>
          </p:cNvPicPr>
          <p:nvPr/>
        </p:nvPicPr>
        <p:blipFill>
          <a:blip r:embed="rId4" cstate="print"/>
          <a:srcRect/>
          <a:stretch>
            <a:fillRect/>
          </a:stretch>
        </p:blipFill>
        <p:spPr bwMode="auto">
          <a:xfrm rot="20237256">
            <a:off x="2284923" y="3041208"/>
            <a:ext cx="1024962" cy="641428"/>
          </a:xfrm>
          <a:prstGeom prst="rect">
            <a:avLst/>
          </a:prstGeom>
          <a:noFill/>
        </p:spPr>
      </p:pic>
      <p:cxnSp>
        <p:nvCxnSpPr>
          <p:cNvPr id="22" name="Straight Arrow Connector 21"/>
          <p:cNvCxnSpPr/>
          <p:nvPr/>
        </p:nvCxnSpPr>
        <p:spPr>
          <a:xfrm>
            <a:off x="1905000" y="1905000"/>
            <a:ext cx="4495800" cy="3352800"/>
          </a:xfrm>
          <a:prstGeom prst="straightConnector1">
            <a:avLst/>
          </a:prstGeom>
          <a:ln w="381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21" name="Picture 2" descr="C:\Users\cosievert\Documents\MSFC\glide.JPG"/>
          <p:cNvPicPr>
            <a:picLocks noChangeAspect="1" noChangeArrowheads="1"/>
          </p:cNvPicPr>
          <p:nvPr/>
        </p:nvPicPr>
        <p:blipFill>
          <a:blip r:embed="rId4" cstate="print"/>
          <a:srcRect/>
          <a:stretch>
            <a:fillRect/>
          </a:stretch>
        </p:blipFill>
        <p:spPr bwMode="auto">
          <a:xfrm>
            <a:off x="3318438" y="3092372"/>
            <a:ext cx="1024962" cy="641428"/>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Glide – Secret of Glide Control</a:t>
            </a:r>
            <a:endParaRPr lang="en-US" sz="3600" b="1" dirty="0">
              <a:effectLst>
                <a:outerShdw blurRad="38100" dist="38100" dir="2700000" algn="tl">
                  <a:srgbClr val="000000">
                    <a:alpha val="43137"/>
                  </a:srgbClr>
                </a:outerShdw>
              </a:effectLst>
            </a:endParaRPr>
          </a:p>
        </p:txBody>
      </p:sp>
      <p:sp>
        <p:nvSpPr>
          <p:cNvPr id="19" name="TextBox 18"/>
          <p:cNvSpPr txBox="1"/>
          <p:nvPr/>
        </p:nvSpPr>
        <p:spPr>
          <a:xfrm>
            <a:off x="304799" y="1219200"/>
            <a:ext cx="8610601" cy="4708981"/>
          </a:xfrm>
          <a:prstGeom prst="rect">
            <a:avLst/>
          </a:prstGeom>
          <a:noFill/>
        </p:spPr>
        <p:txBody>
          <a:bodyPr wrap="square" rtlCol="0">
            <a:spAutoFit/>
          </a:bodyPr>
          <a:lstStyle/>
          <a:p>
            <a:pPr algn="ctr"/>
            <a:r>
              <a:rPr lang="en-US" sz="3000" dirty="0" smtClean="0"/>
              <a:t> If you want to </a:t>
            </a:r>
            <a:r>
              <a:rPr lang="en-US" sz="3000" u="sng" dirty="0" smtClean="0"/>
              <a:t>go down more steeply </a:t>
            </a:r>
            <a:r>
              <a:rPr lang="en-US" sz="3000" dirty="0" smtClean="0"/>
              <a:t>– </a:t>
            </a:r>
          </a:p>
          <a:p>
            <a:pPr algn="ctr"/>
            <a:r>
              <a:rPr lang="en-US" sz="3000" dirty="0" smtClean="0"/>
              <a:t>   </a:t>
            </a:r>
            <a:r>
              <a:rPr lang="en-US" sz="3000" b="1" dirty="0" smtClean="0"/>
              <a:t>point nose down LESS</a:t>
            </a:r>
          </a:p>
          <a:p>
            <a:pPr algn="ctr"/>
            <a:endParaRPr lang="en-US" sz="3000" b="1" dirty="0" smtClean="0"/>
          </a:p>
          <a:p>
            <a:pPr algn="ctr"/>
            <a:r>
              <a:rPr lang="en-US" sz="3000" dirty="0" smtClean="0"/>
              <a:t> If you want to </a:t>
            </a:r>
            <a:r>
              <a:rPr lang="en-US" sz="3000" u="sng" dirty="0" smtClean="0"/>
              <a:t>go down less steeply </a:t>
            </a:r>
            <a:r>
              <a:rPr lang="en-US" sz="3000" dirty="0" smtClean="0"/>
              <a:t>– </a:t>
            </a:r>
          </a:p>
          <a:p>
            <a:pPr algn="ctr"/>
            <a:r>
              <a:rPr lang="en-US" sz="3000" dirty="0" smtClean="0"/>
              <a:t>   </a:t>
            </a:r>
            <a:r>
              <a:rPr lang="en-US" sz="3000" b="1" dirty="0" smtClean="0"/>
              <a:t>point nose down MORE</a:t>
            </a:r>
          </a:p>
          <a:p>
            <a:endParaRPr lang="en-US" sz="3000" dirty="0" smtClean="0"/>
          </a:p>
          <a:p>
            <a:pPr algn="ctr"/>
            <a:r>
              <a:rPr lang="en-US" sz="3000" b="1" dirty="0" smtClean="0">
                <a:effectLst>
                  <a:outerShdw blurRad="50800" dist="38100" dir="2700000" algn="tl" rotWithShape="0">
                    <a:prstClr val="black">
                      <a:alpha val="40000"/>
                    </a:prstClr>
                  </a:outerShdw>
                </a:effectLst>
              </a:rPr>
              <a:t>Because this runs contrary to one’s ground experience, it is extremely hard to do </a:t>
            </a:r>
          </a:p>
          <a:p>
            <a:pPr algn="ctr"/>
            <a:r>
              <a:rPr lang="en-US" sz="3000" b="1" dirty="0" smtClean="0">
                <a:effectLst>
                  <a:outerShdw blurRad="50800" dist="38100" dir="2700000" algn="tl" rotWithShape="0">
                    <a:prstClr val="black">
                      <a:alpha val="40000"/>
                    </a:prstClr>
                  </a:outerShdw>
                </a:effectLst>
              </a:rPr>
              <a:t>the right thing – specially in an EMERGENCY </a:t>
            </a:r>
          </a:p>
          <a:p>
            <a:pPr algn="ctr"/>
            <a:r>
              <a:rPr lang="en-US" sz="3000" b="1" dirty="0" smtClean="0">
                <a:effectLst>
                  <a:outerShdw blurRad="50800" dist="38100" dir="2700000" algn="tl" rotWithShape="0">
                    <a:prstClr val="black">
                      <a:alpha val="40000"/>
                    </a:prstClr>
                  </a:outerShdw>
                </a:effectLst>
              </a:rPr>
              <a:t>when glide control matters</a:t>
            </a:r>
            <a:endParaRPr lang="en-US" sz="3000" b="1" dirty="0">
              <a:effectLst>
                <a:outerShdw blurRad="50800" dist="38100" dir="2700000" algn="tl" rotWithShape="0">
                  <a:prstClr val="black">
                    <a:alpha val="40000"/>
                  </a:prst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9">
                                            <p:txEl>
                                              <p:pRg st="1" end="1"/>
                                            </p:txEl>
                                          </p:spTgt>
                                        </p:tgtEl>
                                        <p:attrNameLst>
                                          <p:attrName>style.visibility</p:attrName>
                                        </p:attrNameLst>
                                      </p:cBhvr>
                                      <p:to>
                                        <p:strVal val="visible"/>
                                      </p:to>
                                    </p:set>
                                    <p:anim calcmode="lin" valueType="num">
                                      <p:cBhvr additive="base">
                                        <p:cTn id="13" dur="500" fill="hold"/>
                                        <p:tgtEl>
                                          <p:spTgt spid="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9">
                                            <p:txEl>
                                              <p:pRg st="3" end="3"/>
                                            </p:txEl>
                                          </p:spTgt>
                                        </p:tgtEl>
                                        <p:attrNameLst>
                                          <p:attrName>style.visibility</p:attrName>
                                        </p:attrNameLst>
                                      </p:cBhvr>
                                      <p:to>
                                        <p:strVal val="visible"/>
                                      </p:to>
                                    </p:set>
                                    <p:anim calcmode="lin" valueType="num">
                                      <p:cBhvr additive="base">
                                        <p:cTn id="19" dur="500" fill="hold"/>
                                        <p:tgtEl>
                                          <p:spTgt spid="1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9">
                                            <p:txEl>
                                              <p:pRg st="4" end="4"/>
                                            </p:txEl>
                                          </p:spTgt>
                                        </p:tgtEl>
                                        <p:attrNameLst>
                                          <p:attrName>style.visibility</p:attrName>
                                        </p:attrNameLst>
                                      </p:cBhvr>
                                      <p:to>
                                        <p:strVal val="visible"/>
                                      </p:to>
                                    </p:set>
                                    <p:anim calcmode="lin" valueType="num">
                                      <p:cBhvr additive="base">
                                        <p:cTn id="23" dur="500" fill="hold"/>
                                        <p:tgtEl>
                                          <p:spTgt spid="19">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19">
                                            <p:txEl>
                                              <p:pRg st="6" end="6"/>
                                            </p:txEl>
                                          </p:spTgt>
                                        </p:tgtEl>
                                        <p:attrNameLst>
                                          <p:attrName>style.visibility</p:attrName>
                                        </p:attrNameLst>
                                      </p:cBhvr>
                                      <p:to>
                                        <p:strVal val="visible"/>
                                      </p:to>
                                    </p:set>
                                    <p:anim calcmode="lin" valueType="num">
                                      <p:cBhvr additive="base">
                                        <p:cTn id="29" dur="500" fill="hold"/>
                                        <p:tgtEl>
                                          <p:spTgt spid="19">
                                            <p:txEl>
                                              <p:pRg st="6" end="6"/>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9">
                                            <p:txEl>
                                              <p:pRg st="6" end="6"/>
                                            </p:txEl>
                                          </p:spTgt>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19">
                                            <p:txEl>
                                              <p:pRg st="7" end="7"/>
                                            </p:txEl>
                                          </p:spTgt>
                                        </p:tgtEl>
                                        <p:attrNameLst>
                                          <p:attrName>style.visibility</p:attrName>
                                        </p:attrNameLst>
                                      </p:cBhvr>
                                      <p:to>
                                        <p:strVal val="visible"/>
                                      </p:to>
                                    </p:set>
                                    <p:anim calcmode="lin" valueType="num">
                                      <p:cBhvr additive="base">
                                        <p:cTn id="33" dur="500" fill="hold"/>
                                        <p:tgtEl>
                                          <p:spTgt spid="19">
                                            <p:txEl>
                                              <p:pRg st="7" end="7"/>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9">
                                            <p:txEl>
                                              <p:pRg st="7" end="7"/>
                                            </p:txEl>
                                          </p:spTgt>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19">
                                            <p:txEl>
                                              <p:pRg st="8" end="8"/>
                                            </p:txEl>
                                          </p:spTgt>
                                        </p:tgtEl>
                                        <p:attrNameLst>
                                          <p:attrName>style.visibility</p:attrName>
                                        </p:attrNameLst>
                                      </p:cBhvr>
                                      <p:to>
                                        <p:strVal val="visible"/>
                                      </p:to>
                                    </p:set>
                                    <p:anim calcmode="lin" valueType="num">
                                      <p:cBhvr additive="base">
                                        <p:cTn id="37" dur="500" fill="hold"/>
                                        <p:tgtEl>
                                          <p:spTgt spid="19">
                                            <p:txEl>
                                              <p:pRg st="8" end="8"/>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Glide </a:t>
            </a:r>
            <a:endParaRPr lang="en-US" sz="3600" b="1" dirty="0">
              <a:effectLst>
                <a:outerShdw blurRad="38100" dist="38100" dir="2700000" algn="tl">
                  <a:srgbClr val="000000">
                    <a:alpha val="43137"/>
                  </a:srgbClr>
                </a:outerShdw>
              </a:effectLst>
            </a:endParaRPr>
          </a:p>
        </p:txBody>
      </p:sp>
      <p:sp>
        <p:nvSpPr>
          <p:cNvPr id="19" name="TextBox 18"/>
          <p:cNvSpPr txBox="1"/>
          <p:nvPr/>
        </p:nvSpPr>
        <p:spPr>
          <a:xfrm>
            <a:off x="304799" y="1219200"/>
            <a:ext cx="8610601" cy="4247317"/>
          </a:xfrm>
          <a:prstGeom prst="rect">
            <a:avLst/>
          </a:prstGeom>
          <a:noFill/>
        </p:spPr>
        <p:txBody>
          <a:bodyPr wrap="square" rtlCol="0">
            <a:spAutoFit/>
          </a:bodyPr>
          <a:lstStyle/>
          <a:p>
            <a:pPr algn="just"/>
            <a:r>
              <a:rPr lang="en-US" sz="3000" b="1" dirty="0" smtClean="0"/>
              <a:t>In an emergency landing, avoid a stall or a spin, get the airplane down to the ground UNDER CONTROL</a:t>
            </a:r>
          </a:p>
          <a:p>
            <a:pPr algn="just"/>
            <a:endParaRPr lang="en-US" sz="3000" b="1" dirty="0" smtClean="0"/>
          </a:p>
          <a:p>
            <a:pPr algn="just"/>
            <a:endParaRPr lang="en-US" sz="3000" b="1" dirty="0" smtClean="0"/>
          </a:p>
          <a:p>
            <a:pPr algn="just"/>
            <a:endParaRPr lang="en-US" sz="3000" b="1" dirty="0" smtClean="0"/>
          </a:p>
          <a:p>
            <a:pPr algn="ctr"/>
            <a:r>
              <a:rPr lang="en-US" sz="3000" b="1" dirty="0" smtClean="0"/>
              <a:t>The only way to KILL yourself in an airplane is to hit the ground nose first</a:t>
            </a:r>
          </a:p>
          <a:p>
            <a:pPr algn="just"/>
            <a:endParaRPr lang="en-US" sz="3000" dirty="0" smtClean="0"/>
          </a:p>
          <a:p>
            <a:pPr algn="just"/>
            <a:endParaRPr lang="en-US" sz="3000" b="1" dirty="0">
              <a:effectLst>
                <a:outerShdw blurRad="50800" dist="38100" dir="2700000" algn="tl" rotWithShape="0">
                  <a:prstClr val="black">
                    <a:alpha val="40000"/>
                  </a:prst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9">
                                            <p:txEl>
                                              <p:pRg st="4" end="4"/>
                                            </p:txEl>
                                          </p:spTgt>
                                        </p:tgtEl>
                                        <p:attrNameLst>
                                          <p:attrName>style.visibility</p:attrName>
                                        </p:attrNameLst>
                                      </p:cBhvr>
                                      <p:to>
                                        <p:strVal val="visible"/>
                                      </p:to>
                                    </p:set>
                                    <p:anim calcmode="lin" valueType="num">
                                      <p:cBhvr additive="base">
                                        <p:cTn id="13" dur="500" fill="hold"/>
                                        <p:tgtEl>
                                          <p:spTgt spid="19">
                                            <p:txEl>
                                              <p:pRg st="4" end="4"/>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The Climb</a:t>
            </a:r>
            <a:endParaRPr lang="en-US" sz="3600" b="1" dirty="0">
              <a:effectLst>
                <a:outerShdw blurRad="38100" dist="38100" dir="2700000" algn="tl">
                  <a:srgbClr val="000000">
                    <a:alpha val="43137"/>
                  </a:srgbClr>
                </a:outerShdw>
              </a:effectLst>
            </a:endParaRPr>
          </a:p>
        </p:txBody>
      </p:sp>
      <p:sp>
        <p:nvSpPr>
          <p:cNvPr id="7" name="Rectangle 6"/>
          <p:cNvSpPr/>
          <p:nvPr/>
        </p:nvSpPr>
        <p:spPr>
          <a:xfrm>
            <a:off x="533400" y="2641937"/>
            <a:ext cx="8153400" cy="1015663"/>
          </a:xfrm>
          <a:prstGeom prst="rect">
            <a:avLst/>
          </a:prstGeom>
        </p:spPr>
        <p:txBody>
          <a:bodyPr wrap="square">
            <a:spAutoFit/>
          </a:bodyPr>
          <a:lstStyle/>
          <a:p>
            <a:r>
              <a:rPr lang="en-US" sz="3000" dirty="0" smtClean="0"/>
              <a:t>There is only one thing that will ever make an airplane go up – </a:t>
            </a:r>
            <a:r>
              <a:rPr lang="en-US" sz="3000" b="1" dirty="0" smtClean="0"/>
              <a:t>ENGINE POWER </a:t>
            </a:r>
            <a:r>
              <a:rPr lang="en-US" sz="3000" dirty="0" smtClean="0"/>
              <a:t>(the real elevator)</a:t>
            </a:r>
            <a:endParaRPr lang="en-US" sz="3000" dirty="0">
              <a:effectLst>
                <a:outerShdw blurRad="50800" dist="38100" dir="2700000" algn="tl" rotWithShape="0">
                  <a:prstClr val="black">
                    <a:alpha val="40000"/>
                  </a:prstClr>
                </a:outerShdw>
              </a:effectLst>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Phases of Flight</a:t>
            </a:r>
            <a:endParaRPr lang="en-US" sz="3600" b="1" dirty="0">
              <a:effectLst>
                <a:outerShdw blurRad="38100" dist="38100" dir="2700000" algn="tl">
                  <a:srgbClr val="000000">
                    <a:alpha val="43137"/>
                  </a:srgbClr>
                </a:outerShdw>
              </a:effectLst>
            </a:endParaRPr>
          </a:p>
        </p:txBody>
      </p:sp>
      <p:sp>
        <p:nvSpPr>
          <p:cNvPr id="16" name="TextBox 15"/>
          <p:cNvSpPr txBox="1"/>
          <p:nvPr/>
        </p:nvSpPr>
        <p:spPr>
          <a:xfrm>
            <a:off x="762000" y="5105400"/>
            <a:ext cx="7696200" cy="1015663"/>
          </a:xfrm>
          <a:prstGeom prst="rect">
            <a:avLst/>
          </a:prstGeom>
          <a:noFill/>
        </p:spPr>
        <p:txBody>
          <a:bodyPr wrap="square" rtlCol="0">
            <a:spAutoFit/>
          </a:bodyPr>
          <a:lstStyle/>
          <a:p>
            <a:pPr algn="ctr"/>
            <a:r>
              <a:rPr lang="en-US" sz="3000" dirty="0" smtClean="0"/>
              <a:t>Transitions are performed between each phase involving changes in </a:t>
            </a:r>
            <a:r>
              <a:rPr lang="en-US" sz="3000" b="1" dirty="0" smtClean="0"/>
              <a:t>Power</a:t>
            </a:r>
            <a:r>
              <a:rPr lang="en-US" sz="3000" dirty="0" smtClean="0"/>
              <a:t> and </a:t>
            </a:r>
            <a:r>
              <a:rPr lang="en-US" sz="3000" b="1" dirty="0" smtClean="0"/>
              <a:t>Angle of Attack</a:t>
            </a:r>
            <a:endParaRPr lang="en-US" sz="3000" b="1" dirty="0"/>
          </a:p>
        </p:txBody>
      </p:sp>
      <p:pic>
        <p:nvPicPr>
          <p:cNvPr id="3074" name="Picture 2"/>
          <p:cNvPicPr>
            <a:picLocks noChangeAspect="1" noChangeArrowheads="1"/>
          </p:cNvPicPr>
          <p:nvPr/>
        </p:nvPicPr>
        <p:blipFill>
          <a:blip r:embed="rId4" cstate="print"/>
          <a:srcRect/>
          <a:stretch>
            <a:fillRect/>
          </a:stretch>
        </p:blipFill>
        <p:spPr bwMode="auto">
          <a:xfrm>
            <a:off x="304800" y="815622"/>
            <a:ext cx="8534400" cy="4289778"/>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Transition from Climb to Level Flight</a:t>
            </a:r>
            <a:endParaRPr lang="en-US" sz="3600" b="1" dirty="0">
              <a:effectLst>
                <a:outerShdw blurRad="38100" dist="38100" dir="2700000" algn="tl">
                  <a:srgbClr val="000000">
                    <a:alpha val="43137"/>
                  </a:srgbClr>
                </a:outerShdw>
              </a:effectLst>
            </a:endParaRPr>
          </a:p>
        </p:txBody>
      </p:sp>
      <p:pic>
        <p:nvPicPr>
          <p:cNvPr id="2" name="Picture 2"/>
          <p:cNvPicPr>
            <a:picLocks noChangeAspect="1" noChangeArrowheads="1"/>
          </p:cNvPicPr>
          <p:nvPr/>
        </p:nvPicPr>
        <p:blipFill>
          <a:blip r:embed="rId4" cstate="print"/>
          <a:srcRect/>
          <a:stretch>
            <a:fillRect/>
          </a:stretch>
        </p:blipFill>
        <p:spPr bwMode="auto">
          <a:xfrm>
            <a:off x="304800" y="762000"/>
            <a:ext cx="8534400" cy="4104158"/>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2" name="Rectangle 11"/>
          <p:cNvSpPr/>
          <p:nvPr/>
        </p:nvSpPr>
        <p:spPr>
          <a:xfrm>
            <a:off x="2057400" y="838200"/>
            <a:ext cx="6781800" cy="396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733800" y="838200"/>
            <a:ext cx="5105400" cy="396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410200" y="838200"/>
            <a:ext cx="3429000" cy="396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838200"/>
            <a:ext cx="1752600" cy="396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762000" y="5105400"/>
            <a:ext cx="7696200" cy="1015663"/>
          </a:xfrm>
          <a:prstGeom prst="rect">
            <a:avLst/>
          </a:prstGeom>
          <a:noFill/>
        </p:spPr>
        <p:txBody>
          <a:bodyPr wrap="square" rtlCol="0">
            <a:spAutoFit/>
          </a:bodyPr>
          <a:lstStyle/>
          <a:p>
            <a:pPr algn="ctr"/>
            <a:r>
              <a:rPr lang="en-US" sz="3000" dirty="0" smtClean="0"/>
              <a:t>Adjust pitch first (lower AOA) when transitioning from climb to level flight</a:t>
            </a:r>
            <a:endParaRPr lang="en-US" sz="3000" dirty="0"/>
          </a:p>
        </p:txBody>
      </p:sp>
      <p:sp>
        <p:nvSpPr>
          <p:cNvPr id="17" name="TextBox 16"/>
          <p:cNvSpPr txBox="1"/>
          <p:nvPr/>
        </p:nvSpPr>
        <p:spPr>
          <a:xfrm>
            <a:off x="762000" y="5105400"/>
            <a:ext cx="7696200" cy="1015663"/>
          </a:xfrm>
          <a:prstGeom prst="rect">
            <a:avLst/>
          </a:prstGeom>
          <a:noFill/>
        </p:spPr>
        <p:txBody>
          <a:bodyPr wrap="square" rtlCol="0">
            <a:spAutoFit/>
          </a:bodyPr>
          <a:lstStyle/>
          <a:p>
            <a:pPr algn="ctr"/>
            <a:r>
              <a:rPr lang="en-US" sz="3000" dirty="0" smtClean="0"/>
              <a:t>What happens if we reduce power first?</a:t>
            </a:r>
          </a:p>
          <a:p>
            <a:pPr algn="ctr"/>
            <a:r>
              <a:rPr lang="en-US" sz="3000" dirty="0" smtClean="0"/>
              <a:t>Remember the UL is at a high Angle Of Attack!!</a:t>
            </a:r>
            <a:endParaRPr lang="en-US" sz="3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1+#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xit" presetSubtype="8" fill="hold" grpId="1" nodeType="clickEffect">
                                  <p:stCondLst>
                                    <p:cond delay="0"/>
                                  </p:stCondLst>
                                  <p:childTnLst>
                                    <p:anim calcmode="lin" valueType="num">
                                      <p:cBhvr additive="base">
                                        <p:cTn id="32" dur="500"/>
                                        <p:tgtEl>
                                          <p:spTgt spid="16"/>
                                        </p:tgtEl>
                                        <p:attrNameLst>
                                          <p:attrName>ppt_x</p:attrName>
                                        </p:attrNameLst>
                                      </p:cBhvr>
                                      <p:tavLst>
                                        <p:tav tm="0">
                                          <p:val>
                                            <p:strVal val="ppt_x"/>
                                          </p:val>
                                        </p:tav>
                                        <p:tav tm="100000">
                                          <p:val>
                                            <p:strVal val="0-ppt_w/2"/>
                                          </p:val>
                                        </p:tav>
                                      </p:tavLst>
                                    </p:anim>
                                    <p:anim calcmode="lin" valueType="num">
                                      <p:cBhvr additive="base">
                                        <p:cTn id="33" dur="500"/>
                                        <p:tgtEl>
                                          <p:spTgt spid="16"/>
                                        </p:tgtEl>
                                        <p:attrNameLst>
                                          <p:attrName>ppt_y</p:attrName>
                                        </p:attrNameLst>
                                      </p:cBhvr>
                                      <p:tavLst>
                                        <p:tav tm="0">
                                          <p:val>
                                            <p:strVal val="ppt_y"/>
                                          </p:val>
                                        </p:tav>
                                        <p:tav tm="100000">
                                          <p:val>
                                            <p:strVal val="ppt_y"/>
                                          </p:val>
                                        </p:tav>
                                      </p:tavLst>
                                    </p:anim>
                                    <p:set>
                                      <p:cBhvr>
                                        <p:cTn id="34" dur="1" fill="hold">
                                          <p:stCondLst>
                                            <p:cond delay="499"/>
                                          </p:stCondLst>
                                        </p:cTn>
                                        <p:tgtEl>
                                          <p:spTgt spid="16"/>
                                        </p:tgtEl>
                                        <p:attrNameLst>
                                          <p:attrName>style.visibility</p:attrName>
                                        </p:attrNameLst>
                                      </p:cBhvr>
                                      <p:to>
                                        <p:strVal val="hidden"/>
                                      </p:to>
                                    </p:set>
                                  </p:childTnLst>
                                </p:cTn>
                              </p:par>
                              <p:par>
                                <p:cTn id="35" presetID="2" presetClass="entr" presetSubtype="2" fill="hold" nodeType="with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 calcmode="lin" valueType="num">
                                      <p:cBhvr additive="base">
                                        <p:cTn id="37"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17">
                                            <p:txEl>
                                              <p:pRg st="1" end="1"/>
                                            </p:txEl>
                                          </p:spTgt>
                                        </p:tgtEl>
                                        <p:attrNameLst>
                                          <p:attrName>style.visibility</p:attrName>
                                        </p:attrNameLst>
                                      </p:cBhvr>
                                      <p:to>
                                        <p:strVal val="visible"/>
                                      </p:to>
                                    </p:set>
                                    <p:anim calcmode="lin" valueType="num">
                                      <p:cBhvr additive="base">
                                        <p:cTn id="43" dur="500" fill="hold"/>
                                        <p:tgtEl>
                                          <p:spTgt spid="17">
                                            <p:txEl>
                                              <p:pRg st="1" end="1"/>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p:bldP spid="16"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3" cstate="print"/>
          <a:srcRect/>
          <a:stretch>
            <a:fillRect/>
          </a:stretch>
        </p:blipFill>
        <p:spPr bwMode="auto">
          <a:xfrm>
            <a:off x="609600" y="827568"/>
            <a:ext cx="8001000" cy="3963507"/>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4"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Transition from Level Flight to Descent</a:t>
            </a:r>
            <a:endParaRPr lang="en-US" sz="3600" b="1" dirty="0">
              <a:effectLst>
                <a:outerShdw blurRad="38100" dist="38100" dir="2700000" algn="tl">
                  <a:srgbClr val="000000">
                    <a:alpha val="43137"/>
                  </a:srgbClr>
                </a:outerShdw>
              </a:effectLst>
            </a:endParaRPr>
          </a:p>
        </p:txBody>
      </p:sp>
      <p:sp>
        <p:nvSpPr>
          <p:cNvPr id="12" name="Rectangle 11"/>
          <p:cNvSpPr/>
          <p:nvPr/>
        </p:nvSpPr>
        <p:spPr>
          <a:xfrm>
            <a:off x="2438400" y="838200"/>
            <a:ext cx="617220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495800" y="838200"/>
            <a:ext cx="411480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838200"/>
            <a:ext cx="205740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762000" y="5029200"/>
            <a:ext cx="7696200" cy="1015663"/>
          </a:xfrm>
          <a:prstGeom prst="rect">
            <a:avLst/>
          </a:prstGeom>
          <a:noFill/>
        </p:spPr>
        <p:txBody>
          <a:bodyPr wrap="square" rtlCol="0">
            <a:spAutoFit/>
          </a:bodyPr>
          <a:lstStyle/>
          <a:p>
            <a:pPr algn="ctr"/>
            <a:r>
              <a:rPr lang="en-US" sz="3000" dirty="0" smtClean="0"/>
              <a:t>Adjust power first when transitioning from level flight to descent</a:t>
            </a:r>
            <a:endParaRPr lang="en-US" sz="3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1+#ppt_w/2"/>
                                          </p:val>
                                        </p:tav>
                                        <p:tav tm="100000">
                                          <p:val>
                                            <p:strVal val="#ppt_x"/>
                                          </p:val>
                                        </p:tav>
                                      </p:tavLst>
                                    </p:anim>
                                    <p:anim calcmode="lin" valueType="num">
                                      <p:cBhvr additive="base">
                                        <p:cTn id="23"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152400" y="39469"/>
            <a:ext cx="8229600" cy="646331"/>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Transition Summary</a:t>
            </a:r>
            <a:endParaRPr lang="en-US" sz="3600" b="1" dirty="0">
              <a:effectLst>
                <a:outerShdw blurRad="38100" dist="38100" dir="2700000" algn="tl">
                  <a:srgbClr val="000000">
                    <a:alpha val="43137"/>
                  </a:srgbClr>
                </a:outerShdw>
              </a:effectLst>
            </a:endParaRPr>
          </a:p>
        </p:txBody>
      </p:sp>
      <p:graphicFrame>
        <p:nvGraphicFramePr>
          <p:cNvPr id="11" name="Table 10"/>
          <p:cNvGraphicFramePr>
            <a:graphicFrameLocks noGrp="1"/>
          </p:cNvGraphicFramePr>
          <p:nvPr/>
        </p:nvGraphicFramePr>
        <p:xfrm>
          <a:off x="457200" y="843280"/>
          <a:ext cx="8305800" cy="5100321"/>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768600"/>
                <a:gridCol w="2768600"/>
                <a:gridCol w="2768600"/>
              </a:tblGrid>
              <a:tr h="946507">
                <a:tc>
                  <a:txBody>
                    <a:bodyPr/>
                    <a:lstStyle/>
                    <a:p>
                      <a:pPr algn="ctr"/>
                      <a:r>
                        <a:rPr lang="en-US" sz="3000" dirty="0" smtClean="0"/>
                        <a:t>TO  DO</a:t>
                      </a:r>
                      <a:endParaRPr lang="en-US" sz="3000" dirty="0"/>
                    </a:p>
                  </a:txBody>
                  <a:tcPr anchor="ctr"/>
                </a:tc>
                <a:tc>
                  <a:txBody>
                    <a:bodyPr/>
                    <a:lstStyle/>
                    <a:p>
                      <a:pPr algn="ctr"/>
                      <a:r>
                        <a:rPr lang="en-US" sz="3000" dirty="0" smtClean="0"/>
                        <a:t>1</a:t>
                      </a:r>
                      <a:endParaRPr lang="en-US" sz="3000" dirty="0"/>
                    </a:p>
                  </a:txBody>
                  <a:tcPr anchor="ctr"/>
                </a:tc>
                <a:tc>
                  <a:txBody>
                    <a:bodyPr/>
                    <a:lstStyle/>
                    <a:p>
                      <a:pPr algn="ctr"/>
                      <a:r>
                        <a:rPr lang="en-US" sz="3000" dirty="0" smtClean="0"/>
                        <a:t>2</a:t>
                      </a:r>
                      <a:endParaRPr lang="en-US" sz="3000" dirty="0"/>
                    </a:p>
                  </a:txBody>
                  <a:tcPr anchor="ctr"/>
                </a:tc>
              </a:tr>
              <a:tr h="1006002">
                <a:tc>
                  <a:txBody>
                    <a:bodyPr/>
                    <a:lstStyle/>
                    <a:p>
                      <a:pPr algn="ctr"/>
                      <a:r>
                        <a:rPr lang="en-US" sz="3000" b="1" i="1" dirty="0" smtClean="0">
                          <a:solidFill>
                            <a:schemeClr val="tx2">
                              <a:lumMod val="75000"/>
                            </a:schemeClr>
                          </a:solidFill>
                        </a:rPr>
                        <a:t>Climb to Level</a:t>
                      </a:r>
                      <a:endParaRPr lang="en-US" sz="3000" b="1" i="1" dirty="0">
                        <a:solidFill>
                          <a:schemeClr val="tx2">
                            <a:lumMod val="75000"/>
                          </a:schemeClr>
                        </a:solidFill>
                      </a:endParaRPr>
                    </a:p>
                  </a:txBody>
                  <a:tcPr anchor="ctr"/>
                </a:tc>
                <a:tc>
                  <a:txBody>
                    <a:bodyPr/>
                    <a:lstStyle/>
                    <a:p>
                      <a:pPr algn="ctr"/>
                      <a:r>
                        <a:rPr lang="en-US" sz="2800" b="1" dirty="0" smtClean="0"/>
                        <a:t>Pitch</a:t>
                      </a:r>
                      <a:r>
                        <a:rPr lang="en-US" sz="2800" b="1" baseline="0" dirty="0" smtClean="0"/>
                        <a:t>/AOA for airspeed</a:t>
                      </a:r>
                      <a:endParaRPr lang="en-US" sz="2800" b="1" dirty="0"/>
                    </a:p>
                  </a:txBody>
                  <a:tcPr anchor="ctr"/>
                </a:tc>
                <a:tc>
                  <a:txBody>
                    <a:bodyPr/>
                    <a:lstStyle/>
                    <a:p>
                      <a:pPr algn="ctr"/>
                      <a:r>
                        <a:rPr lang="en-US" sz="2800" b="1" dirty="0" smtClean="0"/>
                        <a:t>Power to level</a:t>
                      </a:r>
                      <a:endParaRPr lang="en-US" sz="2800" b="1" dirty="0"/>
                    </a:p>
                  </a:txBody>
                  <a:tcPr anchor="ctr"/>
                </a:tc>
              </a:tr>
              <a:tr h="1070905">
                <a:tc>
                  <a:txBody>
                    <a:bodyPr/>
                    <a:lstStyle/>
                    <a:p>
                      <a:pPr algn="ctr"/>
                      <a:r>
                        <a:rPr lang="en-US" sz="3000" b="1" i="1" dirty="0" smtClean="0">
                          <a:solidFill>
                            <a:schemeClr val="tx2">
                              <a:lumMod val="75000"/>
                            </a:schemeClr>
                          </a:solidFill>
                        </a:rPr>
                        <a:t>Level to Descent</a:t>
                      </a:r>
                      <a:endParaRPr lang="en-US" sz="3000" b="1" i="1" dirty="0">
                        <a:solidFill>
                          <a:schemeClr val="tx2">
                            <a:lumMod val="75000"/>
                          </a:schemeClr>
                        </a:solidFill>
                      </a:endParaRPr>
                    </a:p>
                  </a:txBody>
                  <a:tcPr anchor="ctr"/>
                </a:tc>
                <a:tc>
                  <a:txBody>
                    <a:bodyPr/>
                    <a:lstStyle/>
                    <a:p>
                      <a:pPr algn="ctr"/>
                      <a:r>
                        <a:rPr lang="en-US" sz="2800" b="1" dirty="0" smtClean="0"/>
                        <a:t>Reduce power to descend</a:t>
                      </a:r>
                      <a:endParaRPr lang="en-US" sz="2800" b="1" dirty="0"/>
                    </a:p>
                  </a:txBody>
                  <a:tcPr anchor="ctr"/>
                </a:tc>
                <a:tc>
                  <a:txBody>
                    <a:bodyPr/>
                    <a:lstStyle/>
                    <a:p>
                      <a:pPr algn="ctr"/>
                      <a:r>
                        <a:rPr lang="en-US" sz="2800" b="1" dirty="0" smtClean="0"/>
                        <a:t> Pitch/AOA for airspeed</a:t>
                      </a:r>
                      <a:endParaRPr lang="en-US" sz="2800" b="1" dirty="0"/>
                    </a:p>
                  </a:txBody>
                  <a:tcPr anchor="ctr"/>
                </a:tc>
              </a:tr>
              <a:tr h="1070905">
                <a:tc>
                  <a:txBody>
                    <a:bodyPr/>
                    <a:lstStyle/>
                    <a:p>
                      <a:pPr algn="ctr"/>
                      <a:r>
                        <a:rPr lang="en-US" sz="3000" b="1" i="1" dirty="0" smtClean="0">
                          <a:solidFill>
                            <a:schemeClr val="tx2">
                              <a:lumMod val="75000"/>
                            </a:schemeClr>
                          </a:solidFill>
                        </a:rPr>
                        <a:t>Descent to Level</a:t>
                      </a:r>
                      <a:endParaRPr lang="en-US" sz="3000" b="1" i="1" dirty="0">
                        <a:solidFill>
                          <a:schemeClr val="tx2">
                            <a:lumMod val="75000"/>
                          </a:schemeClr>
                        </a:solidFill>
                      </a:endParaRPr>
                    </a:p>
                  </a:txBody>
                  <a:tcPr anchor="ctr"/>
                </a:tc>
                <a:tc>
                  <a:txBody>
                    <a:bodyPr/>
                    <a:lstStyle/>
                    <a:p>
                      <a:pPr algn="ctr"/>
                      <a:r>
                        <a:rPr lang="en-US" sz="2800" b="1" dirty="0" smtClean="0"/>
                        <a:t>Power to stop descent</a:t>
                      </a:r>
                      <a:endParaRPr lang="en-US" sz="2800" b="1"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1" dirty="0" smtClean="0"/>
                        <a:t>Pitch/AOA for airspeed</a:t>
                      </a:r>
                    </a:p>
                  </a:txBody>
                  <a:tcPr anchor="ctr"/>
                </a:tc>
              </a:tr>
              <a:tr h="1006002">
                <a:tc>
                  <a:txBody>
                    <a:bodyPr/>
                    <a:lstStyle/>
                    <a:p>
                      <a:pPr algn="ctr"/>
                      <a:r>
                        <a:rPr lang="en-US" sz="3000" b="1" i="1" dirty="0" smtClean="0">
                          <a:solidFill>
                            <a:schemeClr val="tx2">
                              <a:lumMod val="75000"/>
                            </a:schemeClr>
                          </a:solidFill>
                        </a:rPr>
                        <a:t>Level</a:t>
                      </a:r>
                      <a:r>
                        <a:rPr lang="en-US" sz="3000" b="1" i="1" baseline="0" dirty="0" smtClean="0">
                          <a:solidFill>
                            <a:schemeClr val="tx2">
                              <a:lumMod val="75000"/>
                            </a:schemeClr>
                          </a:solidFill>
                        </a:rPr>
                        <a:t> to Climb </a:t>
                      </a:r>
                      <a:endParaRPr lang="en-US" sz="3000" b="1" i="1" dirty="0">
                        <a:solidFill>
                          <a:schemeClr val="tx2">
                            <a:lumMod val="75000"/>
                          </a:schemeClr>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1" dirty="0" smtClean="0"/>
                        <a:t>Pitch/AOA for airspeed</a:t>
                      </a:r>
                    </a:p>
                  </a:txBody>
                  <a:tcPr anchor="ctr"/>
                </a:tc>
                <a:tc>
                  <a:txBody>
                    <a:bodyPr/>
                    <a:lstStyle/>
                    <a:p>
                      <a:pPr algn="ctr"/>
                      <a:r>
                        <a:rPr lang="en-US" sz="2800" b="1" dirty="0" smtClean="0"/>
                        <a:t>Power to climb</a:t>
                      </a:r>
                      <a:endParaRPr lang="en-US" sz="2800" b="1" dirty="0"/>
                    </a:p>
                  </a:txBody>
                  <a:tcPr anchor="ct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172200"/>
            <a:ext cx="9144000" cy="685800"/>
          </a:xfrm>
          <a:prstGeom prst="rect">
            <a:avLst/>
          </a:prstGeom>
          <a:gradFill flip="none" rotWithShape="1">
            <a:gsLst>
              <a:gs pos="0">
                <a:schemeClr val="tx2"/>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cosievert\Documents\MSFC\logo.png"/>
          <p:cNvPicPr>
            <a:picLocks noChangeAspect="1" noChangeArrowheads="1"/>
          </p:cNvPicPr>
          <p:nvPr/>
        </p:nvPicPr>
        <p:blipFill>
          <a:blip r:embed="rId3" cstate="print"/>
          <a:srcRect/>
          <a:stretch>
            <a:fillRect/>
          </a:stretch>
        </p:blipFill>
        <p:spPr bwMode="auto">
          <a:xfrm>
            <a:off x="8042276" y="6248400"/>
            <a:ext cx="949324" cy="438150"/>
          </a:xfrm>
          <a:prstGeom prst="rect">
            <a:avLst/>
          </a:prstGeom>
          <a:noFill/>
        </p:spPr>
      </p:pic>
      <p:sp>
        <p:nvSpPr>
          <p:cNvPr id="2050" name="AutoShape 2" descr="data:image/jpeg;base64,/9j/4AAQSkZJRgABAQAAAQABAAD/2wCEAAkGBhQSERQUExQVFBUUFxgYFxYXGRsXHBoaGBgXFxcUGBgYGyYeGBwkHBgXHy8gIycpLCwsFx4xNTAqNSYrLCkBCQoKDgwOGg8PGi0kHyQsLCwpLiwsLCwsLCwpLCwsKSksLCwsLCwsLCwsLCwsLCwsLCwsKSwsLCwsLCwsLCwsKf/AABEIALEBHAMBIgACEQEDEQH/xAAbAAABBQEBAAAAAAAAAAAAAAADAAECBAYFB//EAEQQAAECAwQHBQYCCAcAAwEAAAECEQADIRIxQVEEBWFxgZHwBhMiobEUMkLB0eFS8RUjQ2JygqKyBxYzU5LC0oOT4lT/xAAZAQADAQEBAAAAAAAAAAAAAAAAAQIDBAX/xAAyEQACAgECBQEHAgYDAAAAAAAAAQIRAxIhBBMxQVFhBRQicZHR8IGhMjNTscHxFSNC/9oADAMBAAIRAxEAPwD1m3CtwF4Tx1UcQa3CtwF4TwUAa3C7yAvCeCgDd5C7yA2oe3CoAneQ/eQEmGeCgD95C7yAvDPBpAP3kLvIC8J4VDDd7C72AvCeHQB+9h+8iu8J4VCD97CtwC1CeCgD2oYzIC8MVQUMNbhW4A8NagoCxbhW4r2oa1DoRZtQrUVu9GcMvSUggEgE3PBQFq1CtQATIVuChBlLa+FajP8AajXg0eWHQVd5aS7OAySWNRUlg2+sZHsJ2qUFpkrWSgIKQ7nxBSllTn90s+QGURKai6Y6PTrUK1FM6egKCSpIUq5JLE7gYHO1vKSFFUxIs+8HqK2ai++KtLuIvvCeM7pfbfRparPeBSgPh3AgPdVx55Q3+d9HwKj/ACtwq0Q8sF3GX5mvJCQ5moAzf6QGb2k0ey4nSySCU1d2Gz0vjzNekTSf9OWSMy5HOId7NckJlPlT0wjgfHS8G3KNrqbtxaWrvyhCWoWPvC8NU/lF9XbfR7YSCogj3muyoa+XOPPhOnjCUNyQa8ol7RPDeKUP5R/5jP3zIlSHyvmaHtDr5M2Z4FKCUsmi72JNooDFJJIZTmgF0UdH7ZqlSjKCj4/cXaBMupKvh8VS1TyjmjTJ4f8AWpGbJx5XUhjrLSP94f8AG/yjB5sjk5WXoVUduR200hAouXOa+0AFM94IUxoRfdHcX2+lgsJU0jMMMBSpD1o8Yn9Iz/8Ae/pEONPnn9v/AExcOJyxVXYniX5X3NoO27nwSFkVqpQT5G7nAdJ7ZzCkhMmwWNSbRB2AgA3+RjIfpCaf26qVNG+cMrSpmM9fp84r3vL5Fyl6nU1TriZJWVutVoupJUWNKkgm+5mxeNFq/tmVEd5LoReipcCtCajdGJJUf2yzxgVsn9ovgYUOJnHoJ4j0A9t5fwy5hcOHAS+ypcRwdc9oTNSfDMsqAtoJBFK+F2xNzh4zgXSsyZz+TREkfiXz45RT4rIw5dHf0ztAqYlAHeS/AkWULZKSEslQALtgXf4r6R0NRdsFIlhE0LmGrKKkuBSyk1wrUkmMeCHqVbyXpy3QlJQBUUyp6NWF71NOw5Zux24X/wDz7/1leDpEOO2yiT+qahsua2noFMbmyeuMYIiXsrj9okJQNKbsWwg97y+Rcpmy0rtZNWlQCCm0QHQogpFbiwLmldkcfTNJmaQtRmKXLB8LXiyElIdNsWnBqTWuMcNJTd4S1Gbm5IhCdcwTd+FI25ZRnLPkl1Y9BoNAaTNBXOnTEoIKShkFQyYrcAHCuIpWC6610Z8vu0zLCS3hmEKYpVaCrSUhT7GVc0ZWZpBqLAVlQbTu/OFL0p2PdJJ/hD1zcXxUcuRBp8m1R2vMkJT30ucEJskssFRFyitVSaX7boGe3xt2rSLF1i873pXjGNOmtTuUkfwpO309IF7cWfuEjdLTuGEaLPk8icEbA/4grDspBJUaKAYJYMAQpzW9+cVpnbyaEnxy1uCGoKk0qCLt/OMwrTiP2KK0qkU8tsTOsSP2Uv8A4Jf084Tzz8i0oIrtHPWqswJBLPaSSAK0Ylssb+MS1h2o0qasPMSyXCSCgX0tULu0BTrYOfBLcYWBTg1PtCRrP91G+wn5iFz5BoRP27S1kLCllVmz73wszDABvWOpq3WemSwB42qWKgqv8zxyxrMijS3/AIRdy2QROt1fuj+RPo3Txm80y9ETq6z1lpc2WZbKWKNaUlqPeGd6s9KRzdH1JOBBIS2IBFKvkxuy4UDjOuFYlNX+ABrtkMnXKhUWWFWsDgaU4RDySY6gdZWr5tFhQKwXvsu11bVSGF/OkVRq2aSHTLTmbaciML7344RTma/P7mPwhvSBr1+WvH/FN7Vv6v4lzoGoHbmaBa94ijsbYe66iqjfFBXZwEkq7pRzK1PspapFSVr4l6jghP0iZ1y+KQcfAImLnHow+BBxMHicpTXO/fS/7w5mOwBD0vqWOIjkaPpBKipveSogPcbJpw6zgEnTFgXPjfvjOmFs7sueD8Qdy1eQPEG9iYb24VNsH3Rjt5/lHAl6Woijbct0QlzCSaM9RwO3f5Q6Y05M0Eye/wAQBpSuObRCYsEkPeGupzfdSKemICUyVD3piCVF/iEyYOFEp8orjTiACzgOOObHOHTKal5OqZgcgXO743YVzhOHDE7hheXuyzz2RQlayWBZACQS9pgdrbMosCZaksfftrJJxCky24eFXOCmJJ+RO1fE95rXf4cvOkGQoXl+PCopV+VY5glBm6e7rdEgoh6vt9POAFF+S9pE+W1RfQtWgx309IgnSUkPfhjkKF8L90AUg93ZYnxknH4ZflQ8zA06IpnskvgxObwV6jSLXepIJyrxiE/TLDOKkeENyO6sDVq1Z+FWDUOw1o2cFXok1dkmWrwpZma4nPfD2J0ldOsi58IDelaeQiUrSis+G/AHMlgPSJK1PMJ90je31iUjVEwFJsgWWN4wL5wfCGlFZGs1OQQLzuofq0MdbFnAbOLP6Emfu89rvSGT2emXOm97z9IdxFQJOsVBJUzOVB82snD+IQJenKo55cCH846SdQqYJKg3i/qAB9BEf8tHFXl94VxCvQ5ntxKrINGoa32b+soRmF1EFg4FMix+vKOqns4B8Rxwz4xL/LQd3PlF6ohXoUJelX1enXIwyNLd6tlz+0dSX2aAuteX0iZ7OjEHn9oVoah6HIWqoFC9zYO8VQouxu+3XONHL7PJFwPMwT9Ap/DXeYepFOK8GbkrJLGgZR4AFTeR5wALVar1cI1qdRj8IxxOIYi/KkP+gE/gTD1rwGn0MytPhUbiPmbuUUpqzU1p11vjajUo/CjlEk6rSPhRyECkvA9PoY2ckkJxdLn/AJKHoBE5ayXfIhtpSWPNuUbE6vGDDcIXsSRj5QtXoLQzFypRIIrsMGGjqKAAKgk3bgMOmjXezpzh/Z07Yepj0mP0fRFpNyjwPOvV8F9mmfgUdsaoaMnIw/cp/DCbbE4JnPk6lKfjA97D8QIPrDJ1CkP4r9kaMaLLHRhGRL/CI59L8j5ZnUaiQPiNzYD0iY1OjI7x+UaC0gXJEN3qfw+kPT6ho9Tir1akgAgkJdnwcuRzJhk6uRdY4Oed8d3vRl6Q/eZD0h0/I9HqcUarThK24/WDStWsKSwBujp96evzhK0loVD0oop1YfwjgBE06vVkBwEWPaHx8ogrSDmeUOkGlDDV6vxAQvYz+LrnDHSN8MdI2GCkOkEGhZqheyJ/F6QPv98MZu+HSKpBxoyM+ucLuERUWumT0H1+fCA6OoC0ASwUWcuwLKav8UWofDqJuN0dHuZeTw4lyxcByio8O0QVaLgKRcPL6Qu8T+GKgESJbGHYtRYM0ZQ/fJioA+MSTLJudzcM4VhqDmaOvtEe/wCnjmdoUz9G0hcpQHhIZgGIwUHBJcV3ltgsaP4kJJYkirBsfyhu06Z3cRwWTDhjmbTT8FnveqxAzNoiPd5fKJd30/2hWefbIKUd/KIKWdvN4KUwrA6pAFsCDs9YTbDBrA2wiiFYACo5DlDOroCDKGwc4Zug8FiAG10IeyevzgpG2GgsQMyTDezxM8YjaOflBYw/tA6eEZ3VYN3GVryMP3HXRidQWV3fPrfBpUhRuB4qSPUxGbJcMFWeAL7K15ERVMmYLihXEpPIuPONIaX1Z6nB4eFyR/7cml+K/wAl2Zqyf+BXCv8AbAf0bOP7NZ4L+kNo0+ZaSlQUhyBaZ0hyBaJQSABmY9a0WTo4lgIsTAAA7hRJzJEbcvHpc3LZdRcZwmHBp0z1X4o8mVoq0nxJbe49REhKVuj1iToCFP4UjeH8jHF7Ro0OSUpmy0WlB2QmyoC60SlQHRiMcFlx8zG9vXY444nOejGm2YLutsN3BzjSnQ9DX/pzlo2KSlQ9QYpzdULf9WtCxs8J5GnnCeHIldFS4bLHrF/Q4x0XqkIaN0YvzJC0e9LVvw8qRApfA7ur4xdrqYuLRUOibYcaEIslAyPl9YSyAMiaDYeq8ILFRWTooKv4aDfieAp/MqIokMtYzCT/AHJP9oi9LQLIqQPk3rAJiR3iMbSVjzSR6KjeTp6PC/fqyUu4OYiyIHo63J2YVivO1zKtmXbBW5FkBzQtcmsNq+abRvAahIvxozxKhJq6GXxuIhEnr8olZJq79bYYoNa8+qRnYDBOzzi9qHRAvSJSfCHU9c0gqAvzAikmTS8V3/WAafNMsoKCUqCgoEXgpqDzaJe+zOnhOHlxGVY49WdDt7rFR0hriiUlKwQfEl5hcEUKhUNtByiloqAEJB/COeMavQ1InhOnLCVhKVCakgeEpQoLS2TOQ+ChnGW0ZlIQpim0lJs3s4Bbg7RpKXwxi3bS/wBP87l5ZyhB4ZKvi3/Tb9iK5wF0D9o2RaQgYA+XyiKlN8L9b4z1HFZWUXw64Qkg4J9Ysgj8JhE5ON8S5C3K4QrGH9nOJg3dk1+R86wlJO+FqHVAfZ9sP3MJQOPl9oiqYdvKFqJtCKYbdDJW5qQBn9nhE9U+cLUFiUYZ98TKzg0RStWQh6gtl9elDExDv0xUdWyJplPjFWXqRYTpIyHL7Q/taeh8ormW2PkTzLMIkmQ4d35QWNSDp0kZHlDKnJd7IfaPWBJSHY47b4lbFzfL5QmxX4L+idoZ0v8A01lOx3HJTgcI5+t503SJhmLWLRAHu0YDYQ2fEwrIqfD674mmYGo0OORxWlPY1wcRkwT1wdM53s80YAjYS/JQA84b2uYjBaWvLEtxS4846JL4db26aJGY1W65RrHPJHsY/budfxpS/QraN2iX8K33F4s/5gf30IVvDHmKxBSAv3khW8Wm5iBL1Uh7lIP7pI/pJI8o096vqdcfavCZf5uL6U/sWk6dKOCk/wAKn/uHzgOkLRf3tMbQIZN6iS+NBxGcVpmp1fDM/wCSX802W5GM5rHT5iFrQuUpSUEAskKFbJSpix94FtwpURpBwm7roRlj7Myqoum/mqNkiyblpL7Yr6y0EqSAlRT4hVCkggMoUNWvHCMOO2EsUCFsKUb0i5qztCZ8wIly5hJepIAoz14igc1EJY6ercT9n+zl0zf2K6+zulSZyZstNshdsMpNGJapU5pHV1XqFSlPMStCXJKVTrN9QEWEk35nAubolq/SlTjMCQkd2WJUtgXtMpLJNpJsljBpSZqnZKWGNv5WX8o2eXszR8N7PXTMkamXo0sMHUAKABKFMAGH7WLiEaIPeOk//U3oTGPRKmkOAg7O8rysesQSJztYSN6//wARClCOzQRw8FVLMvovsbhM7RU+7ImLy7xZSN5CRHE1hq+ZPUBLlJTVTJSsKNbIJDG0WCRTaYzntMy3YseLEWrqslRLMEqNAcSWwLb7VXbDRdAksqVNtBIVMWyCpRJs08VQDRsARm52i8b2aRz53w3CtZOHnql6f5KGptQ6bJlzpapRMqfLUhabJeqSkFJBoWJDt6R19X9j1KAM0iWlqD3lbA1whkf4oyZ790ibZGYSnm6oNonbyQCSuXM4BJ9FeUebkzJ5uXGG3l7I8/i8zyNyyRSk683/AHIaZ2HUElSJhXkmwXL7QqkcWdqKfLDrQoDOg8yY0esP8SZYlKMmVMXM+FKglI3l1YXtebo8507WekTllcxExajiSjkPGwGwR1SxYYrz8mVwPC4s9vJJRXq9/pZ1VJVcQcncHzxiKJSnuPkfMGOF303/AGpnNH/uIq0leMqZ/T/6aMeXDyen/wATwf8AXX1RqpOrZq7kOBtSB/UoRCbqxYoQgHLvJb+S4zA0qZhLm8h8lR0tH0hb/wCmtI22A28FcHLxeTOXsvhY7vOv2+52JPZ+es+BAP8A8qD5WoJO7L6QjxLQhO0zJY/7xSGmrFGSDtU/kl35xJWsJn+5Z/hSB5qeDRgXVt/I83Lw3DQf81fQX6LXcwO0MfPGAztDY1UdxU12zlCVMf35ilb1K9HbygaShPulNcgBza/7xjJ4/wDymc83wyXwW360gwkjPzaEJW2AK0geeLD1hvah+Jt8ZHJZYEkM9OH1hCWP3uDwipnq/GBd6c78KfKrfSL2LbQUy7ix63whLbLlAe9whBShc77n9YQrQVaRd/1+8QWWFQ+Gw7KvEChRNbRPL0FIiJFOGJhE2JSzgGHCEA955kfSGK2/DwMDEyAVhSrCg3E+Tw6N+OYHpAiokXE9X3w8uaHY8PyzgCy0mb9PeKt1LtkOZpGI32frwiuQ91re14xx+UOlBuIVxoKbucKh2x9K1kqWkrCbZFAmrqJICU0zJA2PsjmTNZJlywVEpWF95bmIUgGYSCo2imgIFkVoEpvYQfTiR3YJP+onyCl/9Y5Ha1ZMmyM7RejJDpNbwXIuNWVg8dGJK0vIJsLpWjjTFib3ctSRRiSFGoI7xQS6RQ0TWpBJqIuHSShHg0ewtTIlhKklILkI8CgkBiSvhW6M52P0nugtRV3hUiYbNti8qyoVJoCFTKn8JiqNeTpc6XNmKUtNskpbwOQQ6AwZkqNRWu2OrltyaXRF0zoSdcS5U1ICVIExapfibxSwyZSnCi9kpb+dVTGzkoASzEnIDnGY1hKSmRJSUoMxISt7DklKgQhxV1rIG60cI0ntIUbQ8QIcOrOr+kYZmmk0TYQkKo12Cm/OAzNHeiSUm6htf0qcbaQ5VaDmjZN5U/J+BVol7KgM2uHn0/NRuKt/ovzsQ5W6RWm6sUlLWQskklTBKqhiTekhmFmiWADMGjia7mTEy0ypktdta2lqFbSaOhTKLqeyaE+6na/WmzFKHvWUj4lAkqP7qMTT4uREClatCf163KkmoqshDEKDi9QCrTJp4QBtuEq3l+MpTcZWguotWCTLKVF1qLqa5NGsviR1SOjLQAwsvtLDk5pENGmomJJQSoXAgEJLDBWIfEUoYkQ3vFI58m6Eckm29y8mSWSTlLqyMxSbgc7iWo1CQGB2X7IGlAxJPFh6Vgqi+PJJ5VPGBqlgmtriadfSJsybY6UDKm2vziQAuYUxCWPrFY2QWfmBDiYnIdZQtxWWwQ2O9/zhxMSMDtc/WKQmvcrrnEPFVjwFOIa+FuGo6MyYkCjjq++K5ngC4bn+0UnOJPW2BLn197zf5Q6YXZYXpgGHp1nETpT3Dl+cAOkKiKZqr/kIrQwaLctewCHOkfwiKnel8NwggmbP7YlxZNNFt9o8+f5Q6CzE9ekVFaQTU3ZkmAr1cgu4U5uI/KNVXcvUmXJ2skJvKRxf78IEe0SB8Sjkw8ro5kzUZei2BzB+X0ijO1HNwY5F/m0arHB9wtnfmdqEYJVsc+eMDHahGKTuvHKMxM0Cam8NurASWwMXyYPoLUzYS+0CFXgJ2sfkYtStZyifeH/Ij1IjBnST0YXtJzMS+HQrPQ1T0F8dgLmIrsNeQchjwaPPkzT+I+kHTp8wfGabSR53RL4d+R2bYaQBcr1rsIwiUrSmL0rk/qT8sIxg1uoG994cc4uye0VC6U8KHrjC5EugKzv6bpoKpbsPEos97S1gAAVPvZYRh9ezlz5ylKY2aWQapAJoQWOJq1XjS647TpXo8sAJRNAZBDPRgpbJAshTe6q+9rosSuysvS5KVzXlTUpCpk8KKkk0siz4QHFLIqGBdTh/RhgWHdtdDr4d+I27MJoOlWJyFVofFj4SPFT+F41idQy0+I0cGjsAFVIAFwwpgI7B/wAJJswqVo65BWhKXSq3LLqQ1AywXsm8jHOMrp2sJyZdgoHhJQpRdvAQKpZwC6Q5obUenwrxNNyV+Dn43mOfwbeTp6GszFpmqayCVuWuSLMlOwOpazt3R1dUaYkDugXKCpKQDekVSQwusFNcKnCMpqjTVzJYtsEuo08L5D3TZAdqC6JzUzKpDWVMbKSyVMw8VXN496sedmhhc3T/AEMfjiqkbROkpVcQWo9Bnca/PfV4GuewvYDZTk9TtLnbGHdbtYbmONYnP0tVzqYYm8ndgMhxNbublt7t7fuwvsjaS5j1fdlXcGOVMoMJhN6uApmIwUnWCklweb+bR0E6+VkBz84wyY5NlqSRrFzhiVc/rDLUBnneOcZqXrpLklNcxWLsnWKFXONlk184wcJILOoqd++obmugUyeC1TxfygYnJwB6waGUpwaeQ9TEUS7HKj8IF2ZiSXe4UxcQJh19oilgKPsbhW6GLfuHDnCuONM6YRG1ViCDuaGM7In8uDRE6TTE41p8qC6GPYMJW2ITdGV8NeuUCE8vafdePm0TGknODoNNA1IXkRlcIGdIwbmC/X0i1KmEC/LZDqmkEX82+VYdl9ewyZqNj7gPWDBv3RxMCm6Sl6Pz44HfA1KBvFdv5wmS2dc6Ntwybr7wFSVDa+08OjFmYp8h5npoEuyb3vust9ehAasEiYQME8+LQ82anN+D+p+UGKwAxB41p5QGZOS3u13VwzfoQmSyoqZl5YeUCXLBvSDvEGmwxWBhDVkWVVaulG9AB2U+bQGb2elm5Sq7j8vnhF9K6eEDluvLb4lYXlt6uyilOS7j2M7pPZxYeybQ5epvihM0FaHtIUW6wMa/2VZy21rnhWENGe9nuy2ZdVjVZ2uoUYdQrcd35xrJuoJKNGlzlqYVHdFcv9aoWv1nhUFoALpsqDijGpED1uqVJFQNloBYYEOqy4BoGv8AR4IrRFafo8qagypXcpmgpCDLCjbK2lJDgn3SpNANzx24nqWpopbbmTkajfu5oXiLaS7jGhxF99zF7xHpKNeSlrkyC0nRZCBPmFakkzlJDhIA94CZU5mWQzCPOtImTUfq0pUkKIICk1fYKbCzfCIlpsxc4iXZYJt0N4dibiK2nLEtW699pwUv4ma48+joafRP8VfZtK0qd3NvvikD9YzJQBZJASRad8veIjI6dr/v1TFKlqZU22Ug2QUO5Qoit7faAns+ojwpmqO0JSOQKj6QM6imi9ChvBitcIrTaM3k1PUdHQ9doSG7uyNht7QM/KLM7XcsJtWipQPu+7sIpsN+yOInQVbuDQ0zVqiKfOMXDG5WQ3b3OpoPaC3MAWgAKLAuWB2ubjn+Ud+VKSrF9zEcnjFy9DIAfDJ97Vi2ma10ZZsSk1pFSNaZKBgkbmBo0R7hJuZtwjLe1GEnS1DMc4w5EvINGnTo6aFgX2D6QRMwDDgPv1SM2NbzPxK9d18TTreZm+8fSJeGQKJplzgWo24/V4YryB5RwJeuGvA5mDo1wlsj5etYnlNdjRJHXt74RL7fOOWnWyTifWDDTgfi84lxodItKB+0JKWubrBoGmeN9MPrl9Yto0lBFwrix62RD27ENegP2kinpDK0jPjfB5dgl3Td87ruqw4kDj8nrTq6Isl2ipN0jyyhu82dXQZbClKbjdm0V5kwE3DcB9otApMImYklvvELX73rAbO6JNu64Ra26mls0NpLVNa4Nwf7QNekpbF8K4cr4qzM/Xo0hkp6p9oKNCyrSrsGyf50iI0g4qMAB2mGN13GFSIaJqU+BPXQhpaK3Bsaj1iIVUX84MhmucYY5NfC2DSE705NweDSZpfIOch69UisAkmlHDHposoAUKV37ozZLQlKP4jk11/H0hlrIPvNS88zjSHEpsQA9K1wrdUboHOkAGm267mYQmcXW2pe/UFKWv3WYJ3l3Ki5qfKFI1ZKQ4AUSb3Uz43Bmuu2R2EJBvZ8zThfu8+AykYscr/OvrG3OlWmw+Zz/ZJT+GUkPewatDVj84LIloTRKAM2z4fOL4kv8AFMS9G2j5RGbKH4jwA4fSM3MTpFfw1amw874ZUx/wALbt9NsEEkY3P9eucI6OGvvArgHuu5xFsm2BUu0a5Nw2AwM6uCgSyRwD1wAv8Ayg5AFxAOz6iAzZiqBtgrRvmK+UUpMm/JVX2dTtBxr1m8VZnZ0VZR5fThzjpCYWuZxtrz+V8TStnDndj8s40WWa7jUjhzezq3ZNb76XYRWXqSaPgJGysaoLDXGuL1q9DnhCXJF5GQD9P+cWuIkupSkY86Ct7jy8oEuUQagjfGmUEEmhxuL8n4feBL0cHAnf5/lsjVZ7HdmdKYezHcOhpUWCRybOB/ocYhQrjGiyIek43GJpD0jsjVKcuDmLMrRQMuuhEvIh6TkS9DXjSLcjRmxPn6Rf7sdbOhCUKdCMnKykkAAaCCYc3iYkXVF7NT5whKYXvxHlyMTQUTtqxI4gHIw3dBz5U+sMFOL+GeyIAnOEIIENh1uiIXmIjYVwhu7MVQNnRtMWYA5+mMSCDs5sPOGUmrEF+G7h5wVCRsv92mGNboRolQ3cqevrWEhO16765dZw/xMQai8DBsQBwJziwrQ0mto0zam997c4hsNREISQ/zD8YdAGIF1Djj5/SCiUkC4lhW0WxrfhXKH7wC4GlR4Ts3ctsTaBzAGRv4PuicrRxtuNPL1A5xcE8EXAvtAzwECnpF1BzqzMd19YmyG7IStHGDAu4x5EubgIgZBJAcOLmN7O9DlWITdJTca54etTcPvEVaxpk+Y8nH0hE7DJ0RRuLPhhn184LLkiloX4vhk3XyinO0sqPPZ9xAvaTifXe18N2DOqdHp4X53G8s5+u6K3s48RsnjS+6n1zEAGnqyF17eT3wQayLVAcXdUhUS0E7sYXtgkkh83q7Nyhylrq38mZiKkGBe2Ztnjv4VaJd+HvFAzY19GaFTJpimlOwPv8A+T/fGI9yL82LvTec6YHZA58+6yfLrbzirad769M8WobFaS6UBgQaZscny2wBYsmhfoUoIrmgyO0v+URL3PR/TH1h6WLSy0mYcgzN5512RDvXJdgcWZubQBF3xUrTHy8tsJRLULb78mPlBoFoZMy3uJY8dh63w5k020vrTY0C75TkvuiYnkt5Zw1FjUWiHd1vwhwo5jrowUzBiX4ZM9+yGCxm/wAorc0siVKoDdfd16xFbtTrr5RNZHzv66ENx2jHIQWTZDu+tsLu+nhA5M3HrCJGWSfpwvg1C1CXh184ETx4QYaOTe4F3TAdGEiQk+lfr1fFWh6kBQf3YPKQNvW6GRJNLm6pSkEGifcCm4V43D7FoLQwYBmHzv2cYS0D86esTTKanXptEQXMa4062QWJsu6d7x4xT0T3v5h6GFChM6ZHRm/F1jFWb/qc/wDrChQpdDPsdHD+UesNOu5eohoUYklfEbh/YYuT7j1+CFChdyTjm/rIw0zryhQo0QyQ93rZAsT1gIUKDuBPDlA14boUKAGTk+6rf/6iJx3/AFhoUXHoUQVed5iJx3woUX2KkRHyT/bE8Rx9TChQCYfRfmPWG0i/iPnChQ2MrIvMRTdChQxEkXDrAQ/1+kKFEMzCzPdG6GHwfw/SHhRm+pnLqF+IbxCXd/IfUwoUSQHV7x3iJy/f4/OHhQ0aIEPj3/MQ0n4uH90KFDGgesbxvgc3Dd8zDQosD//Z"/>
          <p:cNvSpPr>
            <a:spLocks noChangeAspect="1" noChangeArrowheads="1"/>
          </p:cNvSpPr>
          <p:nvPr/>
        </p:nvSpPr>
        <p:spPr bwMode="auto">
          <a:xfrm>
            <a:off x="0"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a:hlinkClick r:id="rId4" action="ppaction://hlinkpres?slideindex=1&amp;slidetitle="/>
          </p:cNvPr>
          <p:cNvSpPr txBox="1"/>
          <p:nvPr/>
        </p:nvSpPr>
        <p:spPr>
          <a:xfrm>
            <a:off x="152400" y="39469"/>
            <a:ext cx="8229600" cy="3970318"/>
          </a:xfrm>
          <a:prstGeom prst="rect">
            <a:avLst/>
          </a:prstGeom>
          <a:noFill/>
        </p:spPr>
        <p:txBody>
          <a:bodyPr wrap="square" rtlCol="0">
            <a:spAutoFit/>
          </a:bodyPr>
          <a:lstStyle/>
          <a:p>
            <a:r>
              <a:rPr lang="en-US" sz="3600" b="1" dirty="0" smtClean="0">
                <a:effectLst>
                  <a:outerShdw blurRad="38100" dist="38100" dir="2700000" algn="tl">
                    <a:srgbClr val="000000">
                      <a:alpha val="43137"/>
                    </a:srgbClr>
                  </a:outerShdw>
                </a:effectLst>
              </a:rPr>
              <a:t>Next Lesson</a:t>
            </a:r>
          </a:p>
          <a:p>
            <a:endParaRPr lang="en-US" sz="3600" b="1" dirty="0" smtClean="0">
              <a:effectLst>
                <a:outerShdw blurRad="38100" dist="38100" dir="2700000" algn="tl">
                  <a:srgbClr val="000000">
                    <a:alpha val="43137"/>
                  </a:srgbClr>
                </a:outerShdw>
              </a:effectLst>
            </a:endParaRPr>
          </a:p>
          <a:p>
            <a:endParaRPr lang="en-US" sz="3600" b="1" dirty="0" smtClean="0">
              <a:effectLst>
                <a:outerShdw blurRad="38100" dist="38100" dir="2700000" algn="tl">
                  <a:srgbClr val="000000">
                    <a:alpha val="43137"/>
                  </a:srgbClr>
                </a:outerShdw>
              </a:effectLst>
            </a:endParaRPr>
          </a:p>
          <a:p>
            <a:pPr algn="ctr"/>
            <a:r>
              <a:rPr lang="en-US" sz="4800" b="1" dirty="0" smtClean="0">
                <a:effectLst>
                  <a:outerShdw blurRad="38100" dist="38100" dir="2700000" algn="tl">
                    <a:srgbClr val="000000">
                      <a:alpha val="43137"/>
                    </a:srgbClr>
                  </a:outerShdw>
                </a:effectLst>
              </a:rPr>
              <a:t>Take-Offs</a:t>
            </a:r>
          </a:p>
          <a:p>
            <a:pPr algn="ctr"/>
            <a:r>
              <a:rPr lang="en-US" sz="4800" b="1" dirty="0" smtClean="0">
                <a:effectLst>
                  <a:outerShdw blurRad="38100" dist="38100" dir="2700000" algn="tl">
                    <a:srgbClr val="000000">
                      <a:alpha val="43137"/>
                    </a:srgbClr>
                  </a:outerShdw>
                </a:effectLst>
              </a:rPr>
              <a:t>Transitions</a:t>
            </a:r>
          </a:p>
          <a:p>
            <a:pPr algn="ctr"/>
            <a:r>
              <a:rPr lang="en-US" sz="4800" b="1" dirty="0" smtClean="0">
                <a:effectLst>
                  <a:outerShdw blurRad="38100" dist="38100" dir="2700000" algn="tl">
                    <a:srgbClr val="000000">
                      <a:alpha val="43137"/>
                    </a:srgbClr>
                  </a:outerShdw>
                </a:effectLst>
              </a:rPr>
              <a:t>Landings</a:t>
            </a:r>
            <a:endParaRPr lang="en-US" sz="48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imary Flight 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1328</TotalTime>
  <Words>1875</Words>
  <Application>Microsoft Office PowerPoint</Application>
  <PresentationFormat>On-screen Show (4:3)</PresentationFormat>
  <Paragraphs>266</Paragraphs>
  <Slides>30</Slides>
  <Notes>30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Wingdings</vt:lpstr>
      <vt:lpstr>Primary Flight Training</vt:lpstr>
      <vt:lpstr>Primary Flight Training</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Petron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cosievert</dc:creator>
  <cp:lastModifiedBy>cosievert</cp:lastModifiedBy>
  <cp:revision>21</cp:revision>
  <dcterms:created xsi:type="dcterms:W3CDTF">2014-03-26T01:45:28Z</dcterms:created>
  <dcterms:modified xsi:type="dcterms:W3CDTF">2014-05-21T11:40:09Z</dcterms:modified>
</cp:coreProperties>
</file>