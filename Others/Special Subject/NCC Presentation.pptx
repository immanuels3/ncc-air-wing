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3.jpg" ContentType="image/jpeg"/>
  <Override PartName="/ppt/media/image34.jpg" ContentType="image/jpeg"/>
  <Override PartName="/ppt/media/image35.jpg" ContentType="image/jpeg"/>
  <Override PartName="/ppt/media/image36.jpg" ContentType="image/jpeg"/>
  <Override PartName="/ppt/media/image37.jpg" ContentType="image/jpeg"/>
  <Override PartName="/ppt/media/image38.jpg" ContentType="image/jpeg"/>
  <Override PartName="/ppt/media/image39.jpg" ContentType="image/jpeg"/>
  <Override PartName="/ppt/media/image40.jpg" ContentType="image/jpeg"/>
  <Override PartName="/ppt/media/image41.jpg" ContentType="image/jpeg"/>
  <Override PartName="/ppt/media/image42.jpg" ContentType="image/jpeg"/>
  <Override PartName="/ppt/media/image43.jpg" ContentType="image/jpeg"/>
  <Override PartName="/ppt/media/image44.jpg" ContentType="image/jpeg"/>
  <Override PartName="/ppt/media/image45.jpg" ContentType="image/jpeg"/>
  <Override PartName="/ppt/media/image46.jpg" ContentType="image/jpeg"/>
  <Override PartName="/ppt/media/image47.jpg" ContentType="image/jpeg"/>
  <Override PartName="/ppt/media/image48.jpg" ContentType="image/jpeg"/>
  <Override PartName="/ppt/media/image49.jpg" ContentType="image/jpeg"/>
  <Override PartName="/ppt/media/image50.jpg" ContentType="image/jpeg"/>
  <Override PartName="/ppt/media/image51.jpg" ContentType="image/jpeg"/>
  <Override PartName="/ppt/media/image52.jpg" ContentType="image/jpeg"/>
  <Override PartName="/ppt/media/image53.jpg" ContentType="image/jpeg"/>
  <Override PartName="/ppt/media/image54.jpg" ContentType="image/jpeg"/>
  <Override PartName="/ppt/media/image55.jpg" ContentType="image/jpeg"/>
  <Override PartName="/ppt/media/image56.jpg" ContentType="image/jpeg"/>
  <Override PartName="/ppt/media/image57.jpg" ContentType="image/jpeg"/>
  <Override PartName="/ppt/media/image58.jpg" ContentType="image/jpeg"/>
  <Override PartName="/ppt/media/image59.jpg" ContentType="image/jpeg"/>
  <Override PartName="/ppt/media/image60.jpg" ContentType="image/jpeg"/>
  <Override PartName="/ppt/media/image61.jpg" ContentType="image/jpeg"/>
  <Override PartName="/ppt/media/image62.jpg" ContentType="image/jpeg"/>
  <Override PartName="/ppt/media/image63.jpg" ContentType="image/jpeg"/>
  <Override PartName="/ppt/media/image64.jpg" ContentType="image/jpeg"/>
  <Override PartName="/ppt/media/image65.jpg" ContentType="image/jpeg"/>
  <Override PartName="/ppt/media/image66.jpg" ContentType="image/jpeg"/>
  <Override PartName="/ppt/media/image67.jpg" ContentType="image/jpeg"/>
  <Override PartName="/ppt/media/image68.jpg" ContentType="image/jpeg"/>
  <Override PartName="/ppt/media/image69.jpg" ContentType="image/jpeg"/>
  <Override PartName="/ppt/media/image70.jpg" ContentType="image/jpeg"/>
  <Override PartName="/ppt/media/image71.jpg" ContentType="image/jpeg"/>
  <Override PartName="/ppt/media/image72.jpg" ContentType="image/jpeg"/>
  <Override PartName="/ppt/media/image73.jpg" ContentType="image/jpeg"/>
  <Override PartName="/ppt/media/image74.jpg" ContentType="image/jpeg"/>
  <Override PartName="/ppt/media/image75.jpg" ContentType="image/jpeg"/>
  <Override PartName="/ppt/media/image7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3" r:id="rId2"/>
    <p:sldId id="25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330" r:id="rId32"/>
    <p:sldId id="331" r:id="rId33"/>
    <p:sldId id="332" r:id="rId34"/>
    <p:sldId id="333" r:id="rId35"/>
    <p:sldId id="334" r:id="rId36"/>
    <p:sldId id="348" r:id="rId37"/>
    <p:sldId id="349" r:id="rId38"/>
    <p:sldId id="368" r:id="rId39"/>
    <p:sldId id="371" r:id="rId40"/>
    <p:sldId id="372" r:id="rId41"/>
    <p:sldId id="373" r:id="rId42"/>
    <p:sldId id="374" r:id="rId43"/>
    <p:sldId id="260" r:id="rId44"/>
    <p:sldId id="261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82" r:id="rId53"/>
    <p:sldId id="383" r:id="rId54"/>
    <p:sldId id="271" r:id="rId55"/>
    <p:sldId id="384" r:id="rId56"/>
    <p:sldId id="385" r:id="rId57"/>
    <p:sldId id="386" r:id="rId58"/>
    <p:sldId id="387" r:id="rId59"/>
    <p:sldId id="388" r:id="rId60"/>
    <p:sldId id="389" r:id="rId61"/>
    <p:sldId id="279" r:id="rId62"/>
    <p:sldId id="390" r:id="rId63"/>
    <p:sldId id="391" r:id="rId64"/>
    <p:sldId id="392" r:id="rId65"/>
    <p:sldId id="393" r:id="rId66"/>
    <p:sldId id="394" r:id="rId67"/>
    <p:sldId id="395" r:id="rId68"/>
    <p:sldId id="396" r:id="rId69"/>
    <p:sldId id="397" r:id="rId70"/>
    <p:sldId id="398" r:id="rId71"/>
    <p:sldId id="399" r:id="rId72"/>
    <p:sldId id="400" r:id="rId73"/>
    <p:sldId id="401" r:id="rId74"/>
    <p:sldId id="402" r:id="rId75"/>
    <p:sldId id="403" r:id="rId76"/>
    <p:sldId id="404" r:id="rId77"/>
    <p:sldId id="405" r:id="rId78"/>
    <p:sldId id="406" r:id="rId79"/>
    <p:sldId id="407" r:id="rId80"/>
    <p:sldId id="408" r:id="rId81"/>
    <p:sldId id="409" r:id="rId82"/>
    <p:sldId id="410" r:id="rId83"/>
    <p:sldId id="411" r:id="rId84"/>
    <p:sldId id="412" r:id="rId8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6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4460" cy="6693534"/>
          </a:xfrm>
          <a:custGeom>
            <a:avLst/>
            <a:gdLst/>
            <a:ahLst/>
            <a:cxnLst/>
            <a:rect l="l" t="t" r="r" b="b"/>
            <a:pathLst>
              <a:path w="9014460" h="6693534">
                <a:moveTo>
                  <a:pt x="0" y="329819"/>
                </a:moveTo>
                <a:lnTo>
                  <a:pt x="3576" y="281050"/>
                </a:lnTo>
                <a:lnTo>
                  <a:pt x="13966" y="234569"/>
                </a:lnTo>
                <a:lnTo>
                  <a:pt x="30659" y="190753"/>
                </a:lnTo>
                <a:lnTo>
                  <a:pt x="53144" y="150241"/>
                </a:lnTo>
                <a:lnTo>
                  <a:pt x="80911" y="113411"/>
                </a:lnTo>
                <a:lnTo>
                  <a:pt x="113449" y="80899"/>
                </a:lnTo>
                <a:lnTo>
                  <a:pt x="150253" y="53086"/>
                </a:lnTo>
                <a:lnTo>
                  <a:pt x="190804" y="30606"/>
                </a:lnTo>
                <a:lnTo>
                  <a:pt x="234607" y="13970"/>
                </a:lnTo>
                <a:lnTo>
                  <a:pt x="281127" y="3555"/>
                </a:lnTo>
                <a:lnTo>
                  <a:pt x="329882" y="0"/>
                </a:lnTo>
                <a:lnTo>
                  <a:pt x="8684641" y="0"/>
                </a:lnTo>
                <a:lnTo>
                  <a:pt x="8733409" y="3555"/>
                </a:lnTo>
                <a:lnTo>
                  <a:pt x="8779891" y="13970"/>
                </a:lnTo>
                <a:lnTo>
                  <a:pt x="8823706" y="30606"/>
                </a:lnTo>
                <a:lnTo>
                  <a:pt x="8864219" y="53086"/>
                </a:lnTo>
                <a:lnTo>
                  <a:pt x="8901049" y="80899"/>
                </a:lnTo>
                <a:lnTo>
                  <a:pt x="8933561" y="113411"/>
                </a:lnTo>
                <a:lnTo>
                  <a:pt x="8961374" y="150241"/>
                </a:lnTo>
                <a:lnTo>
                  <a:pt x="8983853" y="190753"/>
                </a:lnTo>
                <a:lnTo>
                  <a:pt x="9000490" y="234569"/>
                </a:lnTo>
                <a:lnTo>
                  <a:pt x="9010904" y="281050"/>
                </a:lnTo>
                <a:lnTo>
                  <a:pt x="9014460" y="329819"/>
                </a:lnTo>
                <a:lnTo>
                  <a:pt x="9014460" y="6363246"/>
                </a:lnTo>
                <a:lnTo>
                  <a:pt x="9010904" y="6412001"/>
                </a:lnTo>
                <a:lnTo>
                  <a:pt x="9000490" y="6458534"/>
                </a:lnTo>
                <a:lnTo>
                  <a:pt x="8983853" y="6502323"/>
                </a:lnTo>
                <a:lnTo>
                  <a:pt x="8961374" y="6542887"/>
                </a:lnTo>
                <a:lnTo>
                  <a:pt x="8933561" y="6579692"/>
                </a:lnTo>
                <a:lnTo>
                  <a:pt x="8901049" y="6612229"/>
                </a:lnTo>
                <a:lnTo>
                  <a:pt x="8864219" y="6640004"/>
                </a:lnTo>
                <a:lnTo>
                  <a:pt x="8823706" y="6662491"/>
                </a:lnTo>
                <a:lnTo>
                  <a:pt x="8779891" y="6679185"/>
                </a:lnTo>
                <a:lnTo>
                  <a:pt x="8733409" y="6689575"/>
                </a:lnTo>
                <a:lnTo>
                  <a:pt x="8684641" y="6693154"/>
                </a:lnTo>
                <a:lnTo>
                  <a:pt x="329882" y="6693154"/>
                </a:lnTo>
                <a:lnTo>
                  <a:pt x="281127" y="6689575"/>
                </a:lnTo>
                <a:lnTo>
                  <a:pt x="234607" y="6679185"/>
                </a:lnTo>
                <a:lnTo>
                  <a:pt x="190804" y="6662491"/>
                </a:lnTo>
                <a:lnTo>
                  <a:pt x="150253" y="6640004"/>
                </a:lnTo>
                <a:lnTo>
                  <a:pt x="113449" y="6612229"/>
                </a:lnTo>
                <a:lnTo>
                  <a:pt x="80911" y="6579692"/>
                </a:lnTo>
                <a:lnTo>
                  <a:pt x="53144" y="6542887"/>
                </a:lnTo>
                <a:lnTo>
                  <a:pt x="30659" y="6502323"/>
                </a:lnTo>
                <a:lnTo>
                  <a:pt x="13966" y="6458534"/>
                </a:lnTo>
                <a:lnTo>
                  <a:pt x="3576" y="6412001"/>
                </a:lnTo>
                <a:lnTo>
                  <a:pt x="0" y="636324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4383" y="127838"/>
            <a:ext cx="5243880" cy="628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6" y="281177"/>
                </a:lnTo>
                <a:lnTo>
                  <a:pt x="13967" y="234696"/>
                </a:lnTo>
                <a:lnTo>
                  <a:pt x="30662" y="190880"/>
                </a:lnTo>
                <a:lnTo>
                  <a:pt x="53152" y="150241"/>
                </a:lnTo>
                <a:lnTo>
                  <a:pt x="80924" y="113411"/>
                </a:lnTo>
                <a:lnTo>
                  <a:pt x="113461" y="80899"/>
                </a:lnTo>
                <a:lnTo>
                  <a:pt x="150266" y="53213"/>
                </a:lnTo>
                <a:lnTo>
                  <a:pt x="190830" y="30606"/>
                </a:lnTo>
                <a:lnTo>
                  <a:pt x="234632" y="13970"/>
                </a:lnTo>
                <a:lnTo>
                  <a:pt x="281165" y="3555"/>
                </a:lnTo>
                <a:lnTo>
                  <a:pt x="329907" y="0"/>
                </a:lnTo>
                <a:lnTo>
                  <a:pt x="8682736" y="0"/>
                </a:lnTo>
                <a:lnTo>
                  <a:pt x="8731504" y="3555"/>
                </a:lnTo>
                <a:lnTo>
                  <a:pt x="8777986" y="13970"/>
                </a:lnTo>
                <a:lnTo>
                  <a:pt x="8821801" y="30606"/>
                </a:lnTo>
                <a:lnTo>
                  <a:pt x="8862441" y="53213"/>
                </a:lnTo>
                <a:lnTo>
                  <a:pt x="8899271" y="80899"/>
                </a:lnTo>
                <a:lnTo>
                  <a:pt x="8931783" y="113411"/>
                </a:lnTo>
                <a:lnTo>
                  <a:pt x="8959469" y="150241"/>
                </a:lnTo>
                <a:lnTo>
                  <a:pt x="8982075" y="190880"/>
                </a:lnTo>
                <a:lnTo>
                  <a:pt x="8998712" y="234696"/>
                </a:lnTo>
                <a:lnTo>
                  <a:pt x="9009126" y="281177"/>
                </a:lnTo>
                <a:lnTo>
                  <a:pt x="9012682" y="329946"/>
                </a:lnTo>
                <a:lnTo>
                  <a:pt x="9012682" y="6363360"/>
                </a:lnTo>
                <a:lnTo>
                  <a:pt x="9009126" y="6412115"/>
                </a:lnTo>
                <a:lnTo>
                  <a:pt x="8998712" y="6458648"/>
                </a:lnTo>
                <a:lnTo>
                  <a:pt x="8982075" y="6502450"/>
                </a:lnTo>
                <a:lnTo>
                  <a:pt x="8959469" y="6543001"/>
                </a:lnTo>
                <a:lnTo>
                  <a:pt x="8931783" y="6579819"/>
                </a:lnTo>
                <a:lnTo>
                  <a:pt x="8899271" y="6612356"/>
                </a:lnTo>
                <a:lnTo>
                  <a:pt x="8862441" y="6640131"/>
                </a:lnTo>
                <a:lnTo>
                  <a:pt x="8821801" y="6662616"/>
                </a:lnTo>
                <a:lnTo>
                  <a:pt x="8777986" y="6679312"/>
                </a:lnTo>
                <a:lnTo>
                  <a:pt x="8731504" y="6689703"/>
                </a:lnTo>
                <a:lnTo>
                  <a:pt x="8682736" y="6693281"/>
                </a:lnTo>
                <a:lnTo>
                  <a:pt x="329907" y="6693281"/>
                </a:lnTo>
                <a:lnTo>
                  <a:pt x="281165" y="6689703"/>
                </a:lnTo>
                <a:lnTo>
                  <a:pt x="234632" y="6679312"/>
                </a:lnTo>
                <a:lnTo>
                  <a:pt x="190830" y="6662616"/>
                </a:lnTo>
                <a:lnTo>
                  <a:pt x="150266" y="6640131"/>
                </a:lnTo>
                <a:lnTo>
                  <a:pt x="113461" y="6612356"/>
                </a:lnTo>
                <a:lnTo>
                  <a:pt x="80924" y="6579819"/>
                </a:lnTo>
                <a:lnTo>
                  <a:pt x="53152" y="6543001"/>
                </a:lnTo>
                <a:lnTo>
                  <a:pt x="30662" y="6502450"/>
                </a:lnTo>
                <a:lnTo>
                  <a:pt x="13967" y="6458648"/>
                </a:lnTo>
                <a:lnTo>
                  <a:pt x="3576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4000"/>
            <a:ext cx="9131808" cy="1143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734311"/>
            <a:ext cx="9131808" cy="38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5149" y="1904466"/>
            <a:ext cx="3427729" cy="4123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633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4007" y="253746"/>
            <a:ext cx="821598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322" y="2949701"/>
            <a:ext cx="7947355" cy="3409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5915" y="6305015"/>
            <a:ext cx="288290" cy="246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.png"/><Relationship Id="rId7" Type="http://schemas.openxmlformats.org/officeDocument/2006/relationships/hyperlink" Target="Munson%20Movies/V3_4%20Pitot%20tube%20airplane.mo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hyperlink" Target="http://www.airflow.co.uk/instr/stat-pit.htm" TargetMode="External"/><Relationship Id="rId9" Type="http://schemas.openxmlformats.org/officeDocument/2006/relationships/image" Target="../media/image29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510B-E5F1-DBF6-B7F0-34F7FE75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52" y="1132998"/>
            <a:ext cx="8215985" cy="738664"/>
          </a:xfrm>
        </p:spPr>
        <p:txBody>
          <a:bodyPr/>
          <a:lstStyle/>
          <a:p>
            <a:pPr algn="ctr"/>
            <a:r>
              <a:rPr lang="en-IN" dirty="0"/>
              <a:t>Fluid Dynamic, Aero Dynamics, Low &amp; High Speed Dynamics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17D78-F323-8E34-4DA9-2E7E62F2B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415" y="4432994"/>
            <a:ext cx="7947355" cy="2123658"/>
          </a:xfrm>
        </p:spPr>
        <p:txBody>
          <a:bodyPr/>
          <a:lstStyle/>
          <a:p>
            <a:pPr algn="ctr"/>
            <a:r>
              <a:rPr lang="en-IN" b="1" dirty="0"/>
              <a:t>Mrs. A. </a:t>
            </a:r>
            <a:r>
              <a:rPr lang="en-IN" b="1" dirty="0" err="1"/>
              <a:t>Animhons</a:t>
            </a:r>
            <a:endParaRPr lang="en-IN" b="1" dirty="0"/>
          </a:p>
          <a:p>
            <a:pPr algn="ctr"/>
            <a:r>
              <a:rPr lang="en-IN" dirty="0"/>
              <a:t>Assistant Professor</a:t>
            </a:r>
          </a:p>
          <a:p>
            <a:pPr algn="ctr"/>
            <a:r>
              <a:rPr lang="en-IN" dirty="0"/>
              <a:t>Department of Aeronautical</a:t>
            </a:r>
          </a:p>
          <a:p>
            <a:pPr algn="ctr"/>
            <a:r>
              <a:rPr lang="en-US" dirty="0"/>
              <a:t>Excel Engineering College</a:t>
            </a:r>
            <a:endParaRPr lang="en-IN" dirty="0"/>
          </a:p>
          <a:p>
            <a:pPr algn="ctr"/>
            <a:r>
              <a:rPr lang="en-US" dirty="0"/>
              <a:t>(Autonomous)</a:t>
            </a:r>
            <a:endParaRPr lang="en-IN" dirty="0"/>
          </a:p>
          <a:p>
            <a:pPr algn="ctr"/>
            <a:r>
              <a:rPr lang="en-US" dirty="0" err="1"/>
              <a:t>Komaparapalayam</a:t>
            </a:r>
            <a:r>
              <a:rPr lang="en-US" dirty="0"/>
              <a:t>, Namakkal- 637 303.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39063-94C8-3DA9-701E-F4C88E0CB20F}"/>
              </a:ext>
            </a:extLst>
          </p:cNvPr>
          <p:cNvSpPr txBox="1"/>
          <p:nvPr/>
        </p:nvSpPr>
        <p:spPr>
          <a:xfrm>
            <a:off x="2285999" y="22214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Presented By</a:t>
            </a:r>
          </a:p>
        </p:txBody>
      </p:sp>
      <p:pic>
        <p:nvPicPr>
          <p:cNvPr id="1026" name="Picture 7" descr="C:\Users\excel\Desktop\Naveen IQAC Audit Documents\nba.png">
            <a:extLst>
              <a:ext uri="{FF2B5EF4-FFF2-40B4-BE49-F238E27FC236}">
                <a16:creationId xmlns:a16="http://schemas.microsoft.com/office/drawing/2014/main" id="{339EB5A8-446A-23B5-EAB9-990EEECE5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655" y="250998"/>
            <a:ext cx="925679" cy="80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6D9AE111-C470-C484-EF78-BDCBAB2B3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104" y="2661134"/>
            <a:ext cx="1687680" cy="1621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8">
            <a:extLst>
              <a:ext uri="{FF2B5EF4-FFF2-40B4-BE49-F238E27FC236}">
                <a16:creationId xmlns:a16="http://schemas.microsoft.com/office/drawing/2014/main" id="{3A1B8265-7BF2-25AA-A181-EDB2039F0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625" y="173459"/>
            <a:ext cx="1216317" cy="959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448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6" y="281177"/>
                </a:lnTo>
                <a:lnTo>
                  <a:pt x="13967" y="234696"/>
                </a:lnTo>
                <a:lnTo>
                  <a:pt x="30662" y="190880"/>
                </a:lnTo>
                <a:lnTo>
                  <a:pt x="53152" y="150241"/>
                </a:lnTo>
                <a:lnTo>
                  <a:pt x="80924" y="113411"/>
                </a:lnTo>
                <a:lnTo>
                  <a:pt x="113461" y="80899"/>
                </a:lnTo>
                <a:lnTo>
                  <a:pt x="150266" y="53213"/>
                </a:lnTo>
                <a:lnTo>
                  <a:pt x="190830" y="30606"/>
                </a:lnTo>
                <a:lnTo>
                  <a:pt x="234632" y="13970"/>
                </a:lnTo>
                <a:lnTo>
                  <a:pt x="281165" y="3555"/>
                </a:lnTo>
                <a:lnTo>
                  <a:pt x="329907" y="0"/>
                </a:lnTo>
                <a:lnTo>
                  <a:pt x="8682736" y="0"/>
                </a:lnTo>
                <a:lnTo>
                  <a:pt x="8731504" y="3555"/>
                </a:lnTo>
                <a:lnTo>
                  <a:pt x="8777986" y="13970"/>
                </a:lnTo>
                <a:lnTo>
                  <a:pt x="8821801" y="30606"/>
                </a:lnTo>
                <a:lnTo>
                  <a:pt x="8862441" y="53213"/>
                </a:lnTo>
                <a:lnTo>
                  <a:pt x="8899271" y="80899"/>
                </a:lnTo>
                <a:lnTo>
                  <a:pt x="8931783" y="113411"/>
                </a:lnTo>
                <a:lnTo>
                  <a:pt x="8959469" y="150241"/>
                </a:lnTo>
                <a:lnTo>
                  <a:pt x="8982075" y="190880"/>
                </a:lnTo>
                <a:lnTo>
                  <a:pt x="8998712" y="234696"/>
                </a:lnTo>
                <a:lnTo>
                  <a:pt x="9009126" y="281177"/>
                </a:lnTo>
                <a:lnTo>
                  <a:pt x="9012682" y="329946"/>
                </a:lnTo>
                <a:lnTo>
                  <a:pt x="9012682" y="6363360"/>
                </a:lnTo>
                <a:lnTo>
                  <a:pt x="9009126" y="6412115"/>
                </a:lnTo>
                <a:lnTo>
                  <a:pt x="8998712" y="6458648"/>
                </a:lnTo>
                <a:lnTo>
                  <a:pt x="8982075" y="6502450"/>
                </a:lnTo>
                <a:lnTo>
                  <a:pt x="8959469" y="6543001"/>
                </a:lnTo>
                <a:lnTo>
                  <a:pt x="8931783" y="6579819"/>
                </a:lnTo>
                <a:lnTo>
                  <a:pt x="8899271" y="6612356"/>
                </a:lnTo>
                <a:lnTo>
                  <a:pt x="8862441" y="6640131"/>
                </a:lnTo>
                <a:lnTo>
                  <a:pt x="8821801" y="6662616"/>
                </a:lnTo>
                <a:lnTo>
                  <a:pt x="8777986" y="6679312"/>
                </a:lnTo>
                <a:lnTo>
                  <a:pt x="8731504" y="6689703"/>
                </a:lnTo>
                <a:lnTo>
                  <a:pt x="8682736" y="6693281"/>
                </a:lnTo>
                <a:lnTo>
                  <a:pt x="329907" y="6693281"/>
                </a:lnTo>
                <a:lnTo>
                  <a:pt x="281165" y="6689703"/>
                </a:lnTo>
                <a:lnTo>
                  <a:pt x="234632" y="6679312"/>
                </a:lnTo>
                <a:lnTo>
                  <a:pt x="190830" y="6662616"/>
                </a:lnTo>
                <a:lnTo>
                  <a:pt x="150266" y="6640131"/>
                </a:lnTo>
                <a:lnTo>
                  <a:pt x="113461" y="6612356"/>
                </a:lnTo>
                <a:lnTo>
                  <a:pt x="80924" y="6579819"/>
                </a:lnTo>
                <a:lnTo>
                  <a:pt x="53152" y="6543001"/>
                </a:lnTo>
                <a:lnTo>
                  <a:pt x="30662" y="6502450"/>
                </a:lnTo>
                <a:lnTo>
                  <a:pt x="13967" y="6458648"/>
                </a:lnTo>
                <a:lnTo>
                  <a:pt x="3576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066800" y="1062096"/>
            <a:ext cx="5243880" cy="628954"/>
          </a:xfrm>
          <a:prstGeom prst="rect">
            <a:avLst/>
          </a:prstGeom>
        </p:spPr>
        <p:txBody>
          <a:bodyPr vert="horz" wrap="square" lIns="0" tIns="127939" rIns="0" bIns="0" rtlCol="0">
            <a:spAutoFit/>
          </a:bodyPr>
          <a:lstStyle/>
          <a:p>
            <a:pPr marL="3364229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</a:rPr>
              <a:t>Chapter</a:t>
            </a:r>
            <a:r>
              <a:rPr sz="3200" spc="-125" dirty="0">
                <a:solidFill>
                  <a:srgbClr val="FF0000"/>
                </a:solidFill>
              </a:rPr>
              <a:t> </a:t>
            </a:r>
            <a:r>
              <a:rPr sz="3200" spc="-50" dirty="0">
                <a:solidFill>
                  <a:srgbClr val="FF0000"/>
                </a:solidFill>
              </a:rPr>
              <a:t>1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066800" y="2667000"/>
            <a:ext cx="6345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66"/>
                </a:solidFill>
                <a:latin typeface="Times New Roman"/>
                <a:cs typeface="Times New Roman"/>
              </a:rPr>
              <a:t>Introduction</a:t>
            </a:r>
            <a:r>
              <a:rPr sz="3600" b="1" spc="-85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66"/>
                </a:solidFill>
                <a:latin typeface="Times New Roman"/>
                <a:cs typeface="Times New Roman"/>
              </a:rPr>
              <a:t>to</a:t>
            </a:r>
            <a:r>
              <a:rPr sz="3600" b="1" spc="-30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0066"/>
                </a:solidFill>
                <a:latin typeface="Times New Roman"/>
                <a:cs typeface="Times New Roman"/>
              </a:rPr>
              <a:t>Fluid</a:t>
            </a:r>
            <a:r>
              <a:rPr sz="3600" b="1" spc="-90" dirty="0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0066"/>
                </a:solidFill>
                <a:latin typeface="Times New Roman"/>
                <a:cs typeface="Times New Roman"/>
              </a:rPr>
              <a:t>Mechanics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Definition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81939" y="1018794"/>
            <a:ext cx="7585709" cy="427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715" indent="-273050" algn="just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Mechanics</a:t>
            </a:r>
            <a:r>
              <a:rPr sz="2400" b="1" spc="40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oldest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stationary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moving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bodies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influence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forces.</a:t>
            </a:r>
            <a:endParaRPr sz="2400">
              <a:latin typeface="Times New Roman"/>
              <a:cs typeface="Times New Roman"/>
            </a:endParaRPr>
          </a:p>
          <a:p>
            <a:pPr marL="285115" marR="6350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mechanics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bodies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statics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bodies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motion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dynamics</a:t>
            </a:r>
            <a:r>
              <a:rPr sz="2400" b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subcategory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fluid</a:t>
            </a:r>
            <a:r>
              <a:rPr sz="2400" b="1" spc="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mechanics</a:t>
            </a:r>
            <a:r>
              <a:rPr sz="2400" b="1" spc="1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science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behavior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fluids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fluid</a:t>
            </a:r>
            <a:r>
              <a:rPr sz="2400" i="1" spc="2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statics)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motion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fluid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dynamics),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interaction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of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fluids </a:t>
            </a:r>
            <a:r>
              <a:rPr sz="2400" i="1" dirty="0">
                <a:latin typeface="Times New Roman"/>
                <a:cs typeface="Times New Roman"/>
              </a:rPr>
              <a:t>with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solids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boundaries.</a:t>
            </a:r>
            <a:endParaRPr sz="2400">
              <a:latin typeface="Times New Roman"/>
              <a:cs typeface="Times New Roman"/>
            </a:endParaRPr>
          </a:p>
          <a:p>
            <a:pPr marL="285115" indent="-272415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fluid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statics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2424"/>
            <a:ext cx="1664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Definition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04138" y="1002919"/>
            <a:ext cx="7226300" cy="464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715" indent="-273050" algn="just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f1uids in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motion,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forces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considered,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fluid</a:t>
            </a:r>
            <a:r>
              <a:rPr sz="2400" b="1" spc="5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kinematics</a:t>
            </a:r>
            <a:r>
              <a:rPr sz="2400" b="1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forces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considered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fluids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motion.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branch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fluid</a:t>
            </a:r>
            <a:r>
              <a:rPr sz="2400" b="1" spc="-1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dynamics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5115" marR="949960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mechanics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itself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divided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several categories.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motion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fluids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practically </a:t>
            </a:r>
            <a:r>
              <a:rPr sz="2400" dirty="0">
                <a:latin typeface="Times New Roman"/>
                <a:cs typeface="Times New Roman"/>
              </a:rPr>
              <a:t>incompressible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(such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liquids,</a:t>
            </a:r>
            <a:r>
              <a:rPr sz="2400" spc="4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especially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water,</a:t>
            </a:r>
            <a:r>
              <a:rPr sz="2400" spc="4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gases</a:t>
            </a:r>
            <a:r>
              <a:rPr sz="2400" spc="43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speeds)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usually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referred</a:t>
            </a:r>
            <a:r>
              <a:rPr sz="2400" spc="43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4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as </a:t>
            </a:r>
            <a:r>
              <a:rPr sz="2400" b="1" spc="-10" dirty="0">
                <a:latin typeface="Times New Roman"/>
                <a:cs typeface="Times New Roman"/>
              </a:rPr>
              <a:t>hydrodynamics.</a:t>
            </a:r>
            <a:endParaRPr sz="2400">
              <a:latin typeface="Times New Roman"/>
              <a:cs typeface="Times New Roman"/>
            </a:endParaRPr>
          </a:p>
          <a:p>
            <a:pPr marL="285115" marR="6985" indent="-273050" algn="just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subcategory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hydrodynamics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hydraulics,</a:t>
            </a:r>
            <a:r>
              <a:rPr sz="2400" b="1" spc="3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 liquid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channels.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711" y="973963"/>
            <a:ext cx="7280909" cy="2305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9525" indent="-273050" algn="just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b="1" dirty="0">
                <a:latin typeface="Times New Roman"/>
                <a:cs typeface="Times New Roman"/>
              </a:rPr>
              <a:t>Gas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dynamics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undergo </a:t>
            </a:r>
            <a:r>
              <a:rPr sz="2400" dirty="0">
                <a:latin typeface="Times New Roman"/>
                <a:cs typeface="Times New Roman"/>
              </a:rPr>
              <a:t>significant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changes,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gases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nozzles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speeds.</a:t>
            </a:r>
            <a:endParaRPr sz="2400" dirty="0">
              <a:latin typeface="Times New Roman"/>
              <a:cs typeface="Times New Roman"/>
            </a:endParaRPr>
          </a:p>
          <a:p>
            <a:pPr marL="285115" marR="8255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 category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aerodynamics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deals with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gases </a:t>
            </a:r>
            <a:r>
              <a:rPr sz="2400" dirty="0">
                <a:latin typeface="Times New Roman"/>
                <a:cs typeface="Times New Roman"/>
              </a:rPr>
              <a:t>(especially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air)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bodies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aircraft,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rockets,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automobiles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speeds.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8463" y="412749"/>
            <a:ext cx="1664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Definition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16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9137" y="858392"/>
            <a:ext cx="4500245" cy="577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210" marR="5080" indent="-271145" algn="just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3333"/>
              <a:buFont typeface="Segoe UI Symbol"/>
              <a:buChar char="⚫"/>
              <a:tabLst>
                <a:tab pos="285115" algn="l"/>
              </a:tabLst>
            </a:pP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3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3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liquid,</a:t>
            </a:r>
            <a:r>
              <a:rPr sz="2100" spc="3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molecules</a:t>
            </a:r>
            <a:r>
              <a:rPr sz="2100" spc="3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can</a:t>
            </a:r>
            <a:r>
              <a:rPr sz="2100" spc="345" dirty="0">
                <a:latin typeface="Times New Roman"/>
                <a:cs typeface="Times New Roman"/>
              </a:rPr>
              <a:t>  </a:t>
            </a:r>
            <a:r>
              <a:rPr sz="2100" spc="-20" dirty="0">
                <a:latin typeface="Times New Roman"/>
                <a:cs typeface="Times New Roman"/>
              </a:rPr>
              <a:t>move 	</a:t>
            </a:r>
            <a:r>
              <a:rPr sz="2100" dirty="0">
                <a:latin typeface="Times New Roman"/>
                <a:cs typeface="Times New Roman"/>
              </a:rPr>
              <a:t>relative</a:t>
            </a:r>
            <a:r>
              <a:rPr sz="2100" spc="2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2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each</a:t>
            </a:r>
            <a:r>
              <a:rPr sz="2100" spc="2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other,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but</a:t>
            </a:r>
            <a:r>
              <a:rPr sz="2100" spc="2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2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volume 	</a:t>
            </a:r>
            <a:r>
              <a:rPr sz="2100" dirty="0">
                <a:latin typeface="Times New Roman"/>
                <a:cs typeface="Times New Roman"/>
              </a:rPr>
              <a:t>remains</a:t>
            </a:r>
            <a:r>
              <a:rPr sz="2100" spc="1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relatively</a:t>
            </a:r>
            <a:r>
              <a:rPr sz="2100" spc="1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constant</a:t>
            </a:r>
            <a:r>
              <a:rPr sz="2100" spc="1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because</a:t>
            </a:r>
            <a:r>
              <a:rPr sz="2100" spc="18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of 	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strong</a:t>
            </a:r>
            <a:r>
              <a:rPr sz="2100" spc="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cohesive</a:t>
            </a:r>
            <a:r>
              <a:rPr sz="2100" spc="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forces</a:t>
            </a:r>
            <a:r>
              <a:rPr sz="2100" spc="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between</a:t>
            </a:r>
            <a:r>
              <a:rPr sz="2100" spc="8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the 	</a:t>
            </a:r>
            <a:r>
              <a:rPr sz="2100" spc="-10" dirty="0">
                <a:latin typeface="Times New Roman"/>
                <a:cs typeface="Times New Roman"/>
              </a:rPr>
              <a:t>molecules.</a:t>
            </a:r>
            <a:endParaRPr sz="2100">
              <a:latin typeface="Times New Roman"/>
              <a:cs typeface="Times New Roman"/>
            </a:endParaRPr>
          </a:p>
          <a:p>
            <a:pPr marL="283210" marR="6350" indent="-271145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3333"/>
              <a:buFont typeface="Segoe UI Symbol"/>
              <a:buChar char="⚫"/>
              <a:tabLst>
                <a:tab pos="285115" algn="l"/>
              </a:tabLst>
            </a:pPr>
            <a:r>
              <a:rPr sz="2100" dirty="0">
                <a:latin typeface="Times New Roman"/>
                <a:cs typeface="Times New Roman"/>
              </a:rPr>
              <a:t>As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result,</a:t>
            </a:r>
            <a:r>
              <a:rPr sz="2100" spc="1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liquid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takes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shape</a:t>
            </a:r>
            <a:r>
              <a:rPr sz="2100" spc="13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of 	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4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container</a:t>
            </a:r>
            <a:r>
              <a:rPr sz="2100" spc="4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43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4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in,</a:t>
            </a:r>
            <a:r>
              <a:rPr sz="2100" spc="4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4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4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forms</a:t>
            </a:r>
            <a:r>
              <a:rPr sz="2100" spc="445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	</a:t>
            </a:r>
            <a:r>
              <a:rPr sz="2100" dirty="0">
                <a:latin typeface="Times New Roman"/>
                <a:cs typeface="Times New Roman"/>
              </a:rPr>
              <a:t>free</a:t>
            </a:r>
            <a:r>
              <a:rPr sz="2100" spc="2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surface</a:t>
            </a:r>
            <a:r>
              <a:rPr sz="2100" spc="28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2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2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larger</a:t>
            </a:r>
            <a:r>
              <a:rPr sz="2100" spc="2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container</a:t>
            </a:r>
            <a:r>
              <a:rPr sz="2100" spc="2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</a:t>
            </a:r>
            <a:r>
              <a:rPr sz="2100" spc="27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	</a:t>
            </a:r>
            <a:r>
              <a:rPr sz="2100" dirty="0">
                <a:latin typeface="Times New Roman"/>
                <a:cs typeface="Times New Roman"/>
              </a:rPr>
              <a:t>gravitational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field.</a:t>
            </a:r>
            <a:endParaRPr sz="2100">
              <a:latin typeface="Times New Roman"/>
              <a:cs typeface="Times New Roman"/>
            </a:endParaRPr>
          </a:p>
          <a:p>
            <a:pPr marL="283210" marR="6985" indent="-271145" algn="just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3333"/>
              <a:buFont typeface="Segoe UI Symbol"/>
              <a:buChar char="⚫"/>
              <a:tabLst>
                <a:tab pos="285115" algn="l"/>
              </a:tabLst>
            </a:pP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gas,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on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other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hand,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expands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until 	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encounters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walls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container 	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fills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entire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available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space.</a:t>
            </a:r>
            <a:endParaRPr sz="2100">
              <a:latin typeface="Times New Roman"/>
              <a:cs typeface="Times New Roman"/>
            </a:endParaRPr>
          </a:p>
          <a:p>
            <a:pPr marL="283210" marR="6985" indent="-271145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3333"/>
              <a:buFont typeface="Segoe UI Symbol"/>
              <a:buChar char="⚫"/>
              <a:tabLst>
                <a:tab pos="285115" algn="l"/>
              </a:tabLst>
            </a:pPr>
            <a:r>
              <a:rPr sz="2100" dirty="0">
                <a:latin typeface="Times New Roman"/>
                <a:cs typeface="Times New Roman"/>
              </a:rPr>
              <a:t>This</a:t>
            </a:r>
            <a:r>
              <a:rPr sz="2100" spc="2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2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because</a:t>
            </a:r>
            <a:r>
              <a:rPr sz="2100" spc="2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gas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molecules</a:t>
            </a:r>
            <a:r>
              <a:rPr sz="2100" spc="23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are 	</a:t>
            </a:r>
            <a:r>
              <a:rPr sz="2100" dirty="0">
                <a:latin typeface="Times New Roman"/>
                <a:cs typeface="Times New Roman"/>
              </a:rPr>
              <a:t>widely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spaced,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cohesive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forces 	</a:t>
            </a:r>
            <a:r>
              <a:rPr sz="2100" dirty="0">
                <a:latin typeface="Times New Roman"/>
                <a:cs typeface="Times New Roman"/>
              </a:rPr>
              <a:t>between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them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very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small.</a:t>
            </a:r>
            <a:endParaRPr sz="2100">
              <a:latin typeface="Times New Roman"/>
              <a:cs typeface="Times New Roman"/>
            </a:endParaRPr>
          </a:p>
          <a:p>
            <a:pPr marL="283210" marR="12700" indent="-271145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3333"/>
              <a:buFont typeface="Segoe UI Symbol"/>
              <a:buChar char="⚫"/>
              <a:tabLst>
                <a:tab pos="285115" algn="l"/>
              </a:tabLst>
            </a:pPr>
            <a:r>
              <a:rPr sz="2100" dirty="0">
                <a:latin typeface="Times New Roman"/>
                <a:cs typeface="Times New Roman"/>
              </a:rPr>
              <a:t>Unlike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liquids,</a:t>
            </a:r>
            <a:r>
              <a:rPr sz="2100" spc="3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gases</a:t>
            </a:r>
            <a:r>
              <a:rPr sz="2100" spc="4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cannot</a:t>
            </a:r>
            <a:r>
              <a:rPr sz="2100" spc="4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form</a:t>
            </a:r>
            <a:r>
              <a:rPr sz="2100" spc="30" dirty="0">
                <a:latin typeface="Times New Roman"/>
                <a:cs typeface="Times New Roman"/>
              </a:rPr>
              <a:t>  </a:t>
            </a:r>
            <a:r>
              <a:rPr sz="2100" spc="-50" dirty="0">
                <a:latin typeface="Times New Roman"/>
                <a:cs typeface="Times New Roman"/>
              </a:rPr>
              <a:t>a 	</a:t>
            </a:r>
            <a:r>
              <a:rPr sz="2100" dirty="0">
                <a:latin typeface="Times New Roman"/>
                <a:cs typeface="Times New Roman"/>
              </a:rPr>
              <a:t>free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surface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1911" y="6310071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0986" y="292988"/>
            <a:ext cx="2741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What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is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Fluid?</a:t>
            </a:r>
            <a:endParaRPr sz="28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0764" y="1892807"/>
            <a:ext cx="3541776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1911" y="6310071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939" y="1021461"/>
            <a:ext cx="5571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95"/>
              </a:spcBef>
              <a:buClr>
                <a:srgbClr val="D16147"/>
              </a:buClr>
              <a:buSzPct val="83928"/>
              <a:buFont typeface="Segoe UI Symbol"/>
              <a:buChar char="⚫"/>
              <a:tabLst>
                <a:tab pos="284480" algn="l"/>
              </a:tabLst>
            </a:pP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Differences</a:t>
            </a:r>
            <a:r>
              <a:rPr sz="2800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between</a:t>
            </a:r>
            <a:r>
              <a:rPr sz="28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liquid</a:t>
            </a:r>
            <a:r>
              <a:rPr sz="2800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sz="2800" spc="-1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gases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3450" y="1839976"/>
          <a:ext cx="6858000" cy="3731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Liquid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Gases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marL="91440" marR="465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Difficult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compress</a:t>
                      </a:r>
                      <a:r>
                        <a:rPr sz="20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regarded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incompressible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24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Easily</a:t>
                      </a:r>
                      <a:r>
                        <a:rPr sz="20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compress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volume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large,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normally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neglected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related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temperature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91440" marR="415290" algn="just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Occupies</a:t>
                      </a:r>
                      <a:r>
                        <a:rPr sz="20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20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volume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take the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shape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container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53745" algn="just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volume,</a:t>
                      </a:r>
                      <a:r>
                        <a:rPr sz="20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changes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volume</a:t>
                      </a:r>
                      <a:r>
                        <a:rPr sz="20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expand</a:t>
                      </a:r>
                      <a:r>
                        <a:rPr sz="20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fill</a:t>
                      </a:r>
                      <a:r>
                        <a:rPr sz="20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containing</a:t>
                      </a: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vessels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91440" marR="348615" algn="just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surface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formed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if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volume</a:t>
                      </a:r>
                      <a:r>
                        <a:rPr sz="2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container</a:t>
                      </a:r>
                      <a:r>
                        <a:rPr sz="2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liquid.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270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Completely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fill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vessel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20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surface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formed.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What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is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</a:t>
            </a:r>
            <a:r>
              <a:rPr sz="2800" spc="-7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Fluid?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637" y="337515"/>
            <a:ext cx="6282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00"/>
                </a:solidFill>
              </a:rPr>
              <a:t>Application</a:t>
            </a:r>
            <a:r>
              <a:rPr sz="2800" spc="-10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areas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Fluid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Mechanics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802335" y="972439"/>
            <a:ext cx="7629525" cy="48393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337185" indent="-274320">
              <a:lnSpc>
                <a:spcPts val="2590"/>
              </a:lnSpc>
              <a:spcBef>
                <a:spcPts val="42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Mechanics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extremely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areas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engineering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science.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6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Biomechanics</a:t>
            </a:r>
            <a:endParaRPr sz="2400">
              <a:latin typeface="Times New Roman"/>
              <a:cs typeface="Times New Roman"/>
            </a:endParaRPr>
          </a:p>
          <a:p>
            <a:pPr marL="560705" lvl="1" indent="-231775">
              <a:lnSpc>
                <a:spcPct val="100000"/>
              </a:lnSpc>
              <a:spcBef>
                <a:spcPts val="110"/>
              </a:spcBef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Times New Roman"/>
                <a:cs typeface="Times New Roman"/>
              </a:rPr>
              <a:t>Blood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arteries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veins</a:t>
            </a:r>
            <a:endParaRPr sz="2400">
              <a:latin typeface="Times New Roman"/>
              <a:cs typeface="Times New Roman"/>
            </a:endParaRPr>
          </a:p>
          <a:p>
            <a:pPr marL="560705" lvl="1" indent="-231775">
              <a:lnSpc>
                <a:spcPct val="100000"/>
              </a:lnSpc>
              <a:spcBef>
                <a:spcPts val="95"/>
              </a:spcBef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Times New Roman"/>
                <a:cs typeface="Times New Roman"/>
              </a:rPr>
              <a:t>Airflow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lungs</a:t>
            </a:r>
            <a:endParaRPr sz="2400">
              <a:latin typeface="Times New Roman"/>
              <a:cs typeface="Times New Roman"/>
            </a:endParaRPr>
          </a:p>
          <a:p>
            <a:pPr marL="560705" lvl="1" indent="-231775">
              <a:lnSpc>
                <a:spcPct val="100000"/>
              </a:lnSpc>
              <a:spcBef>
                <a:spcPts val="95"/>
              </a:spcBef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cerebral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fluid</a:t>
            </a:r>
            <a:endParaRPr sz="24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310"/>
              </a:spcBef>
              <a:buClr>
                <a:srgbClr val="D1614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Households</a:t>
            </a:r>
            <a:endParaRPr sz="2600">
              <a:latin typeface="Times New Roman"/>
              <a:cs typeface="Times New Roman"/>
            </a:endParaRPr>
          </a:p>
          <a:p>
            <a:pPr marL="560705" lvl="1" indent="-231775" algn="just">
              <a:lnSpc>
                <a:spcPct val="100000"/>
              </a:lnSpc>
              <a:spcBef>
                <a:spcPts val="105"/>
              </a:spcBef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Times New Roman"/>
                <a:cs typeface="Times New Roman"/>
              </a:rPr>
              <a:t>Piping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water,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sewage</a:t>
            </a:r>
            <a:endParaRPr sz="2400">
              <a:latin typeface="Times New Roman"/>
              <a:cs typeface="Times New Roman"/>
            </a:endParaRPr>
          </a:p>
          <a:p>
            <a:pPr marL="560070" marR="5080" lvl="1" indent="-231775" algn="just">
              <a:lnSpc>
                <a:spcPts val="2600"/>
              </a:lnSpc>
              <a:spcBef>
                <a:spcPts val="535"/>
              </a:spcBef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Piping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5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ducting</a:t>
            </a:r>
            <a:r>
              <a:rPr sz="2400" spc="45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heating</a:t>
            </a:r>
            <a:r>
              <a:rPr sz="2400" spc="459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7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air- 	</a:t>
            </a:r>
            <a:r>
              <a:rPr sz="2400" dirty="0">
                <a:latin typeface="Times New Roman"/>
                <a:cs typeface="Times New Roman"/>
              </a:rPr>
              <a:t>conditioning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560070" marR="7620" lvl="1" indent="-231775" algn="just">
              <a:lnSpc>
                <a:spcPct val="90200"/>
              </a:lnSpc>
              <a:spcBef>
                <a:spcPts val="370"/>
              </a:spcBef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refrigerator,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vacuum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cleaner,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dish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washer,</a:t>
            </a:r>
            <a:r>
              <a:rPr sz="2400" spc="440" dirty="0">
                <a:latin typeface="Times New Roman"/>
                <a:cs typeface="Times New Roman"/>
              </a:rPr>
              <a:t>   </a:t>
            </a:r>
            <a:r>
              <a:rPr sz="2400" spc="-10" dirty="0">
                <a:latin typeface="Times New Roman"/>
                <a:cs typeface="Times New Roman"/>
              </a:rPr>
              <a:t>washing 	</a:t>
            </a:r>
            <a:r>
              <a:rPr sz="2400" dirty="0">
                <a:latin typeface="Times New Roman"/>
                <a:cs typeface="Times New Roman"/>
              </a:rPr>
              <a:t>machine,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water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meter,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meter,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conditioner, 	</a:t>
            </a:r>
            <a:r>
              <a:rPr sz="2400" spc="-20" dirty="0">
                <a:latin typeface="Times New Roman"/>
                <a:cs typeface="Times New Roman"/>
              </a:rPr>
              <a:t>radiator,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335" y="5808675"/>
            <a:ext cx="6106795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Meteorology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Ocean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  <a:p>
            <a:pPr marL="560705" lvl="1" indent="-231775">
              <a:lnSpc>
                <a:spcPct val="100000"/>
              </a:lnSpc>
              <a:spcBef>
                <a:spcPts val="95"/>
              </a:spcBef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Times New Roman"/>
                <a:cs typeface="Times New Roman"/>
              </a:rPr>
              <a:t>Movements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currents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1911" y="6310071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00"/>
                </a:solidFill>
              </a:rPr>
              <a:t>Application</a:t>
            </a:r>
            <a:r>
              <a:rPr sz="2800" spc="-9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areas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Fluid</a:t>
            </a:r>
            <a:r>
              <a:rPr sz="2800" spc="-1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Mechanics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99287" y="975106"/>
            <a:ext cx="7613650" cy="5367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4480" indent="-271780">
              <a:lnSpc>
                <a:spcPts val="3080"/>
              </a:lnSpc>
              <a:spcBef>
                <a:spcPts val="105"/>
              </a:spcBef>
              <a:buClr>
                <a:srgbClr val="D16147"/>
              </a:buClr>
              <a:buSzPct val="84615"/>
              <a:buFont typeface="Segoe UI Symbol"/>
              <a:buChar char="⚫"/>
              <a:tabLst>
                <a:tab pos="284480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Mechanical</a:t>
            </a:r>
            <a:r>
              <a:rPr sz="26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600">
              <a:latin typeface="Times New Roman"/>
              <a:cs typeface="Times New Roman"/>
            </a:endParaRPr>
          </a:p>
          <a:p>
            <a:pPr marL="560070" marR="5080" lvl="1" indent="-231775">
              <a:lnSpc>
                <a:spcPts val="2700"/>
              </a:lnSpc>
              <a:spcBef>
                <a:spcPts val="200"/>
              </a:spcBef>
              <a:buSzPct val="85416"/>
              <a:buFont typeface="Segoe UI Symbol"/>
              <a:buChar char="⚫"/>
              <a:tabLst>
                <a:tab pos="561340" algn="l"/>
                <a:tab pos="1557655" algn="l"/>
                <a:tab pos="1943735" algn="l"/>
                <a:tab pos="2964815" algn="l"/>
                <a:tab pos="4156710" algn="l"/>
                <a:tab pos="6243320" algn="l"/>
              </a:tabLst>
            </a:pPr>
            <a:r>
              <a:rPr sz="2400" spc="-10" dirty="0">
                <a:latin typeface="Times New Roman"/>
                <a:cs typeface="Times New Roman"/>
              </a:rPr>
              <a:t>Design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pumps,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turbines,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40" dirty="0">
                <a:latin typeface="Times New Roman"/>
                <a:cs typeface="Times New Roman"/>
              </a:rPr>
              <a:t>air-</a:t>
            </a:r>
            <a:r>
              <a:rPr sz="2400" spc="-10" dirty="0">
                <a:latin typeface="Times New Roman"/>
                <a:cs typeface="Times New Roman"/>
              </a:rPr>
              <a:t>conditioning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equipment, 	</a:t>
            </a:r>
            <a:r>
              <a:rPr sz="2400" dirty="0">
                <a:latin typeface="Times New Roman"/>
                <a:cs typeface="Times New Roman"/>
              </a:rPr>
              <a:t>pollution-control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equipment,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560070" marR="337185" lvl="1" indent="-231775">
              <a:lnSpc>
                <a:spcPct val="100000"/>
              </a:lnSpc>
              <a:spcBef>
                <a:spcPts val="350"/>
              </a:spcBef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aircraft,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boats,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submarines, 	</a:t>
            </a:r>
            <a:r>
              <a:rPr sz="2400" dirty="0">
                <a:latin typeface="Times New Roman"/>
                <a:cs typeface="Times New Roman"/>
              </a:rPr>
              <a:t>rockets,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jet engines,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turbines,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biomedical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devices,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cooling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electronic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components,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transportation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water,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crude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oil,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natural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gas.</a:t>
            </a:r>
            <a:endParaRPr sz="240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spcBef>
                <a:spcPts val="295"/>
              </a:spcBef>
              <a:buClr>
                <a:srgbClr val="D16147"/>
              </a:buClr>
              <a:buSzPct val="84615"/>
              <a:buFont typeface="Segoe UI Symbol"/>
              <a:buChar char="⚫"/>
              <a:tabLst>
                <a:tab pos="284480" algn="l"/>
              </a:tabLst>
            </a:pP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Civil</a:t>
            </a:r>
            <a:r>
              <a:rPr sz="2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600">
              <a:latin typeface="Times New Roman"/>
              <a:cs typeface="Times New Roman"/>
            </a:endParaRPr>
          </a:p>
          <a:p>
            <a:pPr marL="560070" lvl="1" indent="-231775">
              <a:lnSpc>
                <a:spcPct val="100000"/>
              </a:lnSpc>
              <a:spcBef>
                <a:spcPts val="105"/>
              </a:spcBef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spc="-10" dirty="0">
                <a:latin typeface="Times New Roman"/>
                <a:cs typeface="Times New Roman"/>
              </a:rPr>
              <a:t>Transport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river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sediments</a:t>
            </a:r>
            <a:endParaRPr sz="2400">
              <a:latin typeface="Times New Roman"/>
              <a:cs typeface="Times New Roman"/>
            </a:endParaRPr>
          </a:p>
          <a:p>
            <a:pPr marL="560070" lvl="1" indent="-231775">
              <a:lnSpc>
                <a:spcPct val="100000"/>
              </a:lnSpc>
              <a:spcBef>
                <a:spcPts val="95"/>
              </a:spcBef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dirty="0">
                <a:latin typeface="Times New Roman"/>
                <a:cs typeface="Times New Roman"/>
              </a:rPr>
              <a:t>Pollution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water</a:t>
            </a:r>
            <a:endParaRPr sz="2400">
              <a:latin typeface="Times New Roman"/>
              <a:cs typeface="Times New Roman"/>
            </a:endParaRPr>
          </a:p>
          <a:p>
            <a:pPr marL="560070" lvl="1" indent="-231775">
              <a:lnSpc>
                <a:spcPct val="100000"/>
              </a:lnSpc>
              <a:spcBef>
                <a:spcPts val="105"/>
              </a:spcBef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piping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560070" lvl="1" indent="-231775">
              <a:lnSpc>
                <a:spcPct val="100000"/>
              </a:lnSpc>
              <a:spcBef>
                <a:spcPts val="100"/>
              </a:spcBef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dirty="0">
                <a:latin typeface="Times New Roman"/>
                <a:cs typeface="Times New Roman"/>
              </a:rPr>
              <a:t>Flood control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3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Chemical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  <a:p>
            <a:pPr marL="560070" lvl="1" indent="-231775">
              <a:lnSpc>
                <a:spcPct val="100000"/>
              </a:lnSpc>
              <a:spcBef>
                <a:spcPts val="95"/>
              </a:spcBef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chemical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equipment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1315" y="6310071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034" y="738184"/>
            <a:ext cx="8004809" cy="57581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Turbomachines: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pump,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turbine,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blower,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propeller,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Military: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Missile,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aircraft,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ship,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underwater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vehicle,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dispersion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chemical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agents,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87020" marR="381635" indent="-27432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Automobile: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IC engine,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conditioning,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fuel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flow,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external </a:t>
            </a:r>
            <a:r>
              <a:rPr sz="2400" dirty="0">
                <a:latin typeface="Times New Roman"/>
                <a:cs typeface="Times New Roman"/>
              </a:rPr>
              <a:t>aerodynamics,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87020" marR="102870" indent="-27432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Medicine: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Heart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artificial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heart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valve,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Lab-on-</a:t>
            </a:r>
            <a:r>
              <a:rPr sz="2400" spc="-25" dirty="0">
                <a:latin typeface="Times New Roman"/>
                <a:cs typeface="Times New Roman"/>
              </a:rPr>
              <a:t>a- </a:t>
            </a:r>
            <a:r>
              <a:rPr sz="2400" dirty="0">
                <a:latin typeface="Times New Roman"/>
                <a:cs typeface="Times New Roman"/>
              </a:rPr>
              <a:t>Chip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glucose </a:t>
            </a:r>
            <a:r>
              <a:rPr sz="2400" spc="-20" dirty="0">
                <a:latin typeface="Times New Roman"/>
                <a:cs typeface="Times New Roman"/>
              </a:rPr>
              <a:t>monitor,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controlled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drug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delivery,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Electronics: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Convective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cooling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heat.</a:t>
            </a:r>
            <a:endParaRPr sz="2400">
              <a:latin typeface="Times New Roman"/>
              <a:cs typeface="Times New Roman"/>
            </a:endParaRPr>
          </a:p>
          <a:p>
            <a:pPr marL="287020" marR="909319" indent="-27432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Energy: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Combuster,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burner,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boiler,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hydro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wind </a:t>
            </a:r>
            <a:r>
              <a:rPr sz="2400" dirty="0">
                <a:latin typeface="Times New Roman"/>
                <a:cs typeface="Times New Roman"/>
              </a:rPr>
              <a:t>turbine,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87020" marR="685165" indent="-27432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Oil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Gas: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Pipeline,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pump,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valve,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offshore </a:t>
            </a:r>
            <a:r>
              <a:rPr sz="2400" dirty="0">
                <a:latin typeface="Times New Roman"/>
                <a:cs typeface="Times New Roman"/>
              </a:rPr>
              <a:t>rig,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spill </a:t>
            </a:r>
            <a:r>
              <a:rPr sz="2400" dirty="0">
                <a:latin typeface="Times New Roman"/>
                <a:cs typeface="Times New Roman"/>
              </a:rPr>
              <a:t>cleanup,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287020" marR="80010" indent="-27432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Almost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everything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either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fluid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itself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fluid.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8935" y="6310071"/>
            <a:ext cx="1835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35" dirty="0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00"/>
                </a:solidFill>
              </a:rPr>
              <a:t>Application</a:t>
            </a:r>
            <a:r>
              <a:rPr sz="2800" spc="-9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areas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Fluid</a:t>
            </a:r>
            <a:r>
              <a:rPr sz="2800" spc="-1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Mechanics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1939" y="1041019"/>
            <a:ext cx="7533005" cy="2296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engineering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enormous: </a:t>
            </a:r>
            <a:r>
              <a:rPr sz="2400" dirty="0">
                <a:latin typeface="Times New Roman"/>
                <a:cs typeface="Times New Roman"/>
              </a:rPr>
              <a:t>breathing,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blood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flow,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swimming,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pumps,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fans,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turbines, </a:t>
            </a:r>
            <a:r>
              <a:rPr sz="2400" dirty="0">
                <a:latin typeface="Times New Roman"/>
                <a:cs typeface="Times New Roman"/>
              </a:rPr>
              <a:t>airplanes,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ships,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rivers,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windmills,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missiles,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icebergs, </a:t>
            </a:r>
            <a:r>
              <a:rPr sz="2400" dirty="0">
                <a:latin typeface="Times New Roman"/>
                <a:cs typeface="Times New Roman"/>
              </a:rPr>
              <a:t>engines,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filters,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jets,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sprinklers,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few.</a:t>
            </a:r>
            <a:endParaRPr sz="2400">
              <a:latin typeface="Times New Roman"/>
              <a:cs typeface="Times New Roman"/>
            </a:endParaRPr>
          </a:p>
          <a:p>
            <a:pPr marL="285115" marR="24066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think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almost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everything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planet </a:t>
            </a:r>
            <a:r>
              <a:rPr sz="2400" dirty="0">
                <a:latin typeface="Times New Roman"/>
                <a:cs typeface="Times New Roman"/>
              </a:rPr>
              <a:t>either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moves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near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fluid.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6304" y="3788664"/>
            <a:ext cx="3808729" cy="2879090"/>
            <a:chOff x="146304" y="3788664"/>
            <a:chExt cx="3808729" cy="2879090"/>
          </a:xfrm>
        </p:grpSpPr>
        <p:sp>
          <p:nvSpPr>
            <p:cNvPr id="4" name="object 4"/>
            <p:cNvSpPr/>
            <p:nvPr/>
          </p:nvSpPr>
          <p:spPr>
            <a:xfrm>
              <a:off x="146304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4" y="4648"/>
                  </a:lnTo>
                  <a:lnTo>
                    <a:pt x="139623" y="17957"/>
                  </a:lnTo>
                  <a:lnTo>
                    <a:pt x="100787" y="39039"/>
                  </a:lnTo>
                  <a:lnTo>
                    <a:pt x="66954" y="66954"/>
                  </a:lnTo>
                  <a:lnTo>
                    <a:pt x="39039" y="100787"/>
                  </a:lnTo>
                  <a:lnTo>
                    <a:pt x="17957" y="139623"/>
                  </a:lnTo>
                  <a:lnTo>
                    <a:pt x="4648" y="182524"/>
                  </a:lnTo>
                  <a:lnTo>
                    <a:pt x="0" y="228600"/>
                  </a:lnTo>
                  <a:lnTo>
                    <a:pt x="4648" y="274675"/>
                  </a:lnTo>
                  <a:lnTo>
                    <a:pt x="17957" y="317576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23" y="439229"/>
                  </a:lnTo>
                  <a:lnTo>
                    <a:pt x="182524" y="452551"/>
                  </a:lnTo>
                  <a:lnTo>
                    <a:pt x="228600" y="457200"/>
                  </a:lnTo>
                  <a:lnTo>
                    <a:pt x="274675" y="452551"/>
                  </a:lnTo>
                  <a:lnTo>
                    <a:pt x="317576" y="439229"/>
                  </a:lnTo>
                  <a:lnTo>
                    <a:pt x="356412" y="418160"/>
                  </a:lnTo>
                  <a:lnTo>
                    <a:pt x="390245" y="390245"/>
                  </a:lnTo>
                  <a:lnTo>
                    <a:pt x="418160" y="356412"/>
                  </a:lnTo>
                  <a:lnTo>
                    <a:pt x="439229" y="317576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24"/>
                  </a:lnTo>
                  <a:lnTo>
                    <a:pt x="439229" y="139623"/>
                  </a:lnTo>
                  <a:lnTo>
                    <a:pt x="418160" y="100787"/>
                  </a:lnTo>
                  <a:lnTo>
                    <a:pt x="390245" y="66954"/>
                  </a:lnTo>
                  <a:lnTo>
                    <a:pt x="356412" y="39039"/>
                  </a:lnTo>
                  <a:lnTo>
                    <a:pt x="317576" y="17957"/>
                  </a:lnTo>
                  <a:lnTo>
                    <a:pt x="274675" y="464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161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3788664"/>
              <a:ext cx="3421379" cy="23804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1939" y="297891"/>
            <a:ext cx="6282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00"/>
                </a:solidFill>
              </a:rPr>
              <a:t>Application</a:t>
            </a:r>
            <a:r>
              <a:rPr sz="2800" spc="-10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areas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Fluid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Mechanics</a:t>
            </a:r>
            <a:endParaRPr sz="28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1084" y="3936491"/>
            <a:ext cx="4402836" cy="226618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6" y="281177"/>
                </a:lnTo>
                <a:lnTo>
                  <a:pt x="13967" y="234696"/>
                </a:lnTo>
                <a:lnTo>
                  <a:pt x="30662" y="190880"/>
                </a:lnTo>
                <a:lnTo>
                  <a:pt x="53152" y="150241"/>
                </a:lnTo>
                <a:lnTo>
                  <a:pt x="80924" y="113411"/>
                </a:lnTo>
                <a:lnTo>
                  <a:pt x="113461" y="80899"/>
                </a:lnTo>
                <a:lnTo>
                  <a:pt x="150266" y="53213"/>
                </a:lnTo>
                <a:lnTo>
                  <a:pt x="190830" y="30606"/>
                </a:lnTo>
                <a:lnTo>
                  <a:pt x="234632" y="13970"/>
                </a:lnTo>
                <a:lnTo>
                  <a:pt x="281165" y="3555"/>
                </a:lnTo>
                <a:lnTo>
                  <a:pt x="329907" y="0"/>
                </a:lnTo>
                <a:lnTo>
                  <a:pt x="8682736" y="0"/>
                </a:lnTo>
                <a:lnTo>
                  <a:pt x="8731504" y="3555"/>
                </a:lnTo>
                <a:lnTo>
                  <a:pt x="8777986" y="13970"/>
                </a:lnTo>
                <a:lnTo>
                  <a:pt x="8821801" y="30606"/>
                </a:lnTo>
                <a:lnTo>
                  <a:pt x="8862441" y="53213"/>
                </a:lnTo>
                <a:lnTo>
                  <a:pt x="8899271" y="80899"/>
                </a:lnTo>
                <a:lnTo>
                  <a:pt x="8931783" y="113411"/>
                </a:lnTo>
                <a:lnTo>
                  <a:pt x="8959469" y="150241"/>
                </a:lnTo>
                <a:lnTo>
                  <a:pt x="8982075" y="190880"/>
                </a:lnTo>
                <a:lnTo>
                  <a:pt x="8998712" y="234696"/>
                </a:lnTo>
                <a:lnTo>
                  <a:pt x="9009126" y="281177"/>
                </a:lnTo>
                <a:lnTo>
                  <a:pt x="9012682" y="329946"/>
                </a:lnTo>
                <a:lnTo>
                  <a:pt x="9012682" y="6363360"/>
                </a:lnTo>
                <a:lnTo>
                  <a:pt x="9009126" y="6412115"/>
                </a:lnTo>
                <a:lnTo>
                  <a:pt x="8998712" y="6458648"/>
                </a:lnTo>
                <a:lnTo>
                  <a:pt x="8982075" y="6502450"/>
                </a:lnTo>
                <a:lnTo>
                  <a:pt x="8959469" y="6543001"/>
                </a:lnTo>
                <a:lnTo>
                  <a:pt x="8931783" y="6579819"/>
                </a:lnTo>
                <a:lnTo>
                  <a:pt x="8899271" y="6612356"/>
                </a:lnTo>
                <a:lnTo>
                  <a:pt x="8862441" y="6640131"/>
                </a:lnTo>
                <a:lnTo>
                  <a:pt x="8821801" y="6662616"/>
                </a:lnTo>
                <a:lnTo>
                  <a:pt x="8777986" y="6679312"/>
                </a:lnTo>
                <a:lnTo>
                  <a:pt x="8731504" y="6689703"/>
                </a:lnTo>
                <a:lnTo>
                  <a:pt x="8682736" y="6693281"/>
                </a:lnTo>
                <a:lnTo>
                  <a:pt x="329907" y="6693281"/>
                </a:lnTo>
                <a:lnTo>
                  <a:pt x="281165" y="6689703"/>
                </a:lnTo>
                <a:lnTo>
                  <a:pt x="234632" y="6679312"/>
                </a:lnTo>
                <a:lnTo>
                  <a:pt x="190830" y="6662616"/>
                </a:lnTo>
                <a:lnTo>
                  <a:pt x="150266" y="6640131"/>
                </a:lnTo>
                <a:lnTo>
                  <a:pt x="113461" y="6612356"/>
                </a:lnTo>
                <a:lnTo>
                  <a:pt x="80924" y="6579819"/>
                </a:lnTo>
                <a:lnTo>
                  <a:pt x="53152" y="6543001"/>
                </a:lnTo>
                <a:lnTo>
                  <a:pt x="30662" y="6502450"/>
                </a:lnTo>
                <a:lnTo>
                  <a:pt x="13967" y="6458648"/>
                </a:lnTo>
                <a:lnTo>
                  <a:pt x="3576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975360"/>
            <a:ext cx="3585972" cy="25100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</a:rPr>
              <a:t>Application</a:t>
            </a:r>
            <a:r>
              <a:rPr sz="2800" spc="-7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areas</a:t>
            </a:r>
            <a:r>
              <a:rPr sz="2800" spc="-50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9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Fluid</a:t>
            </a:r>
            <a:r>
              <a:rPr sz="2800" spc="-6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Mechanics</a:t>
            </a:r>
            <a:endParaRPr sz="28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2440" y="1251203"/>
            <a:ext cx="4443984" cy="24505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068" y="3791711"/>
            <a:ext cx="4375404" cy="254812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83252" y="3957828"/>
            <a:ext cx="3613404" cy="270967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6" y="281177"/>
                </a:lnTo>
                <a:lnTo>
                  <a:pt x="13967" y="234696"/>
                </a:lnTo>
                <a:lnTo>
                  <a:pt x="30662" y="190880"/>
                </a:lnTo>
                <a:lnTo>
                  <a:pt x="53152" y="150241"/>
                </a:lnTo>
                <a:lnTo>
                  <a:pt x="80924" y="113411"/>
                </a:lnTo>
                <a:lnTo>
                  <a:pt x="113461" y="80899"/>
                </a:lnTo>
                <a:lnTo>
                  <a:pt x="150266" y="53213"/>
                </a:lnTo>
                <a:lnTo>
                  <a:pt x="190830" y="30606"/>
                </a:lnTo>
                <a:lnTo>
                  <a:pt x="234632" y="13970"/>
                </a:lnTo>
                <a:lnTo>
                  <a:pt x="281165" y="3555"/>
                </a:lnTo>
                <a:lnTo>
                  <a:pt x="329907" y="0"/>
                </a:lnTo>
                <a:lnTo>
                  <a:pt x="8682736" y="0"/>
                </a:lnTo>
                <a:lnTo>
                  <a:pt x="8731504" y="3555"/>
                </a:lnTo>
                <a:lnTo>
                  <a:pt x="8777986" y="13970"/>
                </a:lnTo>
                <a:lnTo>
                  <a:pt x="8821801" y="30606"/>
                </a:lnTo>
                <a:lnTo>
                  <a:pt x="8862441" y="53213"/>
                </a:lnTo>
                <a:lnTo>
                  <a:pt x="8899271" y="80899"/>
                </a:lnTo>
                <a:lnTo>
                  <a:pt x="8931783" y="113411"/>
                </a:lnTo>
                <a:lnTo>
                  <a:pt x="8959469" y="150241"/>
                </a:lnTo>
                <a:lnTo>
                  <a:pt x="8982075" y="190880"/>
                </a:lnTo>
                <a:lnTo>
                  <a:pt x="8998712" y="234696"/>
                </a:lnTo>
                <a:lnTo>
                  <a:pt x="9009126" y="281177"/>
                </a:lnTo>
                <a:lnTo>
                  <a:pt x="9012682" y="329946"/>
                </a:lnTo>
                <a:lnTo>
                  <a:pt x="9012682" y="6363360"/>
                </a:lnTo>
                <a:lnTo>
                  <a:pt x="9009126" y="6412115"/>
                </a:lnTo>
                <a:lnTo>
                  <a:pt x="8998712" y="6458648"/>
                </a:lnTo>
                <a:lnTo>
                  <a:pt x="8982075" y="6502450"/>
                </a:lnTo>
                <a:lnTo>
                  <a:pt x="8959469" y="6543001"/>
                </a:lnTo>
                <a:lnTo>
                  <a:pt x="8931783" y="6579819"/>
                </a:lnTo>
                <a:lnTo>
                  <a:pt x="8899271" y="6612356"/>
                </a:lnTo>
                <a:lnTo>
                  <a:pt x="8862441" y="6640131"/>
                </a:lnTo>
                <a:lnTo>
                  <a:pt x="8821801" y="6662616"/>
                </a:lnTo>
                <a:lnTo>
                  <a:pt x="8777986" y="6679312"/>
                </a:lnTo>
                <a:lnTo>
                  <a:pt x="8731504" y="6689703"/>
                </a:lnTo>
                <a:lnTo>
                  <a:pt x="8682736" y="6693281"/>
                </a:lnTo>
                <a:lnTo>
                  <a:pt x="329907" y="6693281"/>
                </a:lnTo>
                <a:lnTo>
                  <a:pt x="281165" y="6689703"/>
                </a:lnTo>
                <a:lnTo>
                  <a:pt x="234632" y="6679312"/>
                </a:lnTo>
                <a:lnTo>
                  <a:pt x="190830" y="6662616"/>
                </a:lnTo>
                <a:lnTo>
                  <a:pt x="150266" y="6640131"/>
                </a:lnTo>
                <a:lnTo>
                  <a:pt x="113461" y="6612356"/>
                </a:lnTo>
                <a:lnTo>
                  <a:pt x="80924" y="6579819"/>
                </a:lnTo>
                <a:lnTo>
                  <a:pt x="53152" y="6543001"/>
                </a:lnTo>
                <a:lnTo>
                  <a:pt x="30662" y="6502450"/>
                </a:lnTo>
                <a:lnTo>
                  <a:pt x="13967" y="6458648"/>
                </a:lnTo>
                <a:lnTo>
                  <a:pt x="3576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6304" y="957072"/>
            <a:ext cx="5626735" cy="5710555"/>
            <a:chOff x="146304" y="957072"/>
            <a:chExt cx="5626735" cy="5710555"/>
          </a:xfrm>
        </p:grpSpPr>
        <p:sp>
          <p:nvSpPr>
            <p:cNvPr id="4" name="object 4"/>
            <p:cNvSpPr/>
            <p:nvPr/>
          </p:nvSpPr>
          <p:spPr>
            <a:xfrm>
              <a:off x="146304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4" y="4648"/>
                  </a:lnTo>
                  <a:lnTo>
                    <a:pt x="139623" y="17957"/>
                  </a:lnTo>
                  <a:lnTo>
                    <a:pt x="100787" y="39039"/>
                  </a:lnTo>
                  <a:lnTo>
                    <a:pt x="66954" y="66954"/>
                  </a:lnTo>
                  <a:lnTo>
                    <a:pt x="39039" y="100787"/>
                  </a:lnTo>
                  <a:lnTo>
                    <a:pt x="17957" y="139623"/>
                  </a:lnTo>
                  <a:lnTo>
                    <a:pt x="4648" y="182524"/>
                  </a:lnTo>
                  <a:lnTo>
                    <a:pt x="0" y="228600"/>
                  </a:lnTo>
                  <a:lnTo>
                    <a:pt x="4648" y="274675"/>
                  </a:lnTo>
                  <a:lnTo>
                    <a:pt x="17957" y="317576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23" y="439229"/>
                  </a:lnTo>
                  <a:lnTo>
                    <a:pt x="182524" y="452551"/>
                  </a:lnTo>
                  <a:lnTo>
                    <a:pt x="228600" y="457200"/>
                  </a:lnTo>
                  <a:lnTo>
                    <a:pt x="274675" y="452551"/>
                  </a:lnTo>
                  <a:lnTo>
                    <a:pt x="317576" y="439229"/>
                  </a:lnTo>
                  <a:lnTo>
                    <a:pt x="356412" y="418160"/>
                  </a:lnTo>
                  <a:lnTo>
                    <a:pt x="390245" y="390245"/>
                  </a:lnTo>
                  <a:lnTo>
                    <a:pt x="418160" y="356412"/>
                  </a:lnTo>
                  <a:lnTo>
                    <a:pt x="439229" y="317576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24"/>
                  </a:lnTo>
                  <a:lnTo>
                    <a:pt x="439229" y="139623"/>
                  </a:lnTo>
                  <a:lnTo>
                    <a:pt x="418160" y="100787"/>
                  </a:lnTo>
                  <a:lnTo>
                    <a:pt x="390245" y="66954"/>
                  </a:lnTo>
                  <a:lnTo>
                    <a:pt x="356412" y="39039"/>
                  </a:lnTo>
                  <a:lnTo>
                    <a:pt x="317576" y="17957"/>
                  </a:lnTo>
                  <a:lnTo>
                    <a:pt x="274675" y="464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161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04" y="957072"/>
              <a:ext cx="5398008" cy="544372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00"/>
                </a:solidFill>
              </a:rPr>
              <a:t>Application</a:t>
            </a:r>
            <a:r>
              <a:rPr sz="2800" spc="-10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areas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Fluid</a:t>
            </a:r>
            <a:r>
              <a:rPr sz="2800" spc="-20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Mechanics</a:t>
            </a:r>
            <a:endParaRPr sz="28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1408" y="1133855"/>
            <a:ext cx="2955036" cy="546354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6" y="281177"/>
                </a:lnTo>
                <a:lnTo>
                  <a:pt x="13967" y="234696"/>
                </a:lnTo>
                <a:lnTo>
                  <a:pt x="30662" y="190880"/>
                </a:lnTo>
                <a:lnTo>
                  <a:pt x="53152" y="150241"/>
                </a:lnTo>
                <a:lnTo>
                  <a:pt x="80924" y="113411"/>
                </a:lnTo>
                <a:lnTo>
                  <a:pt x="113461" y="80899"/>
                </a:lnTo>
                <a:lnTo>
                  <a:pt x="150266" y="53213"/>
                </a:lnTo>
                <a:lnTo>
                  <a:pt x="190830" y="30606"/>
                </a:lnTo>
                <a:lnTo>
                  <a:pt x="234632" y="13970"/>
                </a:lnTo>
                <a:lnTo>
                  <a:pt x="281165" y="3555"/>
                </a:lnTo>
                <a:lnTo>
                  <a:pt x="329907" y="0"/>
                </a:lnTo>
                <a:lnTo>
                  <a:pt x="8682736" y="0"/>
                </a:lnTo>
                <a:lnTo>
                  <a:pt x="8731504" y="3555"/>
                </a:lnTo>
                <a:lnTo>
                  <a:pt x="8777986" y="13970"/>
                </a:lnTo>
                <a:lnTo>
                  <a:pt x="8821801" y="30606"/>
                </a:lnTo>
                <a:lnTo>
                  <a:pt x="8862441" y="53213"/>
                </a:lnTo>
                <a:lnTo>
                  <a:pt x="8899271" y="80899"/>
                </a:lnTo>
                <a:lnTo>
                  <a:pt x="8931783" y="113411"/>
                </a:lnTo>
                <a:lnTo>
                  <a:pt x="8959469" y="150241"/>
                </a:lnTo>
                <a:lnTo>
                  <a:pt x="8982075" y="190880"/>
                </a:lnTo>
                <a:lnTo>
                  <a:pt x="8998712" y="234696"/>
                </a:lnTo>
                <a:lnTo>
                  <a:pt x="9009126" y="281177"/>
                </a:lnTo>
                <a:lnTo>
                  <a:pt x="9012682" y="329946"/>
                </a:lnTo>
                <a:lnTo>
                  <a:pt x="9012682" y="6363360"/>
                </a:lnTo>
                <a:lnTo>
                  <a:pt x="9009126" y="6412115"/>
                </a:lnTo>
                <a:lnTo>
                  <a:pt x="8998712" y="6458648"/>
                </a:lnTo>
                <a:lnTo>
                  <a:pt x="8982075" y="6502450"/>
                </a:lnTo>
                <a:lnTo>
                  <a:pt x="8959469" y="6543001"/>
                </a:lnTo>
                <a:lnTo>
                  <a:pt x="8931783" y="6579819"/>
                </a:lnTo>
                <a:lnTo>
                  <a:pt x="8899271" y="6612356"/>
                </a:lnTo>
                <a:lnTo>
                  <a:pt x="8862441" y="6640131"/>
                </a:lnTo>
                <a:lnTo>
                  <a:pt x="8821801" y="6662616"/>
                </a:lnTo>
                <a:lnTo>
                  <a:pt x="8777986" y="6679312"/>
                </a:lnTo>
                <a:lnTo>
                  <a:pt x="8731504" y="6689703"/>
                </a:lnTo>
                <a:lnTo>
                  <a:pt x="8682736" y="6693281"/>
                </a:lnTo>
                <a:lnTo>
                  <a:pt x="329907" y="6693281"/>
                </a:lnTo>
                <a:lnTo>
                  <a:pt x="281165" y="6689703"/>
                </a:lnTo>
                <a:lnTo>
                  <a:pt x="234632" y="6679312"/>
                </a:lnTo>
                <a:lnTo>
                  <a:pt x="190830" y="6662616"/>
                </a:lnTo>
                <a:lnTo>
                  <a:pt x="150266" y="6640131"/>
                </a:lnTo>
                <a:lnTo>
                  <a:pt x="113461" y="6612356"/>
                </a:lnTo>
                <a:lnTo>
                  <a:pt x="80924" y="6579819"/>
                </a:lnTo>
                <a:lnTo>
                  <a:pt x="53152" y="6543001"/>
                </a:lnTo>
                <a:lnTo>
                  <a:pt x="30662" y="6502450"/>
                </a:lnTo>
                <a:lnTo>
                  <a:pt x="13967" y="6458648"/>
                </a:lnTo>
                <a:lnTo>
                  <a:pt x="3576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6304" y="1056132"/>
            <a:ext cx="8717280" cy="5611495"/>
            <a:chOff x="146304" y="1056132"/>
            <a:chExt cx="8717280" cy="5611495"/>
          </a:xfrm>
        </p:grpSpPr>
        <p:sp>
          <p:nvSpPr>
            <p:cNvPr id="4" name="object 4"/>
            <p:cNvSpPr/>
            <p:nvPr/>
          </p:nvSpPr>
          <p:spPr>
            <a:xfrm>
              <a:off x="146304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4" y="4648"/>
                  </a:lnTo>
                  <a:lnTo>
                    <a:pt x="139623" y="17957"/>
                  </a:lnTo>
                  <a:lnTo>
                    <a:pt x="100787" y="39039"/>
                  </a:lnTo>
                  <a:lnTo>
                    <a:pt x="66954" y="66954"/>
                  </a:lnTo>
                  <a:lnTo>
                    <a:pt x="39039" y="100787"/>
                  </a:lnTo>
                  <a:lnTo>
                    <a:pt x="17957" y="139623"/>
                  </a:lnTo>
                  <a:lnTo>
                    <a:pt x="4648" y="182524"/>
                  </a:lnTo>
                  <a:lnTo>
                    <a:pt x="0" y="228600"/>
                  </a:lnTo>
                  <a:lnTo>
                    <a:pt x="4648" y="274675"/>
                  </a:lnTo>
                  <a:lnTo>
                    <a:pt x="17957" y="317576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23" y="439229"/>
                  </a:lnTo>
                  <a:lnTo>
                    <a:pt x="182524" y="452551"/>
                  </a:lnTo>
                  <a:lnTo>
                    <a:pt x="228600" y="457200"/>
                  </a:lnTo>
                  <a:lnTo>
                    <a:pt x="274675" y="452551"/>
                  </a:lnTo>
                  <a:lnTo>
                    <a:pt x="317576" y="439229"/>
                  </a:lnTo>
                  <a:lnTo>
                    <a:pt x="356412" y="418160"/>
                  </a:lnTo>
                  <a:lnTo>
                    <a:pt x="390245" y="390245"/>
                  </a:lnTo>
                  <a:lnTo>
                    <a:pt x="418160" y="356412"/>
                  </a:lnTo>
                  <a:lnTo>
                    <a:pt x="439229" y="317576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24"/>
                  </a:lnTo>
                  <a:lnTo>
                    <a:pt x="439229" y="139623"/>
                  </a:lnTo>
                  <a:lnTo>
                    <a:pt x="418160" y="100787"/>
                  </a:lnTo>
                  <a:lnTo>
                    <a:pt x="390245" y="66954"/>
                  </a:lnTo>
                  <a:lnTo>
                    <a:pt x="356412" y="39039"/>
                  </a:lnTo>
                  <a:lnTo>
                    <a:pt x="317576" y="17957"/>
                  </a:lnTo>
                  <a:lnTo>
                    <a:pt x="274675" y="4648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161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304" y="1056132"/>
              <a:ext cx="8717280" cy="520903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00"/>
                </a:solidFill>
              </a:rPr>
              <a:t>Application</a:t>
            </a:r>
            <a:r>
              <a:rPr sz="2800" spc="-9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areas</a:t>
            </a:r>
            <a:r>
              <a:rPr sz="2800" spc="-7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of</a:t>
            </a:r>
            <a:r>
              <a:rPr sz="2800" spc="-65" dirty="0">
                <a:solidFill>
                  <a:srgbClr val="000000"/>
                </a:solidFill>
              </a:rPr>
              <a:t> </a:t>
            </a:r>
            <a:r>
              <a:rPr sz="2800" dirty="0">
                <a:solidFill>
                  <a:srgbClr val="000000"/>
                </a:solidFill>
              </a:rPr>
              <a:t>Fluid</a:t>
            </a:r>
            <a:r>
              <a:rPr sz="2800" spc="-15" dirty="0">
                <a:solidFill>
                  <a:srgbClr val="000000"/>
                </a:solidFill>
              </a:rPr>
              <a:t> </a:t>
            </a:r>
            <a:r>
              <a:rPr sz="2800" spc="-10" dirty="0">
                <a:solidFill>
                  <a:srgbClr val="000000"/>
                </a:solidFill>
              </a:rPr>
              <a:t>Mechanics</a:t>
            </a:r>
            <a:endParaRPr sz="28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6485" y="971295"/>
            <a:ext cx="7528559" cy="48260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Viscous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4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Inviscid</a:t>
            </a:r>
            <a:r>
              <a:rPr sz="2400" b="1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Regions</a:t>
            </a:r>
            <a:r>
              <a:rPr sz="2400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Flow…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zero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viscosity,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fluid</a:t>
            </a:r>
            <a:endParaRPr sz="24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viscous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effects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degree.</a:t>
            </a:r>
            <a:endParaRPr sz="2400">
              <a:latin typeface="Times New Roman"/>
              <a:cs typeface="Times New Roman"/>
            </a:endParaRPr>
          </a:p>
          <a:p>
            <a:pPr marL="287020" marR="535940" indent="-274320">
              <a:lnSpc>
                <a:spcPct val="100000"/>
              </a:lnSpc>
              <a:spcBef>
                <a:spcPts val="600"/>
              </a:spcBef>
              <a:buChar char="⚫"/>
              <a:tabLst>
                <a:tab pos="287020" algn="l"/>
                <a:tab pos="361315" algn="l"/>
              </a:tabLst>
            </a:pPr>
            <a:r>
              <a:rPr sz="1500" dirty="0">
                <a:solidFill>
                  <a:srgbClr val="D16147"/>
                </a:solidFill>
                <a:latin typeface="Segoe UI Symbol"/>
                <a:cs typeface="Segoe UI Symbol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frictional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effects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significant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viscous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flows.</a:t>
            </a:r>
            <a:endParaRPr sz="24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spc="-25" dirty="0">
                <a:latin typeface="Times New Roman"/>
                <a:cs typeface="Times New Roman"/>
              </a:rPr>
              <a:t>However,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practical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interest,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i="1" spc="-20" dirty="0">
                <a:latin typeface="Times New Roman"/>
                <a:cs typeface="Times New Roman"/>
              </a:rPr>
              <a:t>regions</a:t>
            </a:r>
            <a:r>
              <a:rPr sz="2400" i="1" spc="-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(typically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regions</a:t>
            </a:r>
            <a:r>
              <a:rPr sz="2400" i="1" spc="-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not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close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solid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surfaces)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viscous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negligibly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inertial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forces.</a:t>
            </a:r>
            <a:endParaRPr sz="2400">
              <a:latin typeface="Times New Roman"/>
              <a:cs typeface="Times New Roman"/>
            </a:endParaRPr>
          </a:p>
          <a:p>
            <a:pPr marL="287020" marR="91440" indent="-27432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Neglecting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viscous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inviscid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regions </a:t>
            </a:r>
            <a:r>
              <a:rPr sz="2400" dirty="0">
                <a:latin typeface="Times New Roman"/>
                <a:cs typeface="Times New Roman"/>
              </a:rPr>
              <a:t>greatly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simplifies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accuracy</a:t>
            </a:r>
            <a:r>
              <a:rPr sz="2600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6660" y="352424"/>
            <a:ext cx="4819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Classification</a:t>
            </a:r>
            <a:r>
              <a:rPr sz="2800" spc="-9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2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913" y="1172336"/>
            <a:ext cx="6014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Viscous</a:t>
            </a:r>
            <a:r>
              <a:rPr sz="28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800" b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Inviscid</a:t>
            </a:r>
            <a:r>
              <a:rPr sz="2800" b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Regions</a:t>
            </a:r>
            <a:r>
              <a:rPr sz="2800" b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8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Flow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214372"/>
            <a:ext cx="8795004" cy="38968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1939" y="324434"/>
            <a:ext cx="4819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Classification</a:t>
            </a:r>
            <a:r>
              <a:rPr sz="2800" spc="-10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10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16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311" y="961286"/>
            <a:ext cx="7423784" cy="44704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Internal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6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External</a:t>
            </a:r>
            <a:r>
              <a:rPr sz="26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Flow</a:t>
            </a:r>
            <a:endParaRPr sz="2600">
              <a:latin typeface="Times New Roman"/>
              <a:cs typeface="Times New Roman"/>
            </a:endParaRPr>
          </a:p>
          <a:p>
            <a:pPr marL="285115" marR="620395" indent="-273050">
              <a:lnSpc>
                <a:spcPct val="100000"/>
              </a:lnSpc>
              <a:spcBef>
                <a:spcPts val="61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external, </a:t>
            </a: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forced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confined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surface.</a:t>
            </a:r>
            <a:endParaRPr sz="2400">
              <a:latin typeface="Times New Roman"/>
              <a:cs typeface="Times New Roman"/>
            </a:endParaRPr>
          </a:p>
          <a:p>
            <a:pPr marL="285115" marR="30543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unbounded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surface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plate,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a pipe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external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flow.</a:t>
            </a:r>
            <a:endParaRPr sz="24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 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pipe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internal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flow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completely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bounded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surfaces.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90" dirty="0">
                <a:latin typeface="Times New Roman"/>
                <a:cs typeface="Times New Roman"/>
              </a:rPr>
              <a:t>Water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flow,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airflow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exposed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windy </a:t>
            </a:r>
            <a:r>
              <a:rPr sz="2400" dirty="0">
                <a:latin typeface="Times New Roman"/>
                <a:cs typeface="Times New Roman"/>
              </a:rPr>
              <a:t>day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external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50" dirty="0">
                <a:latin typeface="Times New Roman"/>
                <a:cs typeface="Times New Roman"/>
              </a:rPr>
              <a:t> 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6660" y="455117"/>
            <a:ext cx="4819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Classification</a:t>
            </a:r>
            <a:r>
              <a:rPr sz="2800" spc="-10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639" y="931060"/>
            <a:ext cx="7566025" cy="520192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Compressible</a:t>
            </a:r>
            <a:r>
              <a:rPr sz="26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Incompressible</a:t>
            </a:r>
            <a:r>
              <a:rPr sz="2600" b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Flow</a:t>
            </a:r>
            <a:endParaRPr sz="2600">
              <a:latin typeface="Times New Roman"/>
              <a:cs typeface="Times New Roman"/>
            </a:endParaRPr>
          </a:p>
          <a:p>
            <a:pPr marL="285115" marR="723265" indent="-273050">
              <a:lnSpc>
                <a:spcPct val="100000"/>
              </a:lnSpc>
              <a:spcBef>
                <a:spcPts val="61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compressible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incompressible,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variation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flow.</a:t>
            </a:r>
            <a:endParaRPr sz="2400">
              <a:latin typeface="Times New Roman"/>
              <a:cs typeface="Times New Roman"/>
            </a:endParaRPr>
          </a:p>
          <a:p>
            <a:pPr marL="285115" marR="77470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Incompressibility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said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b="1" spc="-10" dirty="0">
                <a:latin typeface="Times New Roman"/>
                <a:cs typeface="Times New Roman"/>
              </a:rPr>
              <a:t>incompressible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remains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nearly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constant throughout.</a:t>
            </a:r>
            <a:endParaRPr sz="2400">
              <a:latin typeface="Times New Roman"/>
              <a:cs typeface="Times New Roman"/>
            </a:endParaRPr>
          </a:p>
          <a:p>
            <a:pPr marL="285115" marR="15557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remains </a:t>
            </a:r>
            <a:r>
              <a:rPr sz="2400" dirty="0">
                <a:latin typeface="Times New Roman"/>
                <a:cs typeface="Times New Roman"/>
              </a:rPr>
              <a:t>unchanged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course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 motion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flow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(or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fluid)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incompressible.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liquids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 essentially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constant,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thus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liquids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typically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incompressible.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Therefore, </a:t>
            </a:r>
            <a:r>
              <a:rPr sz="2400" dirty="0">
                <a:latin typeface="Times New Roman"/>
                <a:cs typeface="Times New Roman"/>
              </a:rPr>
              <a:t>liquids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usually referred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incompressible</a:t>
            </a:r>
            <a:r>
              <a:rPr sz="2400" i="1" spc="-1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substances.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4138" y="396316"/>
            <a:ext cx="4819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Classification</a:t>
            </a:r>
            <a:r>
              <a:rPr sz="2800" spc="-10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964" y="886610"/>
            <a:ext cx="7326630" cy="41046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Compressible</a:t>
            </a:r>
            <a:r>
              <a:rPr sz="26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Incompressible</a:t>
            </a:r>
            <a:r>
              <a:rPr sz="2600" b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Flow…</a:t>
            </a:r>
            <a:endParaRPr sz="2600">
              <a:latin typeface="Times New Roman"/>
              <a:cs typeface="Times New Roman"/>
            </a:endParaRPr>
          </a:p>
          <a:p>
            <a:pPr marL="285115" marR="85090" indent="-273050">
              <a:lnSpc>
                <a:spcPct val="100000"/>
              </a:lnSpc>
              <a:spcBef>
                <a:spcPts val="61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210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atm,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liquid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 1 atm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 by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percent.</a:t>
            </a:r>
            <a:endParaRPr sz="2400">
              <a:latin typeface="Times New Roman"/>
              <a:cs typeface="Times New Roman"/>
            </a:endParaRPr>
          </a:p>
          <a:p>
            <a:pPr marL="285115" marR="33210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Gases,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compressible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0.01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atm,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change 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 percent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density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atmospheric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air.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Gas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incompressible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 about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percent.</a:t>
            </a:r>
            <a:endParaRPr sz="2400">
              <a:latin typeface="Times New Roman"/>
              <a:cs typeface="Times New Roman"/>
            </a:endParaRPr>
          </a:p>
          <a:p>
            <a:pPr marL="285115" marR="632460" indent="-27305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compressibility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effects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neglected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at </a:t>
            </a:r>
            <a:r>
              <a:rPr sz="2400" dirty="0">
                <a:latin typeface="Times New Roman"/>
                <a:cs typeface="Times New Roman"/>
              </a:rPr>
              <a:t>speeds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100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m/s.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4138" y="396316"/>
            <a:ext cx="4819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Classification</a:t>
            </a:r>
            <a:r>
              <a:rPr sz="2800" spc="-10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Classification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9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13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459" y="796056"/>
            <a:ext cx="4469765" cy="53733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Laminar</a:t>
            </a:r>
            <a:r>
              <a:rPr sz="26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6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Turbulent</a:t>
            </a:r>
            <a:r>
              <a:rPr sz="2600" b="1" spc="-1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Flow</a:t>
            </a:r>
            <a:endParaRPr sz="26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1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dirty="0">
                <a:latin typeface="Times New Roman"/>
                <a:cs typeface="Times New Roman"/>
              </a:rPr>
              <a:t>Some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flows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smooth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orderly</a:t>
            </a:r>
            <a:endParaRPr sz="23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latin typeface="Times New Roman"/>
                <a:cs typeface="Times New Roman"/>
              </a:rPr>
              <a:t>while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others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rather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chaotic.</a:t>
            </a:r>
            <a:endParaRPr sz="2300">
              <a:latin typeface="Times New Roman"/>
              <a:cs typeface="Times New Roman"/>
            </a:endParaRPr>
          </a:p>
          <a:p>
            <a:pPr marL="285115" marR="23304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highly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ordered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fluid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motion </a:t>
            </a:r>
            <a:r>
              <a:rPr sz="2300" dirty="0">
                <a:latin typeface="Times New Roman"/>
                <a:cs typeface="Times New Roman"/>
              </a:rPr>
              <a:t>characterized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by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smooth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layers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of </a:t>
            </a:r>
            <a:r>
              <a:rPr sz="2300" dirty="0">
                <a:latin typeface="Times New Roman"/>
                <a:cs typeface="Times New Roman"/>
              </a:rPr>
              <a:t>fluid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called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laminar.</a:t>
            </a:r>
            <a:endParaRPr sz="2300">
              <a:latin typeface="Times New Roman"/>
              <a:cs typeface="Times New Roman"/>
            </a:endParaRPr>
          </a:p>
          <a:p>
            <a:pPr marL="285115" marR="34099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flow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high-</a:t>
            </a:r>
            <a:r>
              <a:rPr sz="2300" dirty="0">
                <a:latin typeface="Times New Roman"/>
                <a:cs typeface="Times New Roman"/>
              </a:rPr>
              <a:t>viscosity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fluids </a:t>
            </a:r>
            <a:r>
              <a:rPr sz="2300" dirty="0">
                <a:latin typeface="Times New Roman"/>
                <a:cs typeface="Times New Roman"/>
              </a:rPr>
              <a:t>such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oils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low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velocities </a:t>
            </a:r>
            <a:r>
              <a:rPr sz="2300" spc="-25" dirty="0">
                <a:latin typeface="Times New Roman"/>
                <a:cs typeface="Times New Roman"/>
              </a:rPr>
              <a:t>is </a:t>
            </a:r>
            <a:r>
              <a:rPr sz="2300" dirty="0">
                <a:latin typeface="Times New Roman"/>
                <a:cs typeface="Times New Roman"/>
              </a:rPr>
              <a:t>typically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laminar.</a:t>
            </a:r>
            <a:endParaRPr sz="2300">
              <a:latin typeface="Times New Roman"/>
              <a:cs typeface="Times New Roman"/>
            </a:endParaRPr>
          </a:p>
          <a:p>
            <a:pPr marL="285115" marR="8699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highly</a:t>
            </a:r>
            <a:r>
              <a:rPr sz="23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disordered</a:t>
            </a:r>
            <a:r>
              <a:rPr sz="23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fluid</a:t>
            </a:r>
            <a:r>
              <a:rPr sz="2300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motion </a:t>
            </a:r>
            <a:r>
              <a:rPr sz="2300" dirty="0">
                <a:latin typeface="Times New Roman"/>
                <a:cs typeface="Times New Roman"/>
              </a:rPr>
              <a:t>that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typically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occurs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high </a:t>
            </a:r>
            <a:r>
              <a:rPr sz="2300" dirty="0">
                <a:latin typeface="Times New Roman"/>
                <a:cs typeface="Times New Roman"/>
              </a:rPr>
              <a:t>velocities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characterized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by </a:t>
            </a:r>
            <a:r>
              <a:rPr sz="2300" dirty="0">
                <a:latin typeface="Times New Roman"/>
                <a:cs typeface="Times New Roman"/>
              </a:rPr>
              <a:t>velocity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fluctuations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called </a:t>
            </a:r>
            <a:r>
              <a:rPr sz="2300" b="1" dirty="0">
                <a:latin typeface="Times New Roman"/>
                <a:cs typeface="Times New Roman"/>
              </a:rPr>
              <a:t>turbulent</a:t>
            </a:r>
            <a:r>
              <a:rPr sz="2300" b="1" spc="-80" dirty="0">
                <a:latin typeface="Times New Roman"/>
                <a:cs typeface="Times New Roman"/>
              </a:rPr>
              <a:t> </a:t>
            </a:r>
            <a:r>
              <a:rPr sz="2300" b="1" spc="-50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0" y="1659635"/>
            <a:ext cx="3800855" cy="42565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137" y="396316"/>
            <a:ext cx="4819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Classification</a:t>
            </a:r>
            <a:r>
              <a:rPr sz="2800" spc="-10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8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69137" y="1108640"/>
            <a:ext cx="4471670" cy="285432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Laminar</a:t>
            </a:r>
            <a:r>
              <a:rPr sz="2600" b="1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6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65" dirty="0">
                <a:solidFill>
                  <a:srgbClr val="0000FF"/>
                </a:solidFill>
                <a:latin typeface="Times New Roman"/>
                <a:cs typeface="Times New Roman"/>
              </a:rPr>
              <a:t>Turbulent</a:t>
            </a:r>
            <a:r>
              <a:rPr sz="2600" b="1" spc="-2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Flow</a:t>
            </a:r>
            <a:endParaRPr sz="2600">
              <a:latin typeface="Times New Roman"/>
              <a:cs typeface="Times New Roman"/>
            </a:endParaRPr>
          </a:p>
          <a:p>
            <a:pPr marL="285115" marR="269875" indent="-27305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low-viscosity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fluids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velocities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typically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turbulent.</a:t>
            </a:r>
            <a:endParaRPr sz="2400">
              <a:latin typeface="Times New Roman"/>
              <a:cs typeface="Times New Roman"/>
            </a:endParaRPr>
          </a:p>
          <a:p>
            <a:pPr marL="285115" marR="466725" indent="-273050" algn="just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alternates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between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laminar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turbulent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transitional.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7111" y="1464563"/>
            <a:ext cx="3811524" cy="425805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60" y="1077789"/>
            <a:ext cx="7229475" cy="33731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Steady</a:t>
            </a:r>
            <a:r>
              <a:rPr sz="26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versus</a:t>
            </a:r>
            <a:r>
              <a:rPr sz="26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FF"/>
                </a:solidFill>
                <a:latin typeface="Times New Roman"/>
                <a:cs typeface="Times New Roman"/>
              </a:rPr>
              <a:t>Unsteady</a:t>
            </a:r>
            <a:r>
              <a:rPr sz="26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Flow</a:t>
            </a:r>
            <a:endParaRPr sz="26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1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terms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steady</a:t>
            </a:r>
            <a:r>
              <a:rPr sz="2400" i="1" spc="5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5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uniform</a:t>
            </a:r>
            <a:r>
              <a:rPr sz="2400" i="1" spc="509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are</a:t>
            </a:r>
            <a:r>
              <a:rPr sz="2400" i="1" spc="4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used</a:t>
            </a:r>
            <a:r>
              <a:rPr sz="2400" i="1" spc="5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frequently</a:t>
            </a:r>
            <a:r>
              <a:rPr sz="2400" i="1" spc="49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in </a:t>
            </a:r>
            <a:r>
              <a:rPr sz="2400" i="1" dirty="0">
                <a:latin typeface="Times New Roman"/>
                <a:cs typeface="Times New Roman"/>
              </a:rPr>
              <a:t>engineering,</a:t>
            </a:r>
            <a:r>
              <a:rPr sz="2400" i="1" spc="5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5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thus</a:t>
            </a:r>
            <a:r>
              <a:rPr sz="2400" i="1" spc="5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it</a:t>
            </a:r>
            <a:r>
              <a:rPr sz="2400" i="1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clear </a:t>
            </a:r>
            <a:r>
              <a:rPr sz="2400" dirty="0">
                <a:latin typeface="Times New Roman"/>
                <a:cs typeface="Times New Roman"/>
              </a:rPr>
              <a:t>understanding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meanings.</a:t>
            </a:r>
            <a:endParaRPr sz="2400">
              <a:latin typeface="Times New Roman"/>
              <a:cs typeface="Times New Roman"/>
            </a:endParaRPr>
          </a:p>
          <a:p>
            <a:pPr marL="285115" indent="-272415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steady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400" b="1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point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400" b="1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400" b="1" i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5115" indent="-272415" algn="just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opposite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steady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unsteady.</a:t>
            </a:r>
            <a:endParaRPr sz="2400">
              <a:latin typeface="Times New Roman"/>
              <a:cs typeface="Times New Roman"/>
            </a:endParaRPr>
          </a:p>
          <a:p>
            <a:pPr marL="285115" indent="-272415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uniform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400" b="1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2400" b="1" i="1" spc="4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location</a:t>
            </a:r>
            <a:endParaRPr sz="2400">
              <a:latin typeface="Times New Roman"/>
              <a:cs typeface="Times New Roman"/>
            </a:endParaRPr>
          </a:p>
          <a:p>
            <a:pPr marL="285115" algn="just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over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specified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region.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7788" y="499059"/>
            <a:ext cx="4819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Classification</a:t>
            </a:r>
            <a:r>
              <a:rPr sz="2800" spc="-10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of</a:t>
            </a:r>
            <a:r>
              <a:rPr sz="2800" spc="-10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Fluid</a:t>
            </a:r>
            <a:r>
              <a:rPr sz="2800" spc="-16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Flows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964" y="314020"/>
            <a:ext cx="38239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</a:rPr>
              <a:t>Properties</a:t>
            </a:r>
            <a:r>
              <a:rPr sz="3200" spc="-70" dirty="0">
                <a:solidFill>
                  <a:srgbClr val="0000FF"/>
                </a:solidFill>
              </a:rPr>
              <a:t> </a:t>
            </a:r>
            <a:r>
              <a:rPr sz="3200" dirty="0">
                <a:solidFill>
                  <a:srgbClr val="0000FF"/>
                </a:solidFill>
              </a:rPr>
              <a:t>of</a:t>
            </a:r>
            <a:r>
              <a:rPr sz="3200" spc="-155" dirty="0">
                <a:solidFill>
                  <a:srgbClr val="0000FF"/>
                </a:solidFill>
              </a:rPr>
              <a:t> </a:t>
            </a:r>
            <a:r>
              <a:rPr sz="3200" spc="-10" dirty="0">
                <a:solidFill>
                  <a:srgbClr val="0000FF"/>
                </a:solidFill>
              </a:rPr>
              <a:t>Fluids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89812" y="941933"/>
            <a:ext cx="7611109" cy="16573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dirty="0">
                <a:latin typeface="Times New Roman"/>
                <a:cs typeface="Times New Roman"/>
              </a:rPr>
              <a:t>Any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characteristic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system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called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 </a:t>
            </a:r>
            <a:r>
              <a:rPr sz="2300" b="1" spc="-10" dirty="0">
                <a:latin typeface="Times New Roman"/>
                <a:cs typeface="Times New Roman"/>
              </a:rPr>
              <a:t>property.</a:t>
            </a:r>
            <a:endParaRPr sz="23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  <a:tab pos="1147445" algn="l"/>
                <a:tab pos="2271395" algn="l"/>
                <a:tab pos="3638550" algn="l"/>
                <a:tab pos="4191635" algn="l"/>
                <a:tab pos="5368290" algn="l"/>
                <a:tab pos="5780405" algn="l"/>
                <a:tab pos="7372984" algn="l"/>
              </a:tabLst>
            </a:pPr>
            <a:r>
              <a:rPr sz="2300" spc="-20" dirty="0">
                <a:latin typeface="Times New Roman"/>
                <a:cs typeface="Times New Roman"/>
              </a:rPr>
              <a:t>Some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familiar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properties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are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pressure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3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P,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temperature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300" spc="-380" dirty="0">
                <a:solidFill>
                  <a:srgbClr val="FF0000"/>
                </a:solidFill>
                <a:latin typeface="Times New Roman"/>
                <a:cs typeface="Times New Roman"/>
              </a:rPr>
              <a:t>T,</a:t>
            </a:r>
            <a:endParaRPr sz="23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volume</a:t>
            </a:r>
            <a:r>
              <a:rPr sz="23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35" dirty="0">
                <a:solidFill>
                  <a:srgbClr val="FF0000"/>
                </a:solidFill>
                <a:latin typeface="Times New Roman"/>
                <a:cs typeface="Times New Roman"/>
              </a:rPr>
              <a:t>V,</a:t>
            </a:r>
            <a:r>
              <a:rPr sz="2300" spc="-3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3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mass</a:t>
            </a:r>
            <a:r>
              <a:rPr sz="2300" spc="-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m.</a:t>
            </a:r>
            <a:endParaRPr sz="23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  <a:tab pos="1162685" algn="l"/>
                <a:tab pos="1814195" algn="l"/>
                <a:tab pos="2949575" algn="l"/>
                <a:tab pos="4329430" algn="l"/>
                <a:tab pos="5402580" algn="l"/>
                <a:tab pos="6710680" algn="l"/>
              </a:tabLst>
            </a:pPr>
            <a:r>
              <a:rPr sz="2300" spc="-10" dirty="0">
                <a:latin typeface="Times New Roman"/>
                <a:cs typeface="Times New Roman"/>
              </a:rPr>
              <a:t>Other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0" dirty="0">
                <a:latin typeface="Times New Roman"/>
                <a:cs typeface="Times New Roman"/>
              </a:rPr>
              <a:t>less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familiar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properties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include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viscosity,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thermal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2608" y="2572893"/>
            <a:ext cx="469709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00225" algn="l"/>
                <a:tab pos="3079115" algn="l"/>
                <a:tab pos="3597275" algn="l"/>
              </a:tabLst>
            </a:pP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conductivity,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modulus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2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35" dirty="0">
                <a:solidFill>
                  <a:srgbClr val="0000FF"/>
                </a:solidFill>
                <a:latin typeface="Times New Roman"/>
                <a:cs typeface="Times New Roman"/>
              </a:rPr>
              <a:t>elasticity,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9273" y="2572893"/>
            <a:ext cx="91186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thermal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93991" y="2572893"/>
            <a:ext cx="121221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expansion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9812" y="2923794"/>
            <a:ext cx="7628255" cy="305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5"/>
              </a:spcBef>
              <a:tabLst>
                <a:tab pos="1867535" algn="l"/>
                <a:tab pos="2996565" algn="l"/>
                <a:tab pos="4460240" algn="l"/>
                <a:tab pos="5154930" algn="l"/>
                <a:tab pos="5979795" algn="l"/>
                <a:tab pos="7190105" algn="l"/>
              </a:tabLst>
            </a:pP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coefficient,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electric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resistivity,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and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0" dirty="0">
                <a:latin typeface="Times New Roman"/>
                <a:cs typeface="Times New Roman"/>
              </a:rPr>
              <a:t>even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velocity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and</a:t>
            </a:r>
            <a:endParaRPr sz="23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2300" spc="-10" dirty="0">
                <a:solidFill>
                  <a:srgbClr val="0000FF"/>
                </a:solidFill>
                <a:latin typeface="Times New Roman"/>
                <a:cs typeface="Times New Roman"/>
              </a:rPr>
              <a:t>elevation.</a:t>
            </a:r>
            <a:endParaRPr sz="23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dirty="0">
                <a:latin typeface="Times New Roman"/>
                <a:cs typeface="Times New Roman"/>
              </a:rPr>
              <a:t>Properties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considered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either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b="1" i="1" dirty="0">
                <a:latin typeface="Times New Roman"/>
                <a:cs typeface="Times New Roman"/>
              </a:rPr>
              <a:t>intensive</a:t>
            </a:r>
            <a:r>
              <a:rPr sz="2300" b="1" i="1" spc="-15" dirty="0">
                <a:latin typeface="Times New Roman"/>
                <a:cs typeface="Times New Roman"/>
              </a:rPr>
              <a:t> </a:t>
            </a:r>
            <a:r>
              <a:rPr sz="2300" b="1" i="1" dirty="0">
                <a:latin typeface="Times New Roman"/>
                <a:cs typeface="Times New Roman"/>
              </a:rPr>
              <a:t>or</a:t>
            </a:r>
            <a:r>
              <a:rPr sz="2300" b="1" i="1" spc="-50" dirty="0">
                <a:latin typeface="Times New Roman"/>
                <a:cs typeface="Times New Roman"/>
              </a:rPr>
              <a:t> </a:t>
            </a:r>
            <a:r>
              <a:rPr sz="2300" b="1" i="1" spc="-10" dirty="0">
                <a:latin typeface="Times New Roman"/>
                <a:cs typeface="Times New Roman"/>
              </a:rPr>
              <a:t>extensive</a:t>
            </a:r>
            <a:r>
              <a:rPr sz="2300" i="1" spc="-10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  <a:p>
            <a:pPr marL="285115" marR="3111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b="1" i="1" dirty="0">
                <a:latin typeface="Times New Roman"/>
                <a:cs typeface="Times New Roman"/>
              </a:rPr>
              <a:t>Intensive</a:t>
            </a:r>
            <a:r>
              <a:rPr sz="2300" b="1" i="1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properties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those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independent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Times New Roman"/>
                <a:cs typeface="Times New Roman"/>
              </a:rPr>
              <a:t>mass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3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300" dirty="0">
                <a:latin typeface="Times New Roman"/>
                <a:cs typeface="Times New Roman"/>
              </a:rPr>
              <a:t>,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such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temperature,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pressure,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density.</a:t>
            </a:r>
            <a:endParaRPr sz="23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4782"/>
              <a:buFont typeface="Segoe UI Symbol"/>
              <a:buChar char="⚫"/>
              <a:tabLst>
                <a:tab pos="285115" algn="l"/>
              </a:tabLst>
            </a:pPr>
            <a:r>
              <a:rPr sz="2300" b="1" dirty="0">
                <a:latin typeface="Times New Roman"/>
                <a:cs typeface="Times New Roman"/>
              </a:rPr>
              <a:t>Extensive</a:t>
            </a:r>
            <a:r>
              <a:rPr sz="2300" b="1" spc="3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properties</a:t>
            </a:r>
            <a:r>
              <a:rPr sz="2300" spc="3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3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those</a:t>
            </a:r>
            <a:r>
              <a:rPr sz="2300" spc="3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whose</a:t>
            </a:r>
            <a:r>
              <a:rPr sz="2300" spc="3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values</a:t>
            </a:r>
            <a:r>
              <a:rPr sz="2300" spc="385" dirty="0"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depend</a:t>
            </a:r>
            <a:r>
              <a:rPr sz="2300" spc="3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300" spc="3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size—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300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Times New Roman"/>
                <a:cs typeface="Times New Roman"/>
              </a:rPr>
              <a:t>extent—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3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3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system.</a:t>
            </a:r>
            <a:r>
              <a:rPr sz="23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spc="-75" dirty="0">
                <a:latin typeface="Times New Roman"/>
                <a:cs typeface="Times New Roman"/>
              </a:rPr>
              <a:t>Total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mass,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total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volume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i="1" spc="-670" dirty="0">
                <a:latin typeface="Times New Roman"/>
                <a:cs typeface="Times New Roman"/>
              </a:rPr>
              <a:t>V</a:t>
            </a:r>
            <a:r>
              <a:rPr sz="2300" i="1" spc="-50" dirty="0">
                <a:latin typeface="Times New Roman"/>
                <a:cs typeface="Times New Roman"/>
              </a:rPr>
              <a:t>,</a:t>
            </a:r>
            <a:r>
              <a:rPr sz="2300" i="1" spc="22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and </a:t>
            </a:r>
            <a:r>
              <a:rPr sz="2300" dirty="0">
                <a:latin typeface="Times New Roman"/>
                <a:cs typeface="Times New Roman"/>
              </a:rPr>
              <a:t>total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momentum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some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examples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extensive</a:t>
            </a:r>
            <a:r>
              <a:rPr sz="2300" spc="5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properties.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2159" y="499059"/>
            <a:ext cx="3355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Properties</a:t>
            </a:r>
            <a:r>
              <a:rPr sz="2800" spc="-6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</a:t>
            </a:r>
            <a:r>
              <a:rPr sz="2800" spc="-145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Fluids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72159" y="1153795"/>
            <a:ext cx="3945254" cy="412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47625" indent="-274320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determine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property</a:t>
            </a:r>
            <a:r>
              <a:rPr sz="2400" spc="-25" dirty="0">
                <a:latin typeface="Times New Roman"/>
                <a:cs typeface="Times New Roman"/>
              </a:rPr>
              <a:t> is </a:t>
            </a:r>
            <a:r>
              <a:rPr sz="2400" dirty="0">
                <a:latin typeface="Times New Roman"/>
                <a:cs typeface="Times New Roman"/>
              </a:rPr>
              <a:t>intensive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extensive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divide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equal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imaginary partition.</a:t>
            </a:r>
            <a:endParaRPr sz="24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same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intensive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properties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but </a:t>
            </a:r>
            <a:r>
              <a:rPr sz="2400" dirty="0">
                <a:latin typeface="Times New Roman"/>
                <a:cs typeface="Times New Roman"/>
              </a:rPr>
              <a:t>half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extensive properties.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7047" y="1129283"/>
            <a:ext cx="2804159" cy="447294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812" y="396316"/>
            <a:ext cx="33547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Properties</a:t>
            </a:r>
            <a:r>
              <a:rPr sz="2800" spc="-120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</a:t>
            </a:r>
            <a:r>
              <a:rPr sz="2800" spc="-95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Fluids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65504" y="966778"/>
            <a:ext cx="7494905" cy="40665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815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Density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8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Mass</a:t>
            </a:r>
            <a:r>
              <a:rPr sz="28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Density</a:t>
            </a:r>
            <a:endParaRPr sz="2800">
              <a:latin typeface="Times New Roman"/>
              <a:cs typeface="Times New Roman"/>
            </a:endParaRPr>
          </a:p>
          <a:p>
            <a:pPr marL="297815" marR="34925" indent="-273050">
              <a:lnSpc>
                <a:spcPct val="100000"/>
              </a:lnSpc>
              <a:spcBef>
                <a:spcPts val="61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  <a:tab pos="1207770" algn="l"/>
                <a:tab pos="1358900" algn="l"/>
                <a:tab pos="4504690" algn="l"/>
              </a:tabLst>
            </a:pP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mass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ratio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f1uid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volume.</a:t>
            </a:r>
            <a:r>
              <a:rPr sz="2400" dirty="0">
                <a:latin typeface="Times New Roman"/>
                <a:cs typeface="Times New Roman"/>
              </a:rPr>
              <a:t>	Thus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unit </a:t>
            </a:r>
            <a:r>
              <a:rPr sz="2400" dirty="0">
                <a:latin typeface="Times New Roman"/>
                <a:cs typeface="Times New Roman"/>
              </a:rPr>
              <a:t>volume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density.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symbol </a:t>
            </a:r>
            <a:r>
              <a:rPr sz="2400" dirty="0">
                <a:latin typeface="Times New Roman"/>
                <a:cs typeface="Times New Roman"/>
              </a:rPr>
              <a:t>ρ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(rho).</a:t>
            </a:r>
            <a:r>
              <a:rPr sz="2400" dirty="0">
                <a:latin typeface="Times New Roman"/>
                <a:cs typeface="Times New Roman"/>
              </a:rPr>
              <a:t>		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20" dirty="0">
                <a:latin typeface="Times New Roman"/>
                <a:cs typeface="Times New Roman"/>
              </a:rPr>
              <a:t> cubic </a:t>
            </a:r>
            <a:r>
              <a:rPr sz="2400" spc="-10" dirty="0">
                <a:latin typeface="Times New Roman"/>
                <a:cs typeface="Times New Roman"/>
              </a:rPr>
              <a:t>meter,</a:t>
            </a:r>
            <a:r>
              <a:rPr sz="2400" dirty="0">
                <a:latin typeface="Times New Roman"/>
                <a:cs typeface="Times New Roman"/>
              </a:rPr>
              <a:t>	i.e .,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kg/m</a:t>
            </a:r>
            <a:r>
              <a:rPr sz="2400" spc="-15" baseline="2083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97815" marR="17780" indent="-27305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liquids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constant</a:t>
            </a:r>
            <a:r>
              <a:rPr sz="2400" spc="-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while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temperature.</a:t>
            </a:r>
            <a:endParaRPr sz="2400">
              <a:latin typeface="Times New Roman"/>
              <a:cs typeface="Times New Roman"/>
            </a:endParaRPr>
          </a:p>
          <a:p>
            <a:pPr marL="297815" indent="-27241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Mathematically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written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4024" y="5971133"/>
            <a:ext cx="72840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 indent="-272415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3105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water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gm/cm</a:t>
            </a:r>
            <a:r>
              <a:rPr sz="2400" baseline="20833" dirty="0">
                <a:latin typeface="Times New Roman"/>
                <a:cs typeface="Times New Roman"/>
              </a:rPr>
              <a:t>3</a:t>
            </a:r>
            <a:r>
              <a:rPr sz="2400" spc="7" baseline="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1000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kg/m</a:t>
            </a:r>
            <a:r>
              <a:rPr sz="2400" spc="-15" baseline="2083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63417" y="5470397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10">
                <a:moveTo>
                  <a:pt x="0" y="0"/>
                </a:moveTo>
                <a:lnTo>
                  <a:pt x="2111756" y="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72561" y="5456021"/>
            <a:ext cx="20389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65" dirty="0">
                <a:latin typeface="Times New Roman"/>
                <a:cs typeface="Times New Roman"/>
              </a:rPr>
              <a:t>Volume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fluid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149600" y="5010658"/>
            <a:ext cx="17310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Times New Roman"/>
                <a:cs typeface="Times New Roman"/>
              </a:rPr>
              <a:t>Mass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of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fluid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2839" y="5171766"/>
            <a:ext cx="47244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Symbol"/>
                <a:cs typeface="Symbol"/>
              </a:rPr>
              <a:t>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814" y="1025960"/>
            <a:ext cx="7223125" cy="33343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Density</a:t>
            </a:r>
            <a:r>
              <a:rPr sz="2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Mass</a:t>
            </a:r>
            <a:r>
              <a:rPr sz="28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Density</a:t>
            </a:r>
            <a:endParaRPr sz="2800">
              <a:latin typeface="Times New Roman"/>
              <a:cs typeface="Times New Roman"/>
            </a:endParaRPr>
          </a:p>
          <a:p>
            <a:pPr marL="285115" marR="826135" indent="-273050">
              <a:lnSpc>
                <a:spcPct val="100000"/>
              </a:lnSpc>
              <a:spcBef>
                <a:spcPts val="61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substance,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temperature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pressure.</a:t>
            </a:r>
            <a:endParaRPr sz="24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most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gases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proportional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inversely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proportional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temperature.</a:t>
            </a:r>
            <a:endParaRPr sz="2400">
              <a:latin typeface="Times New Roman"/>
              <a:cs typeface="Times New Roman"/>
            </a:endParaRPr>
          </a:p>
          <a:p>
            <a:pPr marL="285115" marR="520065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Liquids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solids, 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10" dirty="0">
                <a:latin typeface="Times New Roman"/>
                <a:cs typeface="Times New Roman"/>
              </a:rPr>
              <a:t>essentially </a:t>
            </a:r>
            <a:r>
              <a:rPr sz="2400" dirty="0">
                <a:latin typeface="Times New Roman"/>
                <a:cs typeface="Times New Roman"/>
              </a:rPr>
              <a:t>incompressible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substances,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variation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their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pressure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usually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negligible.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4313" y="411225"/>
            <a:ext cx="3354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Properties</a:t>
            </a:r>
            <a:r>
              <a:rPr sz="2800" spc="-13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</a:t>
            </a:r>
            <a:r>
              <a:rPr sz="2800" spc="-105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Fluids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139" y="321640"/>
            <a:ext cx="3354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Properties</a:t>
            </a:r>
            <a:r>
              <a:rPr sz="2800" spc="-120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</a:t>
            </a:r>
            <a:r>
              <a:rPr sz="2800" spc="-95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Fluids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405127" y="4043171"/>
            <a:ext cx="7380605" cy="749935"/>
          </a:xfrm>
          <a:custGeom>
            <a:avLst/>
            <a:gdLst/>
            <a:ahLst/>
            <a:cxnLst/>
            <a:rect l="l" t="t" r="r" b="b"/>
            <a:pathLst>
              <a:path w="7380605" h="749935">
                <a:moveTo>
                  <a:pt x="256032" y="0"/>
                </a:moveTo>
                <a:lnTo>
                  <a:pt x="2090420" y="0"/>
                </a:lnTo>
              </a:path>
              <a:path w="7380605" h="749935">
                <a:moveTo>
                  <a:pt x="2394204" y="0"/>
                </a:moveTo>
                <a:lnTo>
                  <a:pt x="7380224" y="0"/>
                </a:lnTo>
              </a:path>
              <a:path w="7380605" h="749935">
                <a:moveTo>
                  <a:pt x="0" y="749807"/>
                </a:moveTo>
                <a:lnTo>
                  <a:pt x="1936496" y="749807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0439" y="862919"/>
            <a:ext cx="7766684" cy="310451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2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8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weight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8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Weight</a:t>
            </a:r>
            <a:r>
              <a:rPr sz="28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Density</a:t>
            </a:r>
            <a:endParaRPr sz="2800">
              <a:latin typeface="Times New Roman"/>
              <a:cs typeface="Times New Roman"/>
            </a:endParaRPr>
          </a:p>
          <a:p>
            <a:pPr marL="297815" marR="832485" indent="-273050">
              <a:lnSpc>
                <a:spcPct val="100000"/>
              </a:lnSpc>
              <a:spcBef>
                <a:spcPts val="61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 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 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ratio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its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volume.</a:t>
            </a:r>
            <a:endParaRPr sz="2400">
              <a:latin typeface="Times New Roman"/>
              <a:cs typeface="Times New Roman"/>
            </a:endParaRPr>
          </a:p>
          <a:p>
            <a:pPr marL="297815" marR="78549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called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symbol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85" dirty="0">
                <a:latin typeface="Times New Roman"/>
                <a:cs typeface="Times New Roman"/>
              </a:rPr>
              <a:t>w.</a:t>
            </a:r>
            <a:endParaRPr sz="2400">
              <a:latin typeface="Times New Roman"/>
              <a:cs typeface="Times New Roman"/>
            </a:endParaRPr>
          </a:p>
          <a:p>
            <a:pPr marL="297815" indent="-272415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</a:tabLst>
            </a:pPr>
            <a:r>
              <a:rPr sz="2400" spc="-10" dirty="0">
                <a:latin typeface="Times New Roman"/>
                <a:cs typeface="Times New Roman"/>
              </a:rPr>
              <a:t>Mathematically,</a:t>
            </a:r>
            <a:endParaRPr sz="24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1300"/>
              </a:spcBef>
            </a:pPr>
            <a:r>
              <a:rPr sz="3300" i="1" baseline="-29040" dirty="0">
                <a:latin typeface="Times New Roman"/>
                <a:cs typeface="Times New Roman"/>
              </a:rPr>
              <a:t>w</a:t>
            </a:r>
            <a:r>
              <a:rPr sz="3300" i="1" spc="-15" baseline="-29040" dirty="0">
                <a:latin typeface="Times New Roman"/>
                <a:cs typeface="Times New Roman"/>
              </a:rPr>
              <a:t> </a:t>
            </a:r>
            <a:r>
              <a:rPr sz="3300" baseline="-29040" dirty="0">
                <a:latin typeface="Symbol"/>
                <a:cs typeface="Symbol"/>
              </a:rPr>
              <a:t></a:t>
            </a:r>
            <a:r>
              <a:rPr sz="3300" spc="7" baseline="-290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Weight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fluid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3300" baseline="-29040" dirty="0">
                <a:latin typeface="Symbol"/>
                <a:cs typeface="Symbol"/>
              </a:rPr>
              <a:t></a:t>
            </a:r>
            <a:r>
              <a:rPr sz="3300" spc="-15" baseline="-290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(Mass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fluid)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Acceleration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due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gravity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95595" y="3998417"/>
            <a:ext cx="17716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70" dirty="0">
                <a:latin typeface="Times New Roman"/>
                <a:cs typeface="Times New Roman"/>
              </a:rPr>
              <a:t>Volume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fluid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2652" y="3937985"/>
            <a:ext cx="2327275" cy="204914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28320">
              <a:lnSpc>
                <a:spcPct val="100000"/>
              </a:lnSpc>
              <a:spcBef>
                <a:spcPts val="575"/>
              </a:spcBef>
            </a:pPr>
            <a:r>
              <a:rPr sz="2200" spc="-75" dirty="0">
                <a:latin typeface="Times New Roman"/>
                <a:cs typeface="Times New Roman"/>
              </a:rPr>
              <a:t>Volume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fluid</a:t>
            </a:r>
            <a:endParaRPr sz="2200">
              <a:latin typeface="Times New Roman"/>
              <a:cs typeface="Times New Roman"/>
            </a:endParaRPr>
          </a:p>
          <a:p>
            <a:pPr marL="323850" marR="155575" indent="-299085">
              <a:lnSpc>
                <a:spcPct val="114999"/>
              </a:lnSpc>
              <a:spcBef>
                <a:spcPts val="75"/>
              </a:spcBef>
            </a:pPr>
            <a:r>
              <a:rPr sz="3300" baseline="-27777" dirty="0">
                <a:latin typeface="Symbol"/>
                <a:cs typeface="Symbol"/>
              </a:rPr>
              <a:t></a:t>
            </a:r>
            <a:r>
              <a:rPr sz="3300" spc="30" baseline="-2777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Mass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fluid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x</a:t>
            </a:r>
            <a:r>
              <a:rPr sz="2200" spc="-17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g </a:t>
            </a:r>
            <a:r>
              <a:rPr sz="2200" spc="-70" dirty="0">
                <a:latin typeface="Times New Roman"/>
                <a:cs typeface="Times New Roman"/>
              </a:rPr>
              <a:t>Volume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fluid</a:t>
            </a:r>
            <a:endParaRPr sz="2200">
              <a:latin typeface="Times New Roman"/>
              <a:cs typeface="Times New Roman"/>
            </a:endParaRPr>
          </a:p>
          <a:p>
            <a:pPr marL="323850">
              <a:lnSpc>
                <a:spcPct val="100000"/>
              </a:lnSpc>
              <a:spcBef>
                <a:spcPts val="495"/>
              </a:spcBef>
            </a:pPr>
            <a:r>
              <a:rPr sz="2200" dirty="0">
                <a:latin typeface="Symbol"/>
                <a:cs typeface="Symbol"/>
              </a:rPr>
              <a:t>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Symbol"/>
                <a:cs typeface="Symbol"/>
              </a:rPr>
              <a:t>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g</a:t>
            </a:r>
            <a:endParaRPr sz="2200">
              <a:latin typeface="Times New Roman"/>
              <a:cs typeface="Times New Roman"/>
            </a:endParaRPr>
          </a:p>
          <a:p>
            <a:pPr marL="327025">
              <a:lnSpc>
                <a:spcPct val="100000"/>
              </a:lnSpc>
              <a:spcBef>
                <a:spcPts val="405"/>
              </a:spcBef>
            </a:pPr>
            <a:r>
              <a:rPr sz="2200" i="1" dirty="0">
                <a:latin typeface="Times New Roman"/>
                <a:cs typeface="Times New Roman"/>
              </a:rPr>
              <a:t>w </a:t>
            </a:r>
            <a:r>
              <a:rPr sz="2200" dirty="0">
                <a:latin typeface="Symbol"/>
                <a:cs typeface="Symbol"/>
              </a:rPr>
              <a:t>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Symbol"/>
                <a:cs typeface="Symbol"/>
              </a:rPr>
              <a:t></a:t>
            </a:r>
            <a:r>
              <a:rPr sz="2200" i="1" spc="-35" dirty="0">
                <a:latin typeface="Times New Roman"/>
                <a:cs typeface="Times New Roman"/>
              </a:rPr>
              <a:t>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30808" y="3660647"/>
            <a:ext cx="7710170" cy="2391410"/>
          </a:xfrm>
          <a:custGeom>
            <a:avLst/>
            <a:gdLst/>
            <a:ahLst/>
            <a:cxnLst/>
            <a:rect l="l" t="t" r="r" b="b"/>
            <a:pathLst>
              <a:path w="7710170" h="2391410">
                <a:moveTo>
                  <a:pt x="0" y="2390902"/>
                </a:moveTo>
                <a:lnTo>
                  <a:pt x="7709661" y="2390902"/>
                </a:lnTo>
                <a:lnTo>
                  <a:pt x="7709661" y="0"/>
                </a:lnTo>
                <a:lnTo>
                  <a:pt x="0" y="0"/>
                </a:lnTo>
                <a:lnTo>
                  <a:pt x="0" y="2390902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48182"/>
            <a:ext cx="38233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</a:rPr>
              <a:t>Properties</a:t>
            </a:r>
            <a:r>
              <a:rPr sz="3200" spc="-60" dirty="0">
                <a:solidFill>
                  <a:srgbClr val="0000FF"/>
                </a:solidFill>
              </a:rPr>
              <a:t> </a:t>
            </a:r>
            <a:r>
              <a:rPr sz="3200" dirty="0">
                <a:solidFill>
                  <a:srgbClr val="0000FF"/>
                </a:solidFill>
              </a:rPr>
              <a:t>of</a:t>
            </a:r>
            <a:r>
              <a:rPr sz="3200" spc="-170" dirty="0">
                <a:solidFill>
                  <a:srgbClr val="0000FF"/>
                </a:solidFill>
              </a:rPr>
              <a:t> </a:t>
            </a:r>
            <a:r>
              <a:rPr sz="3200" spc="-10" dirty="0">
                <a:solidFill>
                  <a:srgbClr val="0000FF"/>
                </a:solidFill>
              </a:rPr>
              <a:t>Fluids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07160" y="1084507"/>
            <a:ext cx="7412990" cy="216090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800" b="1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Volume</a:t>
            </a:r>
            <a:endParaRPr sz="28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1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occupied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volume.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30" dirty="0">
                <a:latin typeface="Times New Roman"/>
                <a:cs typeface="Times New Roman"/>
              </a:rPr>
              <a:t>Mathematically,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expressed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370" y="4624832"/>
            <a:ext cx="7512050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 marR="30480" indent="-273050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310515" algn="l"/>
              </a:tabLst>
            </a:pP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volume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reciprocal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density.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expressed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15" baseline="2083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/kg.</a:t>
            </a:r>
            <a:endParaRPr sz="2400">
              <a:latin typeface="Times New Roman"/>
              <a:cs typeface="Times New Roman"/>
            </a:endParaRPr>
          </a:p>
          <a:p>
            <a:pPr marL="310515" indent="-27241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31051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gases.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43583" y="3337559"/>
            <a:ext cx="7577455" cy="1266190"/>
            <a:chOff x="1243583" y="3337559"/>
            <a:chExt cx="7577455" cy="1266190"/>
          </a:xfrm>
        </p:grpSpPr>
        <p:sp>
          <p:nvSpPr>
            <p:cNvPr id="7" name="object 7"/>
            <p:cNvSpPr/>
            <p:nvPr/>
          </p:nvSpPr>
          <p:spPr>
            <a:xfrm>
              <a:off x="1243583" y="3337559"/>
              <a:ext cx="7577455" cy="1266190"/>
            </a:xfrm>
            <a:custGeom>
              <a:avLst/>
              <a:gdLst/>
              <a:ahLst/>
              <a:cxnLst/>
              <a:rect l="l" t="t" r="r" b="b"/>
              <a:pathLst>
                <a:path w="7577455" h="1266189">
                  <a:moveTo>
                    <a:pt x="7577201" y="0"/>
                  </a:moveTo>
                  <a:lnTo>
                    <a:pt x="0" y="0"/>
                  </a:lnTo>
                  <a:lnTo>
                    <a:pt x="0" y="1266063"/>
                  </a:lnTo>
                  <a:lnTo>
                    <a:pt x="7577201" y="1266063"/>
                  </a:lnTo>
                  <a:lnTo>
                    <a:pt x="7577201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89548" y="4190999"/>
              <a:ext cx="1812289" cy="0"/>
            </a:xfrm>
            <a:custGeom>
              <a:avLst/>
              <a:gdLst/>
              <a:ahLst/>
              <a:cxnLst/>
              <a:rect l="l" t="t" r="r" b="b"/>
              <a:pathLst>
                <a:path w="1812290">
                  <a:moveTo>
                    <a:pt x="0" y="0"/>
                  </a:moveTo>
                  <a:lnTo>
                    <a:pt x="1811781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62877" y="3781805"/>
              <a:ext cx="2482850" cy="0"/>
            </a:xfrm>
            <a:custGeom>
              <a:avLst/>
              <a:gdLst/>
              <a:ahLst/>
              <a:cxnLst/>
              <a:rect l="l" t="t" r="r" b="b"/>
              <a:pathLst>
                <a:path w="2482850">
                  <a:moveTo>
                    <a:pt x="0" y="0"/>
                  </a:moveTo>
                  <a:lnTo>
                    <a:pt x="1866265" y="0"/>
                  </a:lnTo>
                </a:path>
                <a:path w="2482850">
                  <a:moveTo>
                    <a:pt x="2225040" y="0"/>
                  </a:moveTo>
                  <a:lnTo>
                    <a:pt x="2482596" y="0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515857" y="3737912"/>
            <a:ext cx="20447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50" dirty="0">
                <a:latin typeface="Symbol"/>
                <a:cs typeface="Symbol"/>
              </a:rPr>
              <a:t>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9426" y="3302000"/>
            <a:ext cx="1770380" cy="1291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2860" algn="ctr">
              <a:lnSpc>
                <a:spcPct val="100000"/>
              </a:lnSpc>
              <a:spcBef>
                <a:spcPts val="105"/>
              </a:spcBef>
            </a:pPr>
            <a:r>
              <a:rPr sz="2600" spc="-50" dirty="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Mass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fluid</a:t>
            </a:r>
            <a:endParaRPr sz="2600">
              <a:latin typeface="Times New Roman"/>
              <a:cs typeface="Times New Roman"/>
            </a:endParaRPr>
          </a:p>
          <a:p>
            <a:pPr marR="13970" algn="ctr">
              <a:lnSpc>
                <a:spcPct val="100000"/>
              </a:lnSpc>
              <a:spcBef>
                <a:spcPts val="495"/>
              </a:spcBef>
            </a:pPr>
            <a:r>
              <a:rPr sz="2600" spc="-10" dirty="0">
                <a:latin typeface="Times New Roman"/>
                <a:cs typeface="Times New Roman"/>
              </a:rPr>
              <a:t>Volume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42334" y="3767404"/>
            <a:ext cx="17697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Mass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fluid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94802" y="3303523"/>
            <a:ext cx="54356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339090" algn="l"/>
              </a:tabLst>
            </a:pPr>
            <a:r>
              <a:rPr sz="3900" spc="-75" baseline="-28846" dirty="0">
                <a:latin typeface="Symbol"/>
                <a:cs typeface="Symbol"/>
              </a:rPr>
              <a:t></a:t>
            </a:r>
            <a:r>
              <a:rPr sz="3900" baseline="-28846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3489" y="3511422"/>
            <a:ext cx="48939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volume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-390" dirty="0">
                <a:latin typeface="Times New Roman"/>
                <a:cs typeface="Times New Roman"/>
              </a:rPr>
              <a:t> </a:t>
            </a:r>
            <a:r>
              <a:rPr sz="3900" u="sng" spc="-300" baseline="2884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900" u="sng" spc="-89" baseline="2884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Volume</a:t>
            </a:r>
            <a:r>
              <a:rPr sz="3900" u="sng" spc="-82" baseline="2884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900" u="sng" spc="75" baseline="2884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offluid</a:t>
            </a:r>
            <a:r>
              <a:rPr sz="3900" u="sng" spc="-187" baseline="2884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Symbol"/>
                <a:cs typeface="Symbol"/>
              </a:rPr>
              <a:t>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39011" y="3332988"/>
            <a:ext cx="7586345" cy="1275715"/>
          </a:xfrm>
          <a:custGeom>
            <a:avLst/>
            <a:gdLst/>
            <a:ahLst/>
            <a:cxnLst/>
            <a:rect l="l" t="t" r="r" b="b"/>
            <a:pathLst>
              <a:path w="7586345" h="1275714">
                <a:moveTo>
                  <a:pt x="0" y="1275461"/>
                </a:moveTo>
                <a:lnTo>
                  <a:pt x="7585964" y="1275461"/>
                </a:lnTo>
                <a:lnTo>
                  <a:pt x="7585964" y="0"/>
                </a:lnTo>
                <a:lnTo>
                  <a:pt x="0" y="0"/>
                </a:lnTo>
                <a:lnTo>
                  <a:pt x="0" y="127546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255219"/>
            <a:ext cx="38239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</a:rPr>
              <a:t>Properties</a:t>
            </a:r>
            <a:r>
              <a:rPr sz="3200" spc="-70" dirty="0">
                <a:solidFill>
                  <a:srgbClr val="0000FF"/>
                </a:solidFill>
              </a:rPr>
              <a:t> </a:t>
            </a:r>
            <a:r>
              <a:rPr sz="3200" dirty="0">
                <a:solidFill>
                  <a:srgbClr val="0000FF"/>
                </a:solidFill>
              </a:rPr>
              <a:t>of</a:t>
            </a:r>
            <a:r>
              <a:rPr sz="3200" spc="-155" dirty="0">
                <a:solidFill>
                  <a:srgbClr val="0000FF"/>
                </a:solidFill>
              </a:rPr>
              <a:t> </a:t>
            </a:r>
            <a:r>
              <a:rPr sz="3200" spc="-10" dirty="0">
                <a:solidFill>
                  <a:srgbClr val="0000FF"/>
                </a:solidFill>
              </a:rPr>
              <a:t>Fluids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1315" y="6310071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32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75232" y="3489959"/>
            <a:ext cx="6481445" cy="3087370"/>
            <a:chOff x="1475232" y="3489959"/>
            <a:chExt cx="6481445" cy="3087370"/>
          </a:xfrm>
        </p:grpSpPr>
        <p:sp>
          <p:nvSpPr>
            <p:cNvPr id="6" name="object 6"/>
            <p:cNvSpPr/>
            <p:nvPr/>
          </p:nvSpPr>
          <p:spPr>
            <a:xfrm>
              <a:off x="1475232" y="3489959"/>
              <a:ext cx="6481445" cy="3087370"/>
            </a:xfrm>
            <a:custGeom>
              <a:avLst/>
              <a:gdLst/>
              <a:ahLst/>
              <a:cxnLst/>
              <a:rect l="l" t="t" r="r" b="b"/>
              <a:pathLst>
                <a:path w="6481445" h="3087370">
                  <a:moveTo>
                    <a:pt x="6481064" y="0"/>
                  </a:moveTo>
                  <a:lnTo>
                    <a:pt x="0" y="0"/>
                  </a:lnTo>
                  <a:lnTo>
                    <a:pt x="0" y="3087242"/>
                  </a:lnTo>
                  <a:lnTo>
                    <a:pt x="6481064" y="3087242"/>
                  </a:lnTo>
                  <a:lnTo>
                    <a:pt x="6481064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6570" y="3832097"/>
              <a:ext cx="3671570" cy="749935"/>
            </a:xfrm>
            <a:custGeom>
              <a:avLst/>
              <a:gdLst/>
              <a:ahLst/>
              <a:cxnLst/>
              <a:rect l="l" t="t" r="r" b="b"/>
              <a:pathLst>
                <a:path w="3671570" h="749935">
                  <a:moveTo>
                    <a:pt x="140207" y="0"/>
                  </a:moveTo>
                  <a:lnTo>
                    <a:pt x="3671315" y="0"/>
                  </a:lnTo>
                </a:path>
                <a:path w="3671570" h="749935">
                  <a:moveTo>
                    <a:pt x="0" y="749807"/>
                  </a:moveTo>
                  <a:lnTo>
                    <a:pt x="3264154" y="749807"/>
                  </a:lnTo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71549" y="4490389"/>
            <a:ext cx="6428105" cy="20516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710"/>
              </a:spcBef>
            </a:pPr>
            <a:r>
              <a:rPr sz="2050" spc="-45" dirty="0">
                <a:latin typeface="Times New Roman"/>
                <a:cs typeface="Times New Roman"/>
              </a:rPr>
              <a:t>Weight</a:t>
            </a:r>
            <a:r>
              <a:rPr sz="2050" spc="-1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</a:t>
            </a:r>
            <a:r>
              <a:rPr sz="2050" spc="-1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(density)</a:t>
            </a:r>
            <a:r>
              <a:rPr sz="2050" spc="-2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13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air</a:t>
            </a:r>
            <a:endParaRPr sz="2050">
              <a:latin typeface="Times New Roman"/>
              <a:cs typeface="Times New Roman"/>
            </a:endParaRPr>
          </a:p>
          <a:p>
            <a:pPr marL="20955" algn="ctr">
              <a:lnSpc>
                <a:spcPct val="100000"/>
              </a:lnSpc>
              <a:spcBef>
                <a:spcPts val="610"/>
              </a:spcBef>
            </a:pPr>
            <a:r>
              <a:rPr sz="2050" spc="-55" dirty="0">
                <a:latin typeface="Times New Roman"/>
                <a:cs typeface="Times New Roman"/>
              </a:rPr>
              <a:t>Thus</a:t>
            </a:r>
            <a:r>
              <a:rPr sz="2050" spc="-16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weight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liquid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S</a:t>
            </a:r>
            <a:r>
              <a:rPr sz="2050" i="1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x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Weight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densityof</a:t>
            </a:r>
            <a:r>
              <a:rPr sz="2050" spc="8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water</a:t>
            </a:r>
            <a:endParaRPr sz="2050">
              <a:latin typeface="Times New Roman"/>
              <a:cs typeface="Times New Roman"/>
            </a:endParaRPr>
          </a:p>
          <a:p>
            <a:pPr marL="38100" marR="766445" indent="3264535">
              <a:lnSpc>
                <a:spcPct val="124900"/>
              </a:lnSpc>
            </a:pPr>
            <a:r>
              <a:rPr sz="2050" dirty="0">
                <a:latin typeface="Symbol"/>
                <a:cs typeface="Symbol"/>
              </a:rPr>
              <a:t>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S</a:t>
            </a:r>
            <a:r>
              <a:rPr sz="2050" i="1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x</a:t>
            </a:r>
            <a:r>
              <a:rPr sz="2050" spc="-245" dirty="0">
                <a:latin typeface="Times New Roman"/>
                <a:cs typeface="Times New Roman"/>
              </a:rPr>
              <a:t> </a:t>
            </a:r>
            <a:r>
              <a:rPr sz="2050" spc="60" dirty="0">
                <a:latin typeface="Times New Roman"/>
                <a:cs typeface="Times New Roman"/>
              </a:rPr>
              <a:t>1000x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9.81N/m</a:t>
            </a:r>
            <a:r>
              <a:rPr sz="1800" spc="-15" baseline="34722" dirty="0">
                <a:latin typeface="Times New Roman"/>
                <a:cs typeface="Times New Roman"/>
              </a:rPr>
              <a:t>3 </a:t>
            </a:r>
            <a:r>
              <a:rPr sz="2050" spc="-55" dirty="0">
                <a:latin typeface="Times New Roman"/>
                <a:cs typeface="Times New Roman"/>
              </a:rPr>
              <a:t>Thus</a:t>
            </a:r>
            <a:r>
              <a:rPr sz="2050" spc="-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11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liquid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S</a:t>
            </a:r>
            <a:r>
              <a:rPr sz="2050" i="1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x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Densityof</a:t>
            </a:r>
            <a:r>
              <a:rPr sz="2050" spc="10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water</a:t>
            </a:r>
            <a:endParaRPr sz="2050">
              <a:latin typeface="Times New Roman"/>
              <a:cs typeface="Times New Roman"/>
            </a:endParaRPr>
          </a:p>
          <a:p>
            <a:pPr marL="2520950">
              <a:lnSpc>
                <a:spcPct val="100000"/>
              </a:lnSpc>
              <a:spcBef>
                <a:spcPts val="1205"/>
              </a:spcBef>
            </a:pPr>
            <a:r>
              <a:rPr sz="2050" dirty="0">
                <a:latin typeface="Symbol"/>
                <a:cs typeface="Symbol"/>
              </a:rPr>
              <a:t>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S</a:t>
            </a:r>
            <a:r>
              <a:rPr sz="2050" i="1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x</a:t>
            </a:r>
            <a:r>
              <a:rPr sz="2050" spc="-254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1000kg/m</a:t>
            </a:r>
            <a:r>
              <a:rPr sz="1800" spc="-15" baseline="34722" dirty="0">
                <a:latin typeface="Times New Roman"/>
                <a:cs typeface="Times New Roman"/>
              </a:rPr>
              <a:t>3</a:t>
            </a:r>
            <a:endParaRPr sz="1800" baseline="34722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39" y="745083"/>
            <a:ext cx="7596505" cy="378904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3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8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Gravity.</a:t>
            </a:r>
            <a:endParaRPr sz="2800">
              <a:latin typeface="Times New Roman"/>
              <a:cs typeface="Times New Roman"/>
            </a:endParaRPr>
          </a:p>
          <a:p>
            <a:pPr marL="310515" marR="324485" indent="-273050">
              <a:lnSpc>
                <a:spcPct val="100000"/>
              </a:lnSpc>
              <a:spcBef>
                <a:spcPts val="630"/>
              </a:spcBef>
              <a:buClr>
                <a:srgbClr val="D16147"/>
              </a:buClr>
              <a:buSzPct val="83333"/>
              <a:buFont typeface="Segoe UI Symbol"/>
              <a:buChar char="⚫"/>
              <a:tabLst>
                <a:tab pos="310515" algn="l"/>
              </a:tabLst>
            </a:pPr>
            <a:r>
              <a:rPr sz="2100" dirty="0">
                <a:latin typeface="Times New Roman"/>
                <a:cs typeface="Times New Roman"/>
              </a:rPr>
              <a:t>Specific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gravity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defined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ratio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weight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density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(or </a:t>
            </a:r>
            <a:r>
              <a:rPr sz="2100" dirty="0">
                <a:latin typeface="Times New Roman"/>
                <a:cs typeface="Times New Roman"/>
              </a:rPr>
              <a:t>density)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fluid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weight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density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(or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density)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standard fluid.</a:t>
            </a:r>
            <a:endParaRPr sz="2100">
              <a:latin typeface="Times New Roman"/>
              <a:cs typeface="Times New Roman"/>
            </a:endParaRPr>
          </a:p>
          <a:p>
            <a:pPr marL="310515" marR="30480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3333"/>
              <a:buFont typeface="Segoe UI Symbol"/>
              <a:buChar char="⚫"/>
              <a:tabLst>
                <a:tab pos="310515" algn="l"/>
              </a:tabLst>
            </a:pP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liquids,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standard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fluid is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taken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water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gases,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the </a:t>
            </a:r>
            <a:r>
              <a:rPr sz="2100" dirty="0">
                <a:latin typeface="Times New Roman"/>
                <a:cs typeface="Times New Roman"/>
              </a:rPr>
              <a:t>standard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fluid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taken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60" dirty="0">
                <a:latin typeface="Times New Roman"/>
                <a:cs typeface="Times New Roman"/>
              </a:rPr>
              <a:t>air.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Specific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gravity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also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called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relative </a:t>
            </a:r>
            <a:r>
              <a:rPr sz="2100" spc="-35" dirty="0">
                <a:latin typeface="Times New Roman"/>
                <a:cs typeface="Times New Roman"/>
              </a:rPr>
              <a:t>density.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dimensionless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quantity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denoted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symbol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i="1" spc="-25" dirty="0">
                <a:latin typeface="Times New Roman"/>
                <a:cs typeface="Times New Roman"/>
              </a:rPr>
              <a:t>S</a:t>
            </a:r>
            <a:r>
              <a:rPr sz="2100" spc="-25" dirty="0">
                <a:latin typeface="Times New Roman"/>
                <a:cs typeface="Times New Roman"/>
              </a:rPr>
              <a:t>.</a:t>
            </a:r>
            <a:endParaRPr sz="2100">
              <a:latin typeface="Times New Roman"/>
              <a:cs typeface="Times New Roman"/>
            </a:endParaRPr>
          </a:p>
          <a:p>
            <a:pPr marL="595630">
              <a:lnSpc>
                <a:spcPct val="100000"/>
              </a:lnSpc>
              <a:spcBef>
                <a:spcPts val="715"/>
              </a:spcBef>
            </a:pPr>
            <a:r>
              <a:rPr sz="3075" i="1" baseline="-28455" dirty="0">
                <a:latin typeface="Times New Roman"/>
                <a:cs typeface="Times New Roman"/>
              </a:rPr>
              <a:t>S</a:t>
            </a:r>
            <a:r>
              <a:rPr sz="3075" baseline="-28455" dirty="0">
                <a:latin typeface="Times New Roman"/>
                <a:cs typeface="Times New Roman"/>
              </a:rPr>
              <a:t>(for</a:t>
            </a:r>
            <a:r>
              <a:rPr sz="3075" spc="-179" baseline="-28455" dirty="0">
                <a:latin typeface="Times New Roman"/>
                <a:cs typeface="Times New Roman"/>
              </a:rPr>
              <a:t> </a:t>
            </a:r>
            <a:r>
              <a:rPr sz="3075" baseline="-28455" dirty="0">
                <a:latin typeface="Times New Roman"/>
                <a:cs typeface="Times New Roman"/>
              </a:rPr>
              <a:t>liquids)</a:t>
            </a:r>
            <a:r>
              <a:rPr sz="3075" spc="-37" baseline="-28455" dirty="0">
                <a:latin typeface="Times New Roman"/>
                <a:cs typeface="Times New Roman"/>
              </a:rPr>
              <a:t> </a:t>
            </a:r>
            <a:r>
              <a:rPr sz="3075" baseline="-28455" dirty="0">
                <a:latin typeface="Symbol"/>
                <a:cs typeface="Symbol"/>
              </a:rPr>
              <a:t></a:t>
            </a:r>
            <a:r>
              <a:rPr sz="3075" spc="240" baseline="-28455" dirty="0">
                <a:latin typeface="Times New Roman"/>
                <a:cs typeface="Times New Roman"/>
              </a:rPr>
              <a:t> </a:t>
            </a:r>
            <a:r>
              <a:rPr sz="2050" spc="-45" dirty="0">
                <a:latin typeface="Times New Roman"/>
                <a:cs typeface="Times New Roman"/>
              </a:rPr>
              <a:t>Weight</a:t>
            </a:r>
            <a:r>
              <a:rPr sz="2050" spc="-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</a:t>
            </a:r>
            <a:r>
              <a:rPr sz="2050" spc="-1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(density)</a:t>
            </a:r>
            <a:r>
              <a:rPr sz="2050" spc="-229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1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liquid</a:t>
            </a:r>
            <a:endParaRPr sz="2050">
              <a:latin typeface="Times New Roman"/>
              <a:cs typeface="Times New Roman"/>
            </a:endParaRPr>
          </a:p>
          <a:p>
            <a:pPr marL="422275" algn="ctr">
              <a:lnSpc>
                <a:spcPct val="100000"/>
              </a:lnSpc>
              <a:spcBef>
                <a:spcPts val="395"/>
              </a:spcBef>
            </a:pPr>
            <a:r>
              <a:rPr sz="2050" spc="-45" dirty="0">
                <a:latin typeface="Times New Roman"/>
                <a:cs typeface="Times New Roman"/>
              </a:rPr>
              <a:t>Weight</a:t>
            </a:r>
            <a:r>
              <a:rPr sz="2050" spc="-11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</a:t>
            </a:r>
            <a:r>
              <a:rPr sz="2050" spc="-20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(density)</a:t>
            </a:r>
            <a:r>
              <a:rPr sz="2050" spc="-2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water</a:t>
            </a:r>
            <a:endParaRPr sz="2050">
              <a:latin typeface="Times New Roman"/>
              <a:cs typeface="Times New Roman"/>
            </a:endParaRPr>
          </a:p>
          <a:p>
            <a:pPr marL="595630">
              <a:lnSpc>
                <a:spcPct val="100000"/>
              </a:lnSpc>
              <a:spcBef>
                <a:spcPts val="600"/>
              </a:spcBef>
            </a:pPr>
            <a:r>
              <a:rPr sz="3075" i="1" baseline="-28455" dirty="0">
                <a:latin typeface="Times New Roman"/>
                <a:cs typeface="Times New Roman"/>
              </a:rPr>
              <a:t>S</a:t>
            </a:r>
            <a:r>
              <a:rPr sz="3075" baseline="-28455" dirty="0">
                <a:latin typeface="Times New Roman"/>
                <a:cs typeface="Times New Roman"/>
              </a:rPr>
              <a:t>(for</a:t>
            </a:r>
            <a:r>
              <a:rPr sz="3075" spc="-127" baseline="-28455" dirty="0">
                <a:latin typeface="Times New Roman"/>
                <a:cs typeface="Times New Roman"/>
              </a:rPr>
              <a:t> </a:t>
            </a:r>
            <a:r>
              <a:rPr sz="3075" baseline="-28455" dirty="0">
                <a:latin typeface="Times New Roman"/>
                <a:cs typeface="Times New Roman"/>
              </a:rPr>
              <a:t>gases)</a:t>
            </a:r>
            <a:r>
              <a:rPr sz="3075" spc="-60" baseline="-28455" dirty="0">
                <a:latin typeface="Times New Roman"/>
                <a:cs typeface="Times New Roman"/>
              </a:rPr>
              <a:t> </a:t>
            </a:r>
            <a:r>
              <a:rPr sz="3075" baseline="-28455" dirty="0">
                <a:latin typeface="Symbol"/>
                <a:cs typeface="Symbol"/>
              </a:rPr>
              <a:t></a:t>
            </a:r>
            <a:r>
              <a:rPr sz="3075" spc="254" baseline="-28455" dirty="0">
                <a:latin typeface="Times New Roman"/>
                <a:cs typeface="Times New Roman"/>
              </a:rPr>
              <a:t> </a:t>
            </a:r>
            <a:r>
              <a:rPr sz="2050" spc="-45" dirty="0">
                <a:latin typeface="Times New Roman"/>
                <a:cs typeface="Times New Roman"/>
              </a:rPr>
              <a:t>Weight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density</a:t>
            </a:r>
            <a:r>
              <a:rPr sz="2050" spc="-1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(density)</a:t>
            </a:r>
            <a:r>
              <a:rPr sz="2050" spc="-2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17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gas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70660" y="3485388"/>
            <a:ext cx="6490970" cy="3096895"/>
          </a:xfrm>
          <a:custGeom>
            <a:avLst/>
            <a:gdLst/>
            <a:ahLst/>
            <a:cxnLst/>
            <a:rect l="l" t="t" r="r" b="b"/>
            <a:pathLst>
              <a:path w="6490970" h="3096895">
                <a:moveTo>
                  <a:pt x="0" y="3096641"/>
                </a:moveTo>
                <a:lnTo>
                  <a:pt x="6490462" y="3096641"/>
                </a:lnTo>
                <a:lnTo>
                  <a:pt x="6490462" y="0"/>
                </a:lnTo>
                <a:lnTo>
                  <a:pt x="0" y="0"/>
                </a:lnTo>
                <a:lnTo>
                  <a:pt x="0" y="309664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986" y="425577"/>
            <a:ext cx="3354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Properties</a:t>
            </a:r>
            <a:r>
              <a:rPr sz="2800" spc="-135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</a:t>
            </a:r>
            <a:r>
              <a:rPr sz="2800" spc="-105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Fluids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49655" y="997004"/>
            <a:ext cx="3565525" cy="47218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815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8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Gravity.</a:t>
            </a:r>
            <a:endParaRPr sz="2800">
              <a:latin typeface="Times New Roman"/>
              <a:cs typeface="Times New Roman"/>
            </a:endParaRPr>
          </a:p>
          <a:p>
            <a:pPr marL="297815" marR="17780" indent="-273050">
              <a:lnSpc>
                <a:spcPct val="100000"/>
              </a:lnSpc>
              <a:spcBef>
                <a:spcPts val="61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gravity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equal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gravity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multiplied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water.</a:t>
            </a:r>
            <a:endParaRPr sz="2400">
              <a:latin typeface="Times New Roman"/>
              <a:cs typeface="Times New Roman"/>
            </a:endParaRPr>
          </a:p>
          <a:p>
            <a:pPr marL="297815" marR="27305" indent="-27305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specific </a:t>
            </a:r>
            <a:r>
              <a:rPr sz="2400" dirty="0">
                <a:latin typeface="Times New Roman"/>
                <a:cs typeface="Times New Roman"/>
              </a:rPr>
              <a:t>gravity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mercury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13.6, </a:t>
            </a:r>
            <a:r>
              <a:rPr sz="2400" dirty="0">
                <a:latin typeface="Times New Roman"/>
                <a:cs typeface="Times New Roman"/>
              </a:rPr>
              <a:t>hence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density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mercury</a:t>
            </a:r>
            <a:endParaRPr sz="2400">
              <a:latin typeface="Times New Roman"/>
              <a:cs typeface="Times New Roman"/>
            </a:endParaRPr>
          </a:p>
          <a:p>
            <a:pPr marL="29781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13.6 x 1000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13600</a:t>
            </a:r>
            <a:endParaRPr sz="2400">
              <a:latin typeface="Times New Roman"/>
              <a:cs typeface="Times New Roman"/>
            </a:endParaRPr>
          </a:p>
          <a:p>
            <a:pPr marL="297815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kg/m</a:t>
            </a:r>
            <a:r>
              <a:rPr sz="2400" spc="-15" baseline="20833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508" y="1915667"/>
            <a:ext cx="3869436" cy="41346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939" y="358216"/>
            <a:ext cx="2347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Flow</a:t>
            </a:r>
            <a:r>
              <a:rPr sz="2800" spc="-120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Patterns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81939" y="920241"/>
            <a:ext cx="8037830" cy="506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64135" indent="-273050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mechanics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subject.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flow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dozen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view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sketches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photographs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great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deal </a:t>
            </a:r>
            <a:r>
              <a:rPr sz="2400" dirty="0">
                <a:latin typeface="Times New Roman"/>
                <a:cs typeface="Times New Roman"/>
              </a:rPr>
              <a:t>qualitatively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quantitatively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flow.</a:t>
            </a:r>
            <a:endParaRPr sz="24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Four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flows:</a:t>
            </a:r>
            <a:endParaRPr sz="2400">
              <a:latin typeface="Times New Roman"/>
              <a:cs typeface="Times New Roman"/>
            </a:endParaRPr>
          </a:p>
          <a:p>
            <a:pPr marL="744220" marR="415925" lvl="1" indent="-457834">
              <a:lnSpc>
                <a:spcPct val="100000"/>
              </a:lnSpc>
              <a:spcBef>
                <a:spcPts val="400"/>
              </a:spcBef>
              <a:buSzPct val="85416"/>
              <a:buAutoNum type="arabicPeriod"/>
              <a:tabLst>
                <a:tab pos="744220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streamline</a:t>
            </a:r>
            <a:r>
              <a:rPr sz="24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everywhere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tangent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velocity </a:t>
            </a:r>
            <a:r>
              <a:rPr sz="2400" dirty="0">
                <a:latin typeface="Times New Roman"/>
                <a:cs typeface="Times New Roman"/>
              </a:rPr>
              <a:t>vector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 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instant.</a:t>
            </a:r>
            <a:endParaRPr sz="2400">
              <a:latin typeface="Times New Roman"/>
              <a:cs typeface="Times New Roman"/>
            </a:endParaRPr>
          </a:p>
          <a:p>
            <a:pPr marL="744220" marR="692150" lvl="1" indent="-457834">
              <a:lnSpc>
                <a:spcPct val="100000"/>
              </a:lnSpc>
              <a:spcBef>
                <a:spcPts val="409"/>
              </a:spcBef>
              <a:buSzPct val="85416"/>
              <a:buAutoNum type="arabicPeriod"/>
              <a:tabLst>
                <a:tab pos="74422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pathline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actual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traversed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given</a:t>
            </a:r>
            <a:r>
              <a:rPr sz="2400" spc="-2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fluid particle.</a:t>
            </a:r>
            <a:endParaRPr sz="2400">
              <a:latin typeface="Times New Roman"/>
              <a:cs typeface="Times New Roman"/>
            </a:endParaRPr>
          </a:p>
          <a:p>
            <a:pPr marL="744220" marR="5080" lvl="1" indent="-457834">
              <a:lnSpc>
                <a:spcPct val="100000"/>
              </a:lnSpc>
              <a:spcBef>
                <a:spcPts val="395"/>
              </a:spcBef>
              <a:buSzPct val="85416"/>
              <a:buAutoNum type="arabicPeriod"/>
              <a:tabLst>
                <a:tab pos="744220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streakline</a:t>
            </a:r>
            <a:r>
              <a:rPr sz="2400" b="1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particles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earlierpassed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prescribed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point.</a:t>
            </a:r>
            <a:endParaRPr sz="2400">
              <a:latin typeface="Times New Roman"/>
              <a:cs typeface="Times New Roman"/>
            </a:endParaRPr>
          </a:p>
          <a:p>
            <a:pPr marL="744220" marR="597535" lvl="1" indent="-457834">
              <a:lnSpc>
                <a:spcPct val="100000"/>
              </a:lnSpc>
              <a:spcBef>
                <a:spcPts val="400"/>
              </a:spcBef>
              <a:buSzPct val="85416"/>
              <a:buAutoNum type="arabicPeriod"/>
              <a:tabLst>
                <a:tab pos="744220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timeline</a:t>
            </a:r>
            <a:r>
              <a:rPr sz="2400" b="1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particles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instant.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1939" y="1055370"/>
            <a:ext cx="7715250" cy="5086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342265" indent="-273050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streamline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convenient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mathematically,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easier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experimentally.</a:t>
            </a:r>
            <a:endParaRPr sz="2400">
              <a:latin typeface="Times New Roman"/>
              <a:cs typeface="Times New Roman"/>
            </a:endParaRPr>
          </a:p>
          <a:p>
            <a:pPr marL="285115" marR="66040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Note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streamline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timeline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instantaneous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lines,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pathline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streakline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passage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285115" marR="27368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streamline</a:t>
            </a:r>
            <a:r>
              <a:rPr sz="2400" b="1" i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everywhere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tangent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velocity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steady,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nothing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fixed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point </a:t>
            </a:r>
            <a:r>
              <a:rPr sz="2400" dirty="0">
                <a:latin typeface="Times New Roman"/>
                <a:cs typeface="Times New Roman"/>
              </a:rPr>
              <a:t>(including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velocity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direction)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 with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so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streamlines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fixed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space.</a:t>
            </a:r>
            <a:endParaRPr sz="2400">
              <a:latin typeface="Times New Roman"/>
              <a:cs typeface="Times New Roman"/>
            </a:endParaRPr>
          </a:p>
          <a:p>
            <a:pPr marL="285115" marR="266700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unsteady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streamlines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shape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spc="-1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pathline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given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itflows </a:t>
            </a:r>
            <a:r>
              <a:rPr sz="2400" dirty="0">
                <a:latin typeface="Times New Roman"/>
                <a:cs typeface="Times New Roman"/>
              </a:rPr>
              <a:t>from 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another.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1939" y="389000"/>
            <a:ext cx="2347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Flow</a:t>
            </a:r>
            <a:r>
              <a:rPr sz="2800" spc="-135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Patterns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1939" y="1099820"/>
            <a:ext cx="7872095" cy="501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streakline</a:t>
            </a:r>
            <a:r>
              <a:rPr sz="2400" b="1" i="1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particles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have </a:t>
            </a:r>
            <a:r>
              <a:rPr sz="2400" dirty="0">
                <a:latin typeface="Times New Roman"/>
                <a:cs typeface="Times New Roman"/>
              </a:rPr>
              <a:t>previously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point.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Streaklines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more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laboratory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tool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 analytical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tool.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obtained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taking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instantaneous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photographs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marked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particles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location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earlier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285115" marR="6985" indent="-273050" algn="just">
              <a:lnSpc>
                <a:spcPct val="100000"/>
              </a:lnSpc>
              <a:spcBef>
                <a:spcPts val="605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produced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continuously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injecting </a:t>
            </a:r>
            <a:r>
              <a:rPr sz="2400" dirty="0">
                <a:latin typeface="Times New Roman"/>
                <a:cs typeface="Times New Roman"/>
              </a:rPr>
              <a:t>marked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fluid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(neutrally buoyant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smoke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10" dirty="0">
                <a:latin typeface="Times New Roman"/>
                <a:cs typeface="Times New Roman"/>
              </a:rPr>
              <a:t>air,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dye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water)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location.</a:t>
            </a:r>
            <a:endParaRPr sz="2400">
              <a:latin typeface="Times New Roman"/>
              <a:cs typeface="Times New Roman"/>
            </a:endParaRPr>
          </a:p>
          <a:p>
            <a:pPr marL="285115" marR="5715" indent="-273050" algn="just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steady,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successively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injected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particle </a:t>
            </a:r>
            <a:r>
              <a:rPr sz="2400" dirty="0">
                <a:latin typeface="Times New Roman"/>
                <a:cs typeface="Times New Roman"/>
              </a:rPr>
              <a:t>follows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precisely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behind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previous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forming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steady </a:t>
            </a:r>
            <a:r>
              <a:rPr sz="2400" dirty="0">
                <a:latin typeface="Times New Roman"/>
                <a:cs typeface="Times New Roman"/>
              </a:rPr>
              <a:t>streakline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exactly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streamline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through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injection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point.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1939" y="343865"/>
            <a:ext cx="2347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Flow</a:t>
            </a:r>
            <a:r>
              <a:rPr sz="2800" spc="-120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Patterns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" y="1315211"/>
            <a:ext cx="3080004" cy="34823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Flow</a:t>
            </a:r>
            <a:r>
              <a:rPr sz="2800" spc="-135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Patterns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7784" y="1171955"/>
            <a:ext cx="4285488" cy="43144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1939" y="5322519"/>
            <a:ext cx="2082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(a)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Streamlines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686680" y="5322519"/>
            <a:ext cx="1981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(b)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Streaklines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1939" y="829817"/>
            <a:ext cx="7853680" cy="36226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Streaklines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streamlines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pathlines.</a:t>
            </a:r>
            <a:endParaRPr sz="2400">
              <a:latin typeface="Times New Roman"/>
              <a:cs typeface="Times New Roman"/>
            </a:endParaRPr>
          </a:p>
          <a:p>
            <a:pPr marL="285115" marR="3111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steady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flow,</a:t>
            </a:r>
            <a:r>
              <a:rPr sz="2400" spc="-229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they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unsteady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flow.</a:t>
            </a:r>
            <a:endParaRPr sz="2400">
              <a:latin typeface="Times New Roman"/>
              <a:cs typeface="Times New Roman"/>
            </a:endParaRPr>
          </a:p>
          <a:p>
            <a:pPr marL="285115" marR="79375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difference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streamline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 </a:t>
            </a:r>
            <a:r>
              <a:rPr sz="2400" i="1" dirty="0">
                <a:latin typeface="Times New Roman"/>
                <a:cs typeface="Times New Roman"/>
              </a:rPr>
              <a:t>instantaneous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time,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streakline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pathline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some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age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time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history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associated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them.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D1614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i="1" dirty="0">
                <a:latin typeface="Times New Roman"/>
                <a:cs typeface="Times New Roman"/>
              </a:rPr>
              <a:t>If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flow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30" dirty="0">
                <a:latin typeface="Times New Roman"/>
                <a:cs typeface="Times New Roman"/>
              </a:rPr>
              <a:t>steady, </a:t>
            </a:r>
            <a:r>
              <a:rPr sz="2400" i="1" spc="-20" dirty="0">
                <a:latin typeface="Times New Roman"/>
                <a:cs typeface="Times New Roman"/>
              </a:rPr>
              <a:t>streamlines,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pathlines,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streaklines</a:t>
            </a:r>
            <a:r>
              <a:rPr sz="2400" i="1" spc="-14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are </a:t>
            </a:r>
            <a:r>
              <a:rPr sz="2400" i="1" spc="-10" dirty="0">
                <a:latin typeface="Times New Roman"/>
                <a:cs typeface="Times New Roman"/>
              </a:rPr>
              <a:t>identical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6304" y="621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4" y="4648"/>
                </a:lnTo>
                <a:lnTo>
                  <a:pt x="139623" y="17957"/>
                </a:lnTo>
                <a:lnTo>
                  <a:pt x="100787" y="39039"/>
                </a:lnTo>
                <a:lnTo>
                  <a:pt x="66954" y="66954"/>
                </a:lnTo>
                <a:lnTo>
                  <a:pt x="39039" y="100787"/>
                </a:lnTo>
                <a:lnTo>
                  <a:pt x="17957" y="139623"/>
                </a:lnTo>
                <a:lnTo>
                  <a:pt x="4648" y="182524"/>
                </a:lnTo>
                <a:lnTo>
                  <a:pt x="0" y="228600"/>
                </a:lnTo>
                <a:lnTo>
                  <a:pt x="4648" y="274675"/>
                </a:lnTo>
                <a:lnTo>
                  <a:pt x="17957" y="317576"/>
                </a:lnTo>
                <a:lnTo>
                  <a:pt x="39039" y="356412"/>
                </a:lnTo>
                <a:lnTo>
                  <a:pt x="66954" y="390245"/>
                </a:lnTo>
                <a:lnTo>
                  <a:pt x="100787" y="418160"/>
                </a:lnTo>
                <a:lnTo>
                  <a:pt x="139623" y="439229"/>
                </a:lnTo>
                <a:lnTo>
                  <a:pt x="182524" y="452551"/>
                </a:lnTo>
                <a:lnTo>
                  <a:pt x="228600" y="457200"/>
                </a:lnTo>
                <a:lnTo>
                  <a:pt x="274675" y="452551"/>
                </a:lnTo>
                <a:lnTo>
                  <a:pt x="317576" y="439229"/>
                </a:lnTo>
                <a:lnTo>
                  <a:pt x="356412" y="418160"/>
                </a:lnTo>
                <a:lnTo>
                  <a:pt x="390245" y="390245"/>
                </a:lnTo>
                <a:lnTo>
                  <a:pt x="418160" y="356412"/>
                </a:lnTo>
                <a:lnTo>
                  <a:pt x="439229" y="317576"/>
                </a:lnTo>
                <a:lnTo>
                  <a:pt x="452551" y="274675"/>
                </a:lnTo>
                <a:lnTo>
                  <a:pt x="457200" y="228600"/>
                </a:lnTo>
                <a:lnTo>
                  <a:pt x="452551" y="182524"/>
                </a:lnTo>
                <a:lnTo>
                  <a:pt x="439229" y="139623"/>
                </a:lnTo>
                <a:lnTo>
                  <a:pt x="418160" y="100787"/>
                </a:lnTo>
                <a:lnTo>
                  <a:pt x="390245" y="66954"/>
                </a:lnTo>
                <a:lnTo>
                  <a:pt x="356412" y="39039"/>
                </a:lnTo>
                <a:lnTo>
                  <a:pt x="317576" y="17957"/>
                </a:lnTo>
                <a:lnTo>
                  <a:pt x="274675" y="4648"/>
                </a:lnTo>
                <a:lnTo>
                  <a:pt x="228600" y="0"/>
                </a:lnTo>
                <a:close/>
              </a:path>
            </a:pathLst>
          </a:custGeom>
          <a:solidFill>
            <a:srgbClr val="D16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3735" y="343865"/>
            <a:ext cx="2347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</a:rPr>
              <a:t>Flow</a:t>
            </a:r>
            <a:r>
              <a:rPr sz="2800" spc="-120" dirty="0">
                <a:solidFill>
                  <a:srgbClr val="0000FF"/>
                </a:solidFill>
              </a:rPr>
              <a:t> </a:t>
            </a:r>
            <a:r>
              <a:rPr sz="2800" spc="-10" dirty="0">
                <a:solidFill>
                  <a:srgbClr val="0000FF"/>
                </a:solidFill>
              </a:rPr>
              <a:t>Patterns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588" y="4416552"/>
            <a:ext cx="4285488" cy="21793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65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386" y="155550"/>
            <a:ext cx="5998201" cy="653774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527" y="42285"/>
            <a:ext cx="6789420" cy="681571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4000"/>
            <a:ext cx="9131808" cy="1143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2124710"/>
            <a:chOff x="0" y="0"/>
            <a:chExt cx="9144000" cy="21247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34311"/>
              <a:ext cx="9131808" cy="38100"/>
            </a:xfrm>
            <a:prstGeom prst="rect">
              <a:avLst/>
            </a:prstGeom>
          </p:spPr>
        </p:pic>
        <p:pic>
          <p:nvPicPr>
            <p:cNvPr id="5" name="object 5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6352" y="0"/>
              <a:ext cx="2517648" cy="21244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8222" y="701675"/>
              <a:ext cx="2535681" cy="39598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77361" y="508762"/>
            <a:ext cx="25895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391A"/>
                </a:solidFill>
                <a:latin typeface="Times New Roman"/>
                <a:cs typeface="Times New Roman"/>
              </a:rPr>
              <a:t>Pitot</a:t>
            </a:r>
            <a:r>
              <a:rPr sz="4400" b="0" spc="-85" dirty="0">
                <a:solidFill>
                  <a:srgbClr val="00391A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00391A"/>
                </a:solidFill>
                <a:latin typeface="Times New Roman"/>
                <a:cs typeface="Times New Roman"/>
              </a:rPr>
              <a:t>Tubes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49" y="1904466"/>
            <a:ext cx="7172325" cy="22694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65"/>
              </a:spcBef>
              <a:buClr>
                <a:srgbClr val="F04343"/>
              </a:buClr>
              <a:buFont typeface="Wingdings"/>
              <a:buChar char=""/>
              <a:tabLst>
                <a:tab pos="381000" algn="l"/>
              </a:tabLst>
            </a:pP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Used</a:t>
            </a:r>
            <a:r>
              <a:rPr sz="3200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3200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measure</a:t>
            </a:r>
            <a:r>
              <a:rPr sz="3200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air</a:t>
            </a:r>
            <a:r>
              <a:rPr sz="3200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speed</a:t>
            </a:r>
            <a:r>
              <a:rPr sz="3200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on</a:t>
            </a:r>
            <a:r>
              <a:rPr sz="3200" spc="-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663300"/>
                </a:solidFill>
                <a:latin typeface="Times New Roman"/>
                <a:cs typeface="Times New Roman"/>
              </a:rPr>
              <a:t>airplanes</a:t>
            </a:r>
            <a:endParaRPr sz="3200">
              <a:latin typeface="Times New Roman"/>
              <a:cs typeface="Times New Roman"/>
            </a:endParaRPr>
          </a:p>
          <a:p>
            <a:pPr marL="381000" marR="817880" indent="-343535">
              <a:lnSpc>
                <a:spcPct val="100000"/>
              </a:lnSpc>
              <a:spcBef>
                <a:spcPts val="770"/>
              </a:spcBef>
              <a:buClr>
                <a:srgbClr val="F04343"/>
              </a:buClr>
              <a:buFont typeface="Wingdings"/>
              <a:buChar char=""/>
              <a:tabLst>
                <a:tab pos="381000" algn="l"/>
              </a:tabLst>
            </a:pP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Can</a:t>
            </a:r>
            <a:r>
              <a:rPr sz="3200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connect</a:t>
            </a:r>
            <a:r>
              <a:rPr sz="3200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sz="3200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differential</a:t>
            </a:r>
            <a:r>
              <a:rPr sz="3200" spc="-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663300"/>
                </a:solidFill>
                <a:latin typeface="Times New Roman"/>
                <a:cs typeface="Times New Roman"/>
              </a:rPr>
              <a:t>pressure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transducer</a:t>
            </a:r>
            <a:r>
              <a:rPr sz="3200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3200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directly</a:t>
            </a:r>
            <a:r>
              <a:rPr sz="3200" spc="-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measure</a:t>
            </a:r>
            <a:r>
              <a:rPr sz="3200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663300"/>
                </a:solidFill>
                <a:latin typeface="Times New Roman"/>
                <a:cs typeface="Times New Roman"/>
              </a:rPr>
              <a:t>V</a:t>
            </a:r>
            <a:r>
              <a:rPr sz="3150" spc="-15" baseline="25132" dirty="0">
                <a:solidFill>
                  <a:srgbClr val="663300"/>
                </a:solidFill>
                <a:latin typeface="Times New Roman"/>
                <a:cs typeface="Times New Roman"/>
              </a:rPr>
              <a:t>2</a:t>
            </a:r>
            <a:r>
              <a:rPr sz="3200" spc="-10" dirty="0">
                <a:solidFill>
                  <a:srgbClr val="663300"/>
                </a:solidFill>
                <a:latin typeface="Times New Roman"/>
                <a:cs typeface="Times New Roman"/>
              </a:rPr>
              <a:t>/2g</a:t>
            </a:r>
            <a:endParaRPr sz="320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770"/>
              </a:spcBef>
              <a:buClr>
                <a:srgbClr val="F04343"/>
              </a:buClr>
              <a:buFont typeface="Wingdings"/>
              <a:buChar char=""/>
              <a:tabLst>
                <a:tab pos="381000" algn="l"/>
              </a:tabLst>
            </a:pP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Can</a:t>
            </a:r>
            <a:r>
              <a:rPr sz="3200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be</a:t>
            </a:r>
            <a:r>
              <a:rPr sz="3200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used</a:t>
            </a:r>
            <a:r>
              <a:rPr sz="3200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3200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measure</a:t>
            </a:r>
            <a:r>
              <a:rPr sz="3200" spc="-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3200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flow</a:t>
            </a:r>
            <a:r>
              <a:rPr sz="3200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3200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663300"/>
                </a:solidFill>
                <a:latin typeface="Times New Roman"/>
                <a:cs typeface="Times New Roman"/>
              </a:rPr>
              <a:t>water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8354" y="4147565"/>
            <a:ext cx="19145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663300"/>
                </a:solidFill>
                <a:latin typeface="Times New Roman"/>
                <a:cs typeface="Times New Roman"/>
              </a:rPr>
              <a:t>in </a:t>
            </a:r>
            <a:r>
              <a:rPr sz="3200" spc="-10" dirty="0">
                <a:solidFill>
                  <a:srgbClr val="663300"/>
                </a:solidFill>
                <a:latin typeface="Times New Roman"/>
                <a:cs typeface="Times New Roman"/>
              </a:rPr>
              <a:t>pipelines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4003" y="4201795"/>
            <a:ext cx="29546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540" dirty="0">
                <a:solidFill>
                  <a:srgbClr val="AC0000"/>
                </a:solidFill>
                <a:uFill>
                  <a:solidFill>
                    <a:srgbClr val="66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dirty="0">
                <a:solidFill>
                  <a:srgbClr val="AC0000"/>
                </a:solidFill>
                <a:uFill>
                  <a:solidFill>
                    <a:srgbClr val="663300"/>
                  </a:solidFill>
                </a:uFill>
                <a:latin typeface="Times New Roman"/>
                <a:cs typeface="Times New Roman"/>
              </a:rPr>
              <a:t>Point</a:t>
            </a:r>
            <a:r>
              <a:rPr sz="2800" u="sng" spc="-55" dirty="0">
                <a:solidFill>
                  <a:srgbClr val="AC0000"/>
                </a:solidFill>
                <a:uFill>
                  <a:solidFill>
                    <a:srgbClr val="66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spc="-10" dirty="0">
                <a:solidFill>
                  <a:srgbClr val="AC0000"/>
                </a:solidFill>
                <a:uFill>
                  <a:solidFill>
                    <a:srgbClr val="663300"/>
                  </a:solidFill>
                </a:uFill>
                <a:latin typeface="Times New Roman"/>
                <a:cs typeface="Times New Roman"/>
              </a:rPr>
              <a:t>measurement! 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1" name="object 11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024" y="4922519"/>
            <a:ext cx="2580131" cy="193547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59" y="4924043"/>
            <a:ext cx="2577084" cy="193395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883152" y="5704332"/>
            <a:ext cx="840105" cy="381000"/>
          </a:xfrm>
          <a:custGeom>
            <a:avLst/>
            <a:gdLst/>
            <a:ahLst/>
            <a:cxnLst/>
            <a:rect l="l" t="t" r="r" b="b"/>
            <a:pathLst>
              <a:path w="840104" h="381000">
                <a:moveTo>
                  <a:pt x="611124" y="0"/>
                </a:moveTo>
                <a:lnTo>
                  <a:pt x="611124" y="381000"/>
                </a:lnTo>
                <a:lnTo>
                  <a:pt x="794003" y="228600"/>
                </a:lnTo>
                <a:lnTo>
                  <a:pt x="649224" y="228600"/>
                </a:lnTo>
                <a:lnTo>
                  <a:pt x="649224" y="152400"/>
                </a:lnTo>
                <a:lnTo>
                  <a:pt x="794003" y="152400"/>
                </a:lnTo>
                <a:lnTo>
                  <a:pt x="611124" y="0"/>
                </a:lnTo>
                <a:close/>
              </a:path>
              <a:path w="840104" h="381000">
                <a:moveTo>
                  <a:pt x="611124" y="152400"/>
                </a:moveTo>
                <a:lnTo>
                  <a:pt x="0" y="152400"/>
                </a:lnTo>
                <a:lnTo>
                  <a:pt x="0" y="228600"/>
                </a:lnTo>
                <a:lnTo>
                  <a:pt x="611124" y="228600"/>
                </a:lnTo>
                <a:lnTo>
                  <a:pt x="611124" y="152400"/>
                </a:lnTo>
                <a:close/>
              </a:path>
              <a:path w="840104" h="381000">
                <a:moveTo>
                  <a:pt x="794003" y="152400"/>
                </a:moveTo>
                <a:lnTo>
                  <a:pt x="649224" y="152400"/>
                </a:lnTo>
                <a:lnTo>
                  <a:pt x="649224" y="228600"/>
                </a:lnTo>
                <a:lnTo>
                  <a:pt x="794003" y="228600"/>
                </a:lnTo>
                <a:lnTo>
                  <a:pt x="839724" y="190500"/>
                </a:lnTo>
                <a:lnTo>
                  <a:pt x="794003" y="152400"/>
                </a:lnTo>
                <a:close/>
              </a:path>
            </a:pathLst>
          </a:custGeom>
          <a:solidFill>
            <a:srgbClr val="6633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179" y="701675"/>
            <a:ext cx="7240257" cy="50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3950" y="508762"/>
            <a:ext cx="72923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391A"/>
                </a:solidFill>
                <a:latin typeface="Times New Roman"/>
                <a:cs typeface="Times New Roman"/>
              </a:rPr>
              <a:t>Bernoulli</a:t>
            </a:r>
            <a:r>
              <a:rPr sz="4400" b="0" spc="-50" dirty="0">
                <a:solidFill>
                  <a:srgbClr val="00391A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00391A"/>
                </a:solidFill>
                <a:latin typeface="Times New Roman"/>
                <a:cs typeface="Times New Roman"/>
              </a:rPr>
              <a:t>Equation</a:t>
            </a:r>
            <a:r>
              <a:rPr sz="4400" b="0" spc="-40" dirty="0">
                <a:solidFill>
                  <a:srgbClr val="00391A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00391A"/>
                </a:solidFill>
                <a:latin typeface="Times New Roman"/>
                <a:cs typeface="Times New Roman"/>
              </a:rPr>
              <a:t>Applications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F04343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Stagnation</a:t>
            </a:r>
            <a:r>
              <a:rPr spc="-30" dirty="0"/>
              <a:t> </a:t>
            </a:r>
            <a:r>
              <a:rPr spc="-20" dirty="0"/>
              <a:t>tube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F04343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Pitot</a:t>
            </a:r>
            <a:r>
              <a:rPr spc="-10" dirty="0"/>
              <a:t> </a:t>
            </a:r>
            <a:r>
              <a:rPr spc="-20" dirty="0"/>
              <a:t>tube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F04343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Free </a:t>
            </a:r>
            <a:r>
              <a:rPr spc="-20" dirty="0"/>
              <a:t>Jets</a:t>
            </a: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F04343"/>
              </a:buClr>
              <a:buFont typeface="Wingdings"/>
              <a:buChar char=""/>
              <a:tabLst>
                <a:tab pos="355600" algn="l"/>
              </a:tabLst>
            </a:pPr>
            <a:r>
              <a:rPr spc="-10" dirty="0"/>
              <a:t>Orifice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F04343"/>
              </a:buClr>
              <a:buFont typeface="Wingdings"/>
              <a:buChar char=""/>
              <a:tabLst>
                <a:tab pos="355600" algn="l"/>
              </a:tabLst>
            </a:pPr>
            <a:r>
              <a:rPr spc="-10" dirty="0"/>
              <a:t>Venturi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F04343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Sluice</a:t>
            </a:r>
            <a:r>
              <a:rPr spc="-25" dirty="0"/>
              <a:t> </a:t>
            </a:r>
            <a:r>
              <a:rPr spc="-20" dirty="0"/>
              <a:t>gate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F04343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Sharp-crested</a:t>
            </a:r>
            <a:r>
              <a:rPr spc="-125" dirty="0"/>
              <a:t> </a:t>
            </a:r>
            <a:r>
              <a:rPr spc="-20" dirty="0"/>
              <a:t>weir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77103" y="2055952"/>
            <a:ext cx="352552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63300"/>
                </a:solidFill>
                <a:latin typeface="Times New Roman"/>
                <a:cs typeface="Times New Roman"/>
              </a:rPr>
              <a:t>Applicable</a:t>
            </a:r>
            <a:r>
              <a:rPr sz="2400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04343"/>
                </a:solidFill>
                <a:latin typeface="Times New Roman"/>
                <a:cs typeface="Times New Roman"/>
              </a:rPr>
              <a:t>contracting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30"/>
              </a:lnSpc>
              <a:spcBef>
                <a:spcPts val="5"/>
              </a:spcBef>
            </a:pPr>
            <a:r>
              <a:rPr sz="2400" spc="-10" dirty="0">
                <a:solidFill>
                  <a:srgbClr val="663300"/>
                </a:solidFill>
                <a:latin typeface="Times New Roman"/>
                <a:cs typeface="Times New Roman"/>
              </a:rPr>
              <a:t>streamlines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6430"/>
              </a:lnSpc>
            </a:pPr>
            <a:r>
              <a:rPr sz="4400" spc="-10" dirty="0">
                <a:solidFill>
                  <a:srgbClr val="663300"/>
                </a:solidFill>
                <a:latin typeface="Times New Roman"/>
                <a:cs typeface="Times New Roman"/>
              </a:rPr>
              <a:t>(</a:t>
            </a:r>
            <a:r>
              <a:rPr sz="5400" u="sng" spc="-10" dirty="0">
                <a:solidFill>
                  <a:srgbClr val="F04343"/>
                </a:solidFill>
                <a:uFill>
                  <a:solidFill>
                    <a:srgbClr val="F04343"/>
                  </a:solidFill>
                </a:uFill>
                <a:latin typeface="Times New Roman"/>
                <a:cs typeface="Times New Roman"/>
              </a:rPr>
              <a:t>accelerating</a:t>
            </a:r>
            <a:endParaRPr sz="5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10" dirty="0">
                <a:solidFill>
                  <a:srgbClr val="663300"/>
                </a:solidFill>
                <a:latin typeface="Times New Roman"/>
                <a:cs typeface="Times New Roman"/>
              </a:rPr>
              <a:t>flow).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7083" y="4485132"/>
            <a:ext cx="2068195" cy="326390"/>
            <a:chOff x="2577083" y="4485132"/>
            <a:chExt cx="2068195" cy="326390"/>
          </a:xfrm>
        </p:grpSpPr>
        <p:sp>
          <p:nvSpPr>
            <p:cNvPr id="7" name="object 7"/>
            <p:cNvSpPr/>
            <p:nvPr/>
          </p:nvSpPr>
          <p:spPr>
            <a:xfrm>
              <a:off x="3051047" y="4491228"/>
              <a:ext cx="273050" cy="314325"/>
            </a:xfrm>
            <a:custGeom>
              <a:avLst/>
              <a:gdLst/>
              <a:ahLst/>
              <a:cxnLst/>
              <a:rect l="l" t="t" r="r" b="b"/>
              <a:pathLst>
                <a:path w="273050" h="314325">
                  <a:moveTo>
                    <a:pt x="0" y="0"/>
                  </a:moveTo>
                  <a:lnTo>
                    <a:pt x="0" y="313944"/>
                  </a:lnTo>
                  <a:lnTo>
                    <a:pt x="272796" y="261620"/>
                  </a:lnTo>
                  <a:lnTo>
                    <a:pt x="272796" y="52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51047" y="4491228"/>
              <a:ext cx="273050" cy="314325"/>
            </a:xfrm>
            <a:custGeom>
              <a:avLst/>
              <a:gdLst/>
              <a:ahLst/>
              <a:cxnLst/>
              <a:rect l="l" t="t" r="r" b="b"/>
              <a:pathLst>
                <a:path w="273050" h="314325">
                  <a:moveTo>
                    <a:pt x="0" y="313944"/>
                  </a:moveTo>
                  <a:lnTo>
                    <a:pt x="272796" y="261620"/>
                  </a:lnTo>
                  <a:lnTo>
                    <a:pt x="272796" y="52324"/>
                  </a:lnTo>
                  <a:lnTo>
                    <a:pt x="0" y="0"/>
                  </a:lnTo>
                  <a:lnTo>
                    <a:pt x="0" y="313944"/>
                  </a:lnTo>
                  <a:close/>
                </a:path>
              </a:pathLst>
            </a:custGeom>
            <a:ln w="12192">
              <a:solidFill>
                <a:srgbClr val="66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30167" y="4491228"/>
              <a:ext cx="748665" cy="314325"/>
            </a:xfrm>
            <a:custGeom>
              <a:avLst/>
              <a:gdLst/>
              <a:ahLst/>
              <a:cxnLst/>
              <a:rect l="l" t="t" r="r" b="b"/>
              <a:pathLst>
                <a:path w="748664" h="314325">
                  <a:moveTo>
                    <a:pt x="748284" y="0"/>
                  </a:moveTo>
                  <a:lnTo>
                    <a:pt x="0" y="52324"/>
                  </a:lnTo>
                  <a:lnTo>
                    <a:pt x="0" y="261620"/>
                  </a:lnTo>
                  <a:lnTo>
                    <a:pt x="748284" y="313944"/>
                  </a:lnTo>
                  <a:lnTo>
                    <a:pt x="748284" y="0"/>
                  </a:lnTo>
                  <a:close/>
                </a:path>
              </a:pathLst>
            </a:custGeom>
            <a:solidFill>
              <a:srgbClr val="F0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30167" y="4491228"/>
              <a:ext cx="748665" cy="314325"/>
            </a:xfrm>
            <a:custGeom>
              <a:avLst/>
              <a:gdLst/>
              <a:ahLst/>
              <a:cxnLst/>
              <a:rect l="l" t="t" r="r" b="b"/>
              <a:pathLst>
                <a:path w="748664" h="314325">
                  <a:moveTo>
                    <a:pt x="748284" y="0"/>
                  </a:moveTo>
                  <a:lnTo>
                    <a:pt x="0" y="52324"/>
                  </a:lnTo>
                  <a:lnTo>
                    <a:pt x="0" y="261620"/>
                  </a:lnTo>
                  <a:lnTo>
                    <a:pt x="748284" y="313944"/>
                  </a:lnTo>
                  <a:lnTo>
                    <a:pt x="748284" y="0"/>
                  </a:lnTo>
                  <a:close/>
                </a:path>
              </a:pathLst>
            </a:custGeom>
            <a:ln w="12192">
              <a:solidFill>
                <a:srgbClr val="66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83179" y="4495800"/>
              <a:ext cx="467995" cy="309880"/>
            </a:xfrm>
            <a:custGeom>
              <a:avLst/>
              <a:gdLst/>
              <a:ahLst/>
              <a:cxnLst/>
              <a:rect l="l" t="t" r="r" b="b"/>
              <a:pathLst>
                <a:path w="467994" h="309879">
                  <a:moveTo>
                    <a:pt x="467868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467868" y="309372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F0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83179" y="4495800"/>
              <a:ext cx="467995" cy="309880"/>
            </a:xfrm>
            <a:custGeom>
              <a:avLst/>
              <a:gdLst/>
              <a:ahLst/>
              <a:cxnLst/>
              <a:rect l="l" t="t" r="r" b="b"/>
              <a:pathLst>
                <a:path w="467994" h="309879">
                  <a:moveTo>
                    <a:pt x="0" y="309372"/>
                  </a:moveTo>
                  <a:lnTo>
                    <a:pt x="467868" y="309372"/>
                  </a:lnTo>
                  <a:lnTo>
                    <a:pt x="467868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2192">
              <a:solidFill>
                <a:srgbClr val="66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78451" y="4491228"/>
              <a:ext cx="260985" cy="309880"/>
            </a:xfrm>
            <a:custGeom>
              <a:avLst/>
              <a:gdLst/>
              <a:ahLst/>
              <a:cxnLst/>
              <a:rect l="l" t="t" r="r" b="b"/>
              <a:pathLst>
                <a:path w="260985" h="309879">
                  <a:moveTo>
                    <a:pt x="260603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260603" y="309372"/>
                  </a:lnTo>
                  <a:lnTo>
                    <a:pt x="260603" y="0"/>
                  </a:lnTo>
                  <a:close/>
                </a:path>
              </a:pathLst>
            </a:custGeom>
            <a:solidFill>
              <a:srgbClr val="F0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78451" y="4491228"/>
              <a:ext cx="260985" cy="309880"/>
            </a:xfrm>
            <a:custGeom>
              <a:avLst/>
              <a:gdLst/>
              <a:ahLst/>
              <a:cxnLst/>
              <a:rect l="l" t="t" r="r" b="b"/>
              <a:pathLst>
                <a:path w="260985" h="309879">
                  <a:moveTo>
                    <a:pt x="0" y="309372"/>
                  </a:moveTo>
                  <a:lnTo>
                    <a:pt x="260603" y="309372"/>
                  </a:lnTo>
                  <a:lnTo>
                    <a:pt x="260603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12192">
              <a:solidFill>
                <a:srgbClr val="66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23843" y="4541520"/>
              <a:ext cx="311150" cy="213360"/>
            </a:xfrm>
            <a:custGeom>
              <a:avLst/>
              <a:gdLst/>
              <a:ahLst/>
              <a:cxnLst/>
              <a:rect l="l" t="t" r="r" b="b"/>
              <a:pathLst>
                <a:path w="311150" h="213360">
                  <a:moveTo>
                    <a:pt x="310896" y="0"/>
                  </a:moveTo>
                  <a:lnTo>
                    <a:pt x="0" y="0"/>
                  </a:lnTo>
                  <a:lnTo>
                    <a:pt x="0" y="213359"/>
                  </a:lnTo>
                  <a:lnTo>
                    <a:pt x="310896" y="213359"/>
                  </a:lnTo>
                  <a:lnTo>
                    <a:pt x="310896" y="0"/>
                  </a:lnTo>
                  <a:close/>
                </a:path>
              </a:pathLst>
            </a:custGeom>
            <a:solidFill>
              <a:srgbClr val="F0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23843" y="4541520"/>
              <a:ext cx="311150" cy="213360"/>
            </a:xfrm>
            <a:custGeom>
              <a:avLst/>
              <a:gdLst/>
              <a:ahLst/>
              <a:cxnLst/>
              <a:rect l="l" t="t" r="r" b="b"/>
              <a:pathLst>
                <a:path w="311150" h="213360">
                  <a:moveTo>
                    <a:pt x="0" y="213359"/>
                  </a:moveTo>
                  <a:lnTo>
                    <a:pt x="310896" y="213359"/>
                  </a:lnTo>
                  <a:lnTo>
                    <a:pt x="310896" y="0"/>
                  </a:lnTo>
                  <a:lnTo>
                    <a:pt x="0" y="0"/>
                  </a:lnTo>
                  <a:lnTo>
                    <a:pt x="0" y="213359"/>
                  </a:lnTo>
                  <a:close/>
                </a:path>
              </a:pathLst>
            </a:custGeom>
            <a:ln w="12192">
              <a:solidFill>
                <a:srgbClr val="66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234343" y="4411646"/>
            <a:ext cx="2141220" cy="1297305"/>
            <a:chOff x="6234343" y="4411646"/>
            <a:chExt cx="2141220" cy="1297305"/>
          </a:xfrm>
        </p:grpSpPr>
        <p:sp>
          <p:nvSpPr>
            <p:cNvPr id="18" name="object 18"/>
            <p:cNvSpPr/>
            <p:nvPr/>
          </p:nvSpPr>
          <p:spPr>
            <a:xfrm>
              <a:off x="7087472" y="4414781"/>
              <a:ext cx="33655" cy="1156970"/>
            </a:xfrm>
            <a:custGeom>
              <a:avLst/>
              <a:gdLst/>
              <a:ahLst/>
              <a:cxnLst/>
              <a:rect l="l" t="t" r="r" b="b"/>
              <a:pathLst>
                <a:path w="33654" h="1156970">
                  <a:moveTo>
                    <a:pt x="33350" y="0"/>
                  </a:moveTo>
                  <a:lnTo>
                    <a:pt x="0" y="0"/>
                  </a:lnTo>
                  <a:lnTo>
                    <a:pt x="0" y="1156701"/>
                  </a:lnTo>
                  <a:lnTo>
                    <a:pt x="33350" y="1156701"/>
                  </a:lnTo>
                  <a:lnTo>
                    <a:pt x="33350" y="0"/>
                  </a:lnTo>
                  <a:close/>
                </a:path>
              </a:pathLst>
            </a:custGeom>
            <a:solidFill>
              <a:srgbClr val="F939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84375" y="4411646"/>
              <a:ext cx="40005" cy="1163320"/>
            </a:xfrm>
            <a:custGeom>
              <a:avLst/>
              <a:gdLst/>
              <a:ahLst/>
              <a:cxnLst/>
              <a:rect l="l" t="t" r="r" b="b"/>
              <a:pathLst>
                <a:path w="40004" h="1163320">
                  <a:moveTo>
                    <a:pt x="39583" y="0"/>
                  </a:moveTo>
                  <a:lnTo>
                    <a:pt x="0" y="0"/>
                  </a:lnTo>
                  <a:lnTo>
                    <a:pt x="0" y="1162940"/>
                  </a:lnTo>
                  <a:lnTo>
                    <a:pt x="39583" y="1162940"/>
                  </a:lnTo>
                  <a:lnTo>
                    <a:pt x="39583" y="1159836"/>
                  </a:lnTo>
                  <a:lnTo>
                    <a:pt x="6194" y="1159836"/>
                  </a:lnTo>
                  <a:lnTo>
                    <a:pt x="3097" y="1156732"/>
                  </a:lnTo>
                  <a:lnTo>
                    <a:pt x="6194" y="1156732"/>
                  </a:lnTo>
                  <a:lnTo>
                    <a:pt x="6194" y="6244"/>
                  </a:lnTo>
                  <a:lnTo>
                    <a:pt x="3097" y="6244"/>
                  </a:lnTo>
                  <a:lnTo>
                    <a:pt x="6194" y="3091"/>
                  </a:lnTo>
                  <a:lnTo>
                    <a:pt x="39583" y="3091"/>
                  </a:lnTo>
                  <a:lnTo>
                    <a:pt x="39583" y="0"/>
                  </a:lnTo>
                  <a:close/>
                </a:path>
                <a:path w="40004" h="1163320">
                  <a:moveTo>
                    <a:pt x="6194" y="1156732"/>
                  </a:moveTo>
                  <a:lnTo>
                    <a:pt x="3097" y="1156732"/>
                  </a:lnTo>
                  <a:lnTo>
                    <a:pt x="6194" y="1159836"/>
                  </a:lnTo>
                  <a:lnTo>
                    <a:pt x="6194" y="1156732"/>
                  </a:lnTo>
                  <a:close/>
                </a:path>
                <a:path w="40004" h="1163320">
                  <a:moveTo>
                    <a:pt x="33389" y="1156732"/>
                  </a:moveTo>
                  <a:lnTo>
                    <a:pt x="6194" y="1156732"/>
                  </a:lnTo>
                  <a:lnTo>
                    <a:pt x="6194" y="1159836"/>
                  </a:lnTo>
                  <a:lnTo>
                    <a:pt x="33389" y="1159836"/>
                  </a:lnTo>
                  <a:lnTo>
                    <a:pt x="33389" y="1156732"/>
                  </a:lnTo>
                  <a:close/>
                </a:path>
                <a:path w="40004" h="1163320">
                  <a:moveTo>
                    <a:pt x="33389" y="3091"/>
                  </a:moveTo>
                  <a:lnTo>
                    <a:pt x="33389" y="1159836"/>
                  </a:lnTo>
                  <a:lnTo>
                    <a:pt x="36486" y="1156732"/>
                  </a:lnTo>
                  <a:lnTo>
                    <a:pt x="39583" y="1156732"/>
                  </a:lnTo>
                  <a:lnTo>
                    <a:pt x="39583" y="6244"/>
                  </a:lnTo>
                  <a:lnTo>
                    <a:pt x="36486" y="6244"/>
                  </a:lnTo>
                  <a:lnTo>
                    <a:pt x="33389" y="3091"/>
                  </a:lnTo>
                  <a:close/>
                </a:path>
                <a:path w="40004" h="1163320">
                  <a:moveTo>
                    <a:pt x="39583" y="1156732"/>
                  </a:moveTo>
                  <a:lnTo>
                    <a:pt x="36486" y="1156732"/>
                  </a:lnTo>
                  <a:lnTo>
                    <a:pt x="33389" y="1159836"/>
                  </a:lnTo>
                  <a:lnTo>
                    <a:pt x="39583" y="1159836"/>
                  </a:lnTo>
                  <a:lnTo>
                    <a:pt x="39583" y="1156732"/>
                  </a:lnTo>
                  <a:close/>
                </a:path>
                <a:path w="40004" h="1163320">
                  <a:moveTo>
                    <a:pt x="6194" y="3091"/>
                  </a:moveTo>
                  <a:lnTo>
                    <a:pt x="3097" y="6244"/>
                  </a:lnTo>
                  <a:lnTo>
                    <a:pt x="6194" y="6244"/>
                  </a:lnTo>
                  <a:lnTo>
                    <a:pt x="6194" y="3091"/>
                  </a:lnTo>
                  <a:close/>
                </a:path>
                <a:path w="40004" h="1163320">
                  <a:moveTo>
                    <a:pt x="33389" y="3091"/>
                  </a:moveTo>
                  <a:lnTo>
                    <a:pt x="6194" y="3091"/>
                  </a:lnTo>
                  <a:lnTo>
                    <a:pt x="6194" y="6244"/>
                  </a:lnTo>
                  <a:lnTo>
                    <a:pt x="33389" y="6244"/>
                  </a:lnTo>
                  <a:lnTo>
                    <a:pt x="33389" y="3091"/>
                  </a:lnTo>
                  <a:close/>
                </a:path>
                <a:path w="40004" h="1163320">
                  <a:moveTo>
                    <a:pt x="39583" y="3091"/>
                  </a:moveTo>
                  <a:lnTo>
                    <a:pt x="33389" y="3091"/>
                  </a:lnTo>
                  <a:lnTo>
                    <a:pt x="36486" y="6244"/>
                  </a:lnTo>
                  <a:lnTo>
                    <a:pt x="39583" y="6244"/>
                  </a:lnTo>
                  <a:lnTo>
                    <a:pt x="39583" y="3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0774" y="4501665"/>
              <a:ext cx="163116" cy="8729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2595" y="5646737"/>
              <a:ext cx="2066216" cy="6206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34341" y="4591659"/>
              <a:ext cx="2141220" cy="1049020"/>
            </a:xfrm>
            <a:custGeom>
              <a:avLst/>
              <a:gdLst/>
              <a:ahLst/>
              <a:cxnLst/>
              <a:rect l="l" t="t" r="r" b="b"/>
              <a:pathLst>
                <a:path w="2141220" h="1049020">
                  <a:moveTo>
                    <a:pt x="2140610" y="993025"/>
                  </a:moveTo>
                  <a:lnTo>
                    <a:pt x="856221" y="993025"/>
                  </a:lnTo>
                  <a:lnTo>
                    <a:pt x="856221" y="0"/>
                  </a:lnTo>
                  <a:lnTo>
                    <a:pt x="6197" y="0"/>
                  </a:lnTo>
                  <a:lnTo>
                    <a:pt x="6197" y="993025"/>
                  </a:lnTo>
                  <a:lnTo>
                    <a:pt x="0" y="993025"/>
                  </a:lnTo>
                  <a:lnTo>
                    <a:pt x="0" y="1048880"/>
                  </a:lnTo>
                  <a:lnTo>
                    <a:pt x="6197" y="1048880"/>
                  </a:lnTo>
                  <a:lnTo>
                    <a:pt x="856221" y="1048880"/>
                  </a:lnTo>
                  <a:lnTo>
                    <a:pt x="2140610" y="1048880"/>
                  </a:lnTo>
                  <a:lnTo>
                    <a:pt x="2140610" y="993025"/>
                  </a:lnTo>
                  <a:close/>
                </a:path>
              </a:pathLst>
            </a:custGeom>
            <a:solidFill>
              <a:srgbClr val="3C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7472" y="4414781"/>
              <a:ext cx="33655" cy="1156970"/>
            </a:xfrm>
            <a:custGeom>
              <a:avLst/>
              <a:gdLst/>
              <a:ahLst/>
              <a:cxnLst/>
              <a:rect l="l" t="t" r="r" b="b"/>
              <a:pathLst>
                <a:path w="33654" h="1156970">
                  <a:moveTo>
                    <a:pt x="33350" y="0"/>
                  </a:moveTo>
                  <a:lnTo>
                    <a:pt x="0" y="0"/>
                  </a:lnTo>
                  <a:lnTo>
                    <a:pt x="0" y="1156701"/>
                  </a:lnTo>
                  <a:lnTo>
                    <a:pt x="33350" y="1156701"/>
                  </a:lnTo>
                  <a:lnTo>
                    <a:pt x="33350" y="0"/>
                  </a:lnTo>
                  <a:close/>
                </a:path>
              </a:pathLst>
            </a:custGeom>
            <a:solidFill>
              <a:srgbClr val="F939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84375" y="4411646"/>
              <a:ext cx="40005" cy="1163320"/>
            </a:xfrm>
            <a:custGeom>
              <a:avLst/>
              <a:gdLst/>
              <a:ahLst/>
              <a:cxnLst/>
              <a:rect l="l" t="t" r="r" b="b"/>
              <a:pathLst>
                <a:path w="40004" h="1163320">
                  <a:moveTo>
                    <a:pt x="39583" y="0"/>
                  </a:moveTo>
                  <a:lnTo>
                    <a:pt x="0" y="0"/>
                  </a:lnTo>
                  <a:lnTo>
                    <a:pt x="0" y="1162940"/>
                  </a:lnTo>
                  <a:lnTo>
                    <a:pt x="39583" y="1162940"/>
                  </a:lnTo>
                  <a:lnTo>
                    <a:pt x="39583" y="1159836"/>
                  </a:lnTo>
                  <a:lnTo>
                    <a:pt x="6194" y="1159836"/>
                  </a:lnTo>
                  <a:lnTo>
                    <a:pt x="3097" y="1156732"/>
                  </a:lnTo>
                  <a:lnTo>
                    <a:pt x="6194" y="1156732"/>
                  </a:lnTo>
                  <a:lnTo>
                    <a:pt x="6194" y="6244"/>
                  </a:lnTo>
                  <a:lnTo>
                    <a:pt x="3097" y="6244"/>
                  </a:lnTo>
                  <a:lnTo>
                    <a:pt x="6194" y="3091"/>
                  </a:lnTo>
                  <a:lnTo>
                    <a:pt x="39583" y="3091"/>
                  </a:lnTo>
                  <a:lnTo>
                    <a:pt x="39583" y="0"/>
                  </a:lnTo>
                  <a:close/>
                </a:path>
                <a:path w="40004" h="1163320">
                  <a:moveTo>
                    <a:pt x="6194" y="1156732"/>
                  </a:moveTo>
                  <a:lnTo>
                    <a:pt x="3097" y="1156732"/>
                  </a:lnTo>
                  <a:lnTo>
                    <a:pt x="6194" y="1159836"/>
                  </a:lnTo>
                  <a:lnTo>
                    <a:pt x="6194" y="1156732"/>
                  </a:lnTo>
                  <a:close/>
                </a:path>
                <a:path w="40004" h="1163320">
                  <a:moveTo>
                    <a:pt x="33389" y="1156732"/>
                  </a:moveTo>
                  <a:lnTo>
                    <a:pt x="6194" y="1156732"/>
                  </a:lnTo>
                  <a:lnTo>
                    <a:pt x="6194" y="1159836"/>
                  </a:lnTo>
                  <a:lnTo>
                    <a:pt x="33389" y="1159836"/>
                  </a:lnTo>
                  <a:lnTo>
                    <a:pt x="33389" y="1156732"/>
                  </a:lnTo>
                  <a:close/>
                </a:path>
                <a:path w="40004" h="1163320">
                  <a:moveTo>
                    <a:pt x="33389" y="3091"/>
                  </a:moveTo>
                  <a:lnTo>
                    <a:pt x="33389" y="1159836"/>
                  </a:lnTo>
                  <a:lnTo>
                    <a:pt x="36486" y="1156732"/>
                  </a:lnTo>
                  <a:lnTo>
                    <a:pt x="39583" y="1156732"/>
                  </a:lnTo>
                  <a:lnTo>
                    <a:pt x="39583" y="6244"/>
                  </a:lnTo>
                  <a:lnTo>
                    <a:pt x="36486" y="6244"/>
                  </a:lnTo>
                  <a:lnTo>
                    <a:pt x="33389" y="3091"/>
                  </a:lnTo>
                  <a:close/>
                </a:path>
                <a:path w="40004" h="1163320">
                  <a:moveTo>
                    <a:pt x="39583" y="1156732"/>
                  </a:moveTo>
                  <a:lnTo>
                    <a:pt x="36486" y="1156732"/>
                  </a:lnTo>
                  <a:lnTo>
                    <a:pt x="33389" y="1159836"/>
                  </a:lnTo>
                  <a:lnTo>
                    <a:pt x="39583" y="1159836"/>
                  </a:lnTo>
                  <a:lnTo>
                    <a:pt x="39583" y="1156732"/>
                  </a:lnTo>
                  <a:close/>
                </a:path>
                <a:path w="40004" h="1163320">
                  <a:moveTo>
                    <a:pt x="6194" y="3091"/>
                  </a:moveTo>
                  <a:lnTo>
                    <a:pt x="3097" y="6244"/>
                  </a:lnTo>
                  <a:lnTo>
                    <a:pt x="6194" y="6244"/>
                  </a:lnTo>
                  <a:lnTo>
                    <a:pt x="6194" y="3091"/>
                  </a:lnTo>
                  <a:close/>
                </a:path>
                <a:path w="40004" h="1163320">
                  <a:moveTo>
                    <a:pt x="33389" y="3091"/>
                  </a:moveTo>
                  <a:lnTo>
                    <a:pt x="6194" y="3091"/>
                  </a:lnTo>
                  <a:lnTo>
                    <a:pt x="6194" y="6244"/>
                  </a:lnTo>
                  <a:lnTo>
                    <a:pt x="33389" y="6244"/>
                  </a:lnTo>
                  <a:lnTo>
                    <a:pt x="33389" y="3091"/>
                  </a:lnTo>
                  <a:close/>
                </a:path>
                <a:path w="40004" h="1163320">
                  <a:moveTo>
                    <a:pt x="39583" y="3091"/>
                  </a:moveTo>
                  <a:lnTo>
                    <a:pt x="33389" y="3091"/>
                  </a:lnTo>
                  <a:lnTo>
                    <a:pt x="36486" y="6244"/>
                  </a:lnTo>
                  <a:lnTo>
                    <a:pt x="39583" y="6244"/>
                  </a:lnTo>
                  <a:lnTo>
                    <a:pt x="39583" y="3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0774" y="4501665"/>
              <a:ext cx="163116" cy="8729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2595" y="5646737"/>
              <a:ext cx="2066216" cy="6206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98791" y="4436363"/>
              <a:ext cx="0" cy="1117600"/>
            </a:xfrm>
            <a:custGeom>
              <a:avLst/>
              <a:gdLst/>
              <a:ahLst/>
              <a:cxnLst/>
              <a:rect l="l" t="t" r="r" b="b"/>
              <a:pathLst>
                <a:path h="1117600">
                  <a:moveTo>
                    <a:pt x="0" y="0"/>
                  </a:moveTo>
                  <a:lnTo>
                    <a:pt x="0" y="1117092"/>
                  </a:lnTo>
                </a:path>
              </a:pathLst>
            </a:custGeom>
            <a:ln w="57912">
              <a:solidFill>
                <a:srgbClr val="66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514B8C-D25E-628A-6B1B-45E1B5334932}"/>
              </a:ext>
            </a:extLst>
          </p:cNvPr>
          <p:cNvSpPr txBox="1"/>
          <p:nvPr/>
        </p:nvSpPr>
        <p:spPr>
          <a:xfrm>
            <a:off x="914400" y="29718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Basics of Aerodynamics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Basic-aerodynamic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Basic-aerodynamic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Basic-aerodynamic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Basic-aerodynamic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Basic-aerodynamic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Basic-aerodynamic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Basic-aerodynamic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Basic-aerodynamic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Basic-aerodynamic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Basic-aerodynamic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Basic-aerodynamic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Basic-aerodynamic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Basic-aerodynamic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Basic-aerodynamic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Basic-aerodynamic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Basic-aerodynamic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Basic-aerodynamic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Basic-aerodynamic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Basic-aerodynamic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Basic-aerodynamic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Basic-aerodynamic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Basic-aerodynamic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Basic-aerodynamic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Basic-aerodynamic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Basic-aerodynamic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Basic-aerodynamic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Basic-aerodynamic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Basic-aerodynamic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Basic-aerodynamic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Basic-aerodynamic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High-Speed-Aerodynamics-1-638.jpg"/>
          <p:cNvPicPr>
            <a:picLocks noChangeAspect="1"/>
          </p:cNvPicPr>
          <p:nvPr/>
        </p:nvPicPr>
        <p:blipFill>
          <a:blip r:embed="rId2"/>
          <a:srcRect t="17477" b="40885"/>
          <a:stretch>
            <a:fillRect/>
          </a:stretch>
        </p:blipFill>
        <p:spPr>
          <a:xfrm>
            <a:off x="0" y="2277978"/>
            <a:ext cx="9144000" cy="285549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igh-Speed-Aerodynamic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igh-Speed-Aerodynamic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igh-Speed-Aerodynamic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High-Speed-Aerodynamic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igh-Speed-Aerodynamic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igh-Speed-Aerodynamic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igh-Speed-Aerodynamic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High-Speed-Aerodynamic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High-Speed-Aerodynamic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High-Speed-Aerodynamic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High-Speed-Aerodynamic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igh-Speed-Aerodynamic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High-Speed-Aerodynamic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2877</Words>
  <Application>Microsoft Office PowerPoint</Application>
  <PresentationFormat>On-screen Show (4:3)</PresentationFormat>
  <Paragraphs>273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1" baseType="lpstr">
      <vt:lpstr>Arial</vt:lpstr>
      <vt:lpstr>Arial MT</vt:lpstr>
      <vt:lpstr>Segoe UI Symbol</vt:lpstr>
      <vt:lpstr>Symbol</vt:lpstr>
      <vt:lpstr>Times New Roman</vt:lpstr>
      <vt:lpstr>Wingdings</vt:lpstr>
      <vt:lpstr>Office Theme</vt:lpstr>
      <vt:lpstr>Fluid Dynamic, Aero Dynamics, Low &amp; High Speed Dynamics </vt:lpstr>
      <vt:lpstr>Chapter 1</vt:lpstr>
      <vt:lpstr>Definition</vt:lpstr>
      <vt:lpstr>Definition</vt:lpstr>
      <vt:lpstr>Definition</vt:lpstr>
      <vt:lpstr>What is a Fluid?</vt:lpstr>
      <vt:lpstr>What is a Fluid?</vt:lpstr>
      <vt:lpstr>Application areas of Fluid Mechanics</vt:lpstr>
      <vt:lpstr>Application areas of Fluid Mechanics</vt:lpstr>
      <vt:lpstr>Application areas of Fluid Mechanics</vt:lpstr>
      <vt:lpstr>Application areas of Fluid Mechanics</vt:lpstr>
      <vt:lpstr>Application areas of Fluid Mechanics</vt:lpstr>
      <vt:lpstr>Application areas of Fluid Mechanics</vt:lpstr>
      <vt:lpstr>Application areas of Fluid Mechanics</vt:lpstr>
      <vt:lpstr>Classification of Fluid Flows</vt:lpstr>
      <vt:lpstr>Classification of Fluid Flows</vt:lpstr>
      <vt:lpstr>Classification of Fluid Flows</vt:lpstr>
      <vt:lpstr>Classification of Fluid Flows</vt:lpstr>
      <vt:lpstr>Classification of Fluid Flows</vt:lpstr>
      <vt:lpstr>Classification of Fluid Flows</vt:lpstr>
      <vt:lpstr>Classification of Fluid Flows</vt:lpstr>
      <vt:lpstr>Classification of Fluid Flows</vt:lpstr>
      <vt:lpstr>Properties of Fluids</vt:lpstr>
      <vt:lpstr>Properties of Fluids</vt:lpstr>
      <vt:lpstr>Properties of Fluids</vt:lpstr>
      <vt:lpstr>Properties of Fluids</vt:lpstr>
      <vt:lpstr>Properties of Fluids</vt:lpstr>
      <vt:lpstr>Properties of Fluids</vt:lpstr>
      <vt:lpstr>Properties of Fluids</vt:lpstr>
      <vt:lpstr>Properties of Fluids</vt:lpstr>
      <vt:lpstr>Flow Patterns</vt:lpstr>
      <vt:lpstr>Flow Patterns</vt:lpstr>
      <vt:lpstr>Flow Patterns</vt:lpstr>
      <vt:lpstr>Flow Patterns</vt:lpstr>
      <vt:lpstr>Flow Patterns</vt:lpstr>
      <vt:lpstr>PowerPoint Presentation</vt:lpstr>
      <vt:lpstr>PowerPoint Presentation</vt:lpstr>
      <vt:lpstr>Pitot Tubes</vt:lpstr>
      <vt:lpstr>Bernoulli Equation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Madhiyazhagan Pari</cp:lastModifiedBy>
  <cp:revision>4</cp:revision>
  <dcterms:created xsi:type="dcterms:W3CDTF">2025-07-11T00:52:25Z</dcterms:created>
  <dcterms:modified xsi:type="dcterms:W3CDTF">2025-07-11T01:48:13Z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2025-07-11T00:00:00Z</vt:filetime>
  </property>
  <property fmtid="{D5CDD505-2E9C-101B-9397-08002B2CF9AE}" pid="3" name="LastSaved">
    <vt:filetime>2025-07-11T00:00:00Z</vt:filetime>
  </property>
  <property fmtid="{D5CDD505-2E9C-101B-9397-08002B2CF9AE}" pid="4" name="Producer">
    <vt:lpwstr>www.ilovepdf.com</vt:lpwstr>
  </property>
</Properties>
</file>